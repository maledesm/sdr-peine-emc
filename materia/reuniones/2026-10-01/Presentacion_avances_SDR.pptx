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8.xml" ContentType="application/vnd.openxmlformats-officedocument.presentationml.notesSlide+xml"/>
  <Override PartName="/ppt/charts/chart7.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5"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Teoría: 20·log10(A/0,1)</c:v>
                </c:pt>
              </c:strCache>
            </c:strRef>
          </c:tx>
          <c:spPr>
            <a:ln w="22225">
              <a:solidFill>
                <a:srgbClr val="666666"/>
              </a:solidFill>
              <a:prstDash val="dash"/>
            </a:ln>
          </c:spPr>
          <c:marker>
            <c:symbol val="none"/>
          </c:marker>
          <c:xVal>
            <c:numRef>
              <c:f>Sheet1!$A$2:$A$32</c:f>
              <c:numCache>
                <c:formatCode>General</c:formatCode>
                <c:ptCount val="31"/>
                <c:pt idx="0">
                  <c:v>0.1</c:v>
                </c:pt>
                <c:pt idx="1">
                  <c:v>0.12</c:v>
                </c:pt>
                <c:pt idx="2">
                  <c:v>0.14000000000000001</c:v>
                </c:pt>
                <c:pt idx="3">
                  <c:v>0.16</c:v>
                </c:pt>
                <c:pt idx="4">
                  <c:v>0.18</c:v>
                </c:pt>
                <c:pt idx="5">
                  <c:v>0.2</c:v>
                </c:pt>
                <c:pt idx="6">
                  <c:v>0.22</c:v>
                </c:pt>
                <c:pt idx="7">
                  <c:v>0.24</c:v>
                </c:pt>
                <c:pt idx="8">
                  <c:v>0.26</c:v>
                </c:pt>
                <c:pt idx="9">
                  <c:v>0.28000000000000003</c:v>
                </c:pt>
                <c:pt idx="10">
                  <c:v>0.3</c:v>
                </c:pt>
                <c:pt idx="11">
                  <c:v>0.32</c:v>
                </c:pt>
                <c:pt idx="12">
                  <c:v>0.34</c:v>
                </c:pt>
                <c:pt idx="13">
                  <c:v>0.36</c:v>
                </c:pt>
                <c:pt idx="14">
                  <c:v>0.38</c:v>
                </c:pt>
                <c:pt idx="15">
                  <c:v>0.4</c:v>
                </c:pt>
                <c:pt idx="16">
                  <c:v>0.42</c:v>
                </c:pt>
                <c:pt idx="17">
                  <c:v>0.44</c:v>
                </c:pt>
                <c:pt idx="18">
                  <c:v>0.46</c:v>
                </c:pt>
                <c:pt idx="19">
                  <c:v>0.48</c:v>
                </c:pt>
                <c:pt idx="20">
                  <c:v>0.5</c:v>
                </c:pt>
                <c:pt idx="21">
                  <c:v>0.52</c:v>
                </c:pt>
                <c:pt idx="22">
                  <c:v>0.54</c:v>
                </c:pt>
                <c:pt idx="23">
                  <c:v>0.56000000000000005</c:v>
                </c:pt>
                <c:pt idx="24">
                  <c:v>0.57999999999999996</c:v>
                </c:pt>
                <c:pt idx="25">
                  <c:v>0.6</c:v>
                </c:pt>
                <c:pt idx="26">
                  <c:v>0.62</c:v>
                </c:pt>
                <c:pt idx="27">
                  <c:v>0.64</c:v>
                </c:pt>
                <c:pt idx="28">
                  <c:v>0.66</c:v>
                </c:pt>
                <c:pt idx="29">
                  <c:v>0.68</c:v>
                </c:pt>
                <c:pt idx="30">
                  <c:v>0.7</c:v>
                </c:pt>
              </c:numCache>
            </c:numRef>
          </c:xVal>
          <c:yVal>
            <c:numRef>
              <c:f>Sheet1!$B$2:$B$32</c:f>
              <c:numCache>
                <c:formatCode>General</c:formatCode>
                <c:ptCount val="31"/>
                <c:pt idx="0">
                  <c:v>0</c:v>
                </c:pt>
                <c:pt idx="1">
                  <c:v>1.5836249209524964</c:v>
                </c:pt>
                <c:pt idx="2">
                  <c:v>2.92256071356476</c:v>
                </c:pt>
                <c:pt idx="3">
                  <c:v>4.0823996531184958</c:v>
                </c:pt>
                <c:pt idx="4">
                  <c:v>5.1054501020661212</c:v>
                </c:pt>
                <c:pt idx="5">
                  <c:v>6.0205999132796242</c:v>
                </c:pt>
                <c:pt idx="6">
                  <c:v>6.8484536164441252</c:v>
                </c:pt>
                <c:pt idx="7">
                  <c:v>7.6042248342321201</c:v>
                </c:pt>
                <c:pt idx="8">
                  <c:v>8.2994669594163604</c:v>
                </c:pt>
                <c:pt idx="9">
                  <c:v>8.9431606268443851</c:v>
                </c:pt>
                <c:pt idx="10">
                  <c:v>9.5424250943932485</c:v>
                </c:pt>
                <c:pt idx="11">
                  <c:v>10.102999566398122</c:v>
                </c:pt>
                <c:pt idx="12">
                  <c:v>10.629578340845104</c:v>
                </c:pt>
                <c:pt idx="13">
                  <c:v>11.126050015345745</c:v>
                </c:pt>
                <c:pt idx="14">
                  <c:v>11.595671932336202</c:v>
                </c:pt>
                <c:pt idx="15">
                  <c:v>12.041199826559248</c:v>
                </c:pt>
                <c:pt idx="16">
                  <c:v>12.464985807958008</c:v>
                </c:pt>
                <c:pt idx="17">
                  <c:v>12.869053529723748</c:v>
                </c:pt>
                <c:pt idx="18">
                  <c:v>13.255156633631483</c:v>
                </c:pt>
                <c:pt idx="19">
                  <c:v>13.624824747511743</c:v>
                </c:pt>
                <c:pt idx="20">
                  <c:v>13.979400086720377</c:v>
                </c:pt>
                <c:pt idx="21">
                  <c:v>14.320066872695985</c:v>
                </c:pt>
                <c:pt idx="22">
                  <c:v>14.647875196459371</c:v>
                </c:pt>
                <c:pt idx="23">
                  <c:v>14.963760540124007</c:v>
                </c:pt>
                <c:pt idx="24">
                  <c:v>15.268559871258745</c:v>
                </c:pt>
                <c:pt idx="25">
                  <c:v>15.563025007672874</c:v>
                </c:pt>
                <c:pt idx="26">
                  <c:v>15.847833789965078</c:v>
                </c:pt>
                <c:pt idx="27">
                  <c:v>16.123599479677743</c:v>
                </c:pt>
                <c:pt idx="28">
                  <c:v>16.390878710837374</c:v>
                </c:pt>
                <c:pt idx="29">
                  <c:v>16.650178254124725</c:v>
                </c:pt>
                <c:pt idx="30">
                  <c:v>16.901960800285135</c:v>
                </c:pt>
              </c:numCache>
            </c:numRef>
          </c:yVal>
          <c:smooth val="0"/>
          <c:extLst>
            <c:ext xmlns:c16="http://schemas.microsoft.com/office/drawing/2014/chart" uri="{C3380CC4-5D6E-409C-BE32-E72D297353CC}">
              <c16:uniqueId val="{00000000-1E7C-4D52-9490-D7C1A43F5F30}"/>
            </c:ext>
          </c:extLst>
        </c:ser>
        <c:ser>
          <c:idx val="1"/>
          <c:order val="1"/>
          <c:tx>
            <c:strRef>
              <c:f>Sheet1!$B$34</c:f>
              <c:strCache>
                <c:ptCount val="1"/>
                <c:pt idx="0">
                  <c:v>400 MHz, 200 kHz</c:v>
                </c:pt>
              </c:strCache>
            </c:strRef>
          </c:tx>
          <c:spPr>
            <a:ln w="47625">
              <a:noFill/>
            </a:ln>
          </c:spPr>
          <c:marker>
            <c:symbol val="circle"/>
            <c:size val="10"/>
            <c:spPr>
              <a:solidFill>
                <a:srgbClr val="0B5563"/>
              </a:solidFill>
              <a:ln>
                <a:solidFill>
                  <a:srgbClr val="FFFFFF"/>
                </a:solidFill>
              </a:ln>
            </c:spPr>
          </c:marker>
          <c:xVal>
            <c:numRef>
              <c:f>Sheet1!$A$35:$A$41</c:f>
              <c:numCache>
                <c:formatCode>General</c:formatCode>
                <c:ptCount val="7"/>
                <c:pt idx="0">
                  <c:v>0.1</c:v>
                </c:pt>
                <c:pt idx="1">
                  <c:v>0.2</c:v>
                </c:pt>
                <c:pt idx="2">
                  <c:v>0.3</c:v>
                </c:pt>
                <c:pt idx="3">
                  <c:v>0.4</c:v>
                </c:pt>
                <c:pt idx="4">
                  <c:v>0.5</c:v>
                </c:pt>
                <c:pt idx="5">
                  <c:v>0.6</c:v>
                </c:pt>
                <c:pt idx="6">
                  <c:v>0.7</c:v>
                </c:pt>
              </c:numCache>
            </c:numRef>
          </c:xVal>
          <c:yVal>
            <c:numRef>
              <c:f>Sheet1!$B$35:$B$41</c:f>
              <c:numCache>
                <c:formatCode>General</c:formatCode>
                <c:ptCount val="7"/>
                <c:pt idx="0">
                  <c:v>0</c:v>
                </c:pt>
                <c:pt idx="1">
                  <c:v>6.0999999999999943</c:v>
                </c:pt>
                <c:pt idx="2">
                  <c:v>9.2999999999999972</c:v>
                </c:pt>
                <c:pt idx="3">
                  <c:v>12.099999999999994</c:v>
                </c:pt>
                <c:pt idx="4">
                  <c:v>13.799999999999997</c:v>
                </c:pt>
                <c:pt idx="5">
                  <c:v>15.299999999999997</c:v>
                </c:pt>
                <c:pt idx="6">
                  <c:v>16.599999999999994</c:v>
                </c:pt>
              </c:numCache>
            </c:numRef>
          </c:yVal>
          <c:smooth val="0"/>
          <c:extLst>
            <c:ext xmlns:c16="http://schemas.microsoft.com/office/drawing/2014/chart" uri="{C3380CC4-5D6E-409C-BE32-E72D297353CC}">
              <c16:uniqueId val="{00000001-1E7C-4D52-9490-D7C1A43F5F30}"/>
            </c:ext>
          </c:extLst>
        </c:ser>
        <c:ser>
          <c:idx val="2"/>
          <c:order val="2"/>
          <c:tx>
            <c:strRef>
              <c:f>Sheet1!$B$43</c:f>
              <c:strCache>
                <c:ptCount val="1"/>
                <c:pt idx="0">
                  <c:v>400 MHz, 600 kHz</c:v>
                </c:pt>
              </c:strCache>
            </c:strRef>
          </c:tx>
          <c:spPr>
            <a:ln w="47625">
              <a:noFill/>
            </a:ln>
          </c:spPr>
          <c:marker>
            <c:symbol val="circle"/>
            <c:size val="8"/>
            <c:spPr>
              <a:solidFill>
                <a:srgbClr val="C2410C"/>
              </a:solidFill>
              <a:ln>
                <a:solidFill>
                  <a:srgbClr val="FFFFFF"/>
                </a:solidFill>
              </a:ln>
            </c:spPr>
          </c:marker>
          <c:xVal>
            <c:numRef>
              <c:f>Sheet1!$A$44:$A$46</c:f>
              <c:numCache>
                <c:formatCode>General</c:formatCode>
                <c:ptCount val="3"/>
                <c:pt idx="0">
                  <c:v>0.1</c:v>
                </c:pt>
                <c:pt idx="1">
                  <c:v>0.4</c:v>
                </c:pt>
                <c:pt idx="2">
                  <c:v>0.7</c:v>
                </c:pt>
              </c:numCache>
            </c:numRef>
          </c:xVal>
          <c:yVal>
            <c:numRef>
              <c:f>Sheet1!$B$44:$B$46</c:f>
              <c:numCache>
                <c:formatCode>General</c:formatCode>
                <c:ptCount val="3"/>
                <c:pt idx="0">
                  <c:v>0</c:v>
                </c:pt>
                <c:pt idx="1">
                  <c:v>11.7</c:v>
                </c:pt>
                <c:pt idx="2">
                  <c:v>16.7</c:v>
                </c:pt>
              </c:numCache>
            </c:numRef>
          </c:yVal>
          <c:smooth val="0"/>
          <c:extLst>
            <c:ext xmlns:c16="http://schemas.microsoft.com/office/drawing/2014/chart" uri="{C3380CC4-5D6E-409C-BE32-E72D297353CC}">
              <c16:uniqueId val="{00000002-1E7C-4D52-9490-D7C1A43F5F30}"/>
            </c:ext>
          </c:extLst>
        </c:ser>
        <c:ser>
          <c:idx val="3"/>
          <c:order val="3"/>
          <c:tx>
            <c:strRef>
              <c:f>Sheet1!$B$48</c:f>
              <c:strCache>
                <c:ptCount val="1"/>
                <c:pt idx="0">
                  <c:v>600 MHz, 200 kHz</c:v>
                </c:pt>
              </c:strCache>
            </c:strRef>
          </c:tx>
          <c:spPr>
            <a:ln w="47625">
              <a:noFill/>
            </a:ln>
          </c:spPr>
          <c:marker>
            <c:symbol val="circle"/>
            <c:size val="8"/>
            <c:spPr>
              <a:solidFill>
                <a:srgbClr val="7A8B00"/>
              </a:solidFill>
              <a:ln>
                <a:solidFill>
                  <a:srgbClr val="FFFFFF"/>
                </a:solidFill>
              </a:ln>
            </c:spPr>
          </c:marker>
          <c:xVal>
            <c:numRef>
              <c:f>Sheet1!$A$49:$A$51</c:f>
              <c:numCache>
                <c:formatCode>General</c:formatCode>
                <c:ptCount val="3"/>
                <c:pt idx="0">
                  <c:v>0.1</c:v>
                </c:pt>
                <c:pt idx="1">
                  <c:v>0.4</c:v>
                </c:pt>
                <c:pt idx="2">
                  <c:v>0.7</c:v>
                </c:pt>
              </c:numCache>
            </c:numRef>
          </c:xVal>
          <c:yVal>
            <c:numRef>
              <c:f>Sheet1!$B$49:$B$51</c:f>
              <c:numCache>
                <c:formatCode>General</c:formatCode>
                <c:ptCount val="3"/>
                <c:pt idx="0">
                  <c:v>0</c:v>
                </c:pt>
                <c:pt idx="1">
                  <c:v>11.1</c:v>
                </c:pt>
                <c:pt idx="2">
                  <c:v>17</c:v>
                </c:pt>
              </c:numCache>
            </c:numRef>
          </c:yVal>
          <c:smooth val="0"/>
          <c:extLst>
            <c:ext xmlns:c16="http://schemas.microsoft.com/office/drawing/2014/chart" uri="{C3380CC4-5D6E-409C-BE32-E72D297353CC}">
              <c16:uniqueId val="{00000003-1E7C-4D52-9490-D7C1A43F5F30}"/>
            </c:ext>
          </c:extLst>
        </c:ser>
        <c:ser>
          <c:idx val="4"/>
          <c:order val="4"/>
          <c:tx>
            <c:strRef>
              <c:f>Sheet1!$B$53</c:f>
              <c:strCache>
                <c:ptCount val="1"/>
                <c:pt idx="0">
                  <c:v>600 MHz, 600 kHz</c:v>
                </c:pt>
              </c:strCache>
            </c:strRef>
          </c:tx>
          <c:spPr>
            <a:ln w="47625">
              <a:noFill/>
            </a:ln>
          </c:spPr>
          <c:marker>
            <c:symbol val="circle"/>
            <c:size val="8"/>
            <c:spPr>
              <a:solidFill>
                <a:srgbClr val="7B4EA3"/>
              </a:solidFill>
              <a:ln>
                <a:solidFill>
                  <a:srgbClr val="FFFFFF"/>
                </a:solidFill>
              </a:ln>
            </c:spPr>
          </c:marker>
          <c:xVal>
            <c:numRef>
              <c:f>Sheet1!$A$54:$A$56</c:f>
              <c:numCache>
                <c:formatCode>General</c:formatCode>
                <c:ptCount val="3"/>
                <c:pt idx="0">
                  <c:v>0.1</c:v>
                </c:pt>
                <c:pt idx="1">
                  <c:v>0.4</c:v>
                </c:pt>
                <c:pt idx="2">
                  <c:v>0.7</c:v>
                </c:pt>
              </c:numCache>
            </c:numRef>
          </c:xVal>
          <c:yVal>
            <c:numRef>
              <c:f>Sheet1!$B$54:$B$56</c:f>
              <c:numCache>
                <c:formatCode>General</c:formatCode>
                <c:ptCount val="3"/>
                <c:pt idx="0">
                  <c:v>0</c:v>
                </c:pt>
                <c:pt idx="1">
                  <c:v>12.1</c:v>
                </c:pt>
                <c:pt idx="2">
                  <c:v>17.100000000000001</c:v>
                </c:pt>
              </c:numCache>
            </c:numRef>
          </c:yVal>
          <c:smooth val="0"/>
          <c:extLst>
            <c:ext xmlns:c16="http://schemas.microsoft.com/office/drawing/2014/chart" uri="{C3380CC4-5D6E-409C-BE32-E72D297353CC}">
              <c16:uniqueId val="{00000004-1E7C-4D52-9490-D7C1A43F5F30}"/>
            </c:ext>
          </c:extLst>
        </c:ser>
        <c:dLbls>
          <c:showLegendKey val="0"/>
          <c:showVal val="0"/>
          <c:showCatName val="0"/>
          <c:showSerName val="0"/>
          <c:showPercent val="0"/>
          <c:showBubbleSize val="0"/>
        </c:dLbls>
        <c:axId val="-2128940872"/>
        <c:axId val="-2129643912"/>
      </c:scatterChart>
      <c:valAx>
        <c:axId val="-2128940872"/>
        <c:scaling>
          <c:orientation val="minMax"/>
          <c:max val="0.8"/>
          <c:min val="0"/>
        </c:scaling>
        <c:delete val="0"/>
        <c:axPos val="b"/>
        <c:majorGridlines>
          <c:spPr>
            <a:ln w="9525">
              <a:solidFill>
                <a:srgbClr val="E3E7E8"/>
              </a:solidFill>
            </a:ln>
          </c:spPr>
        </c:majorGridlines>
        <c:title>
          <c:tx>
            <c:rich>
              <a:bodyPr/>
              <a:lstStyle/>
              <a:p>
                <a:r>
                  <a:rPr lang="en-US" sz="1200" b="0">
                    <a:solidFill>
                      <a:srgbClr val="666666"/>
                    </a:solidFill>
                  </a:rPr>
                  <a:t>Amplitud digital</a:t>
                </a:r>
              </a:p>
            </c:rich>
          </c:tx>
          <c:overlay val="0"/>
        </c:title>
        <c:numFmt formatCode="General" sourceLinked="1"/>
        <c:majorTickMark val="out"/>
        <c:minorTickMark val="none"/>
        <c:tickLblPos val="low"/>
        <c:spPr>
          <a:ln>
            <a:solidFill>
              <a:srgbClr val="C9D1D4"/>
            </a:solidFill>
          </a:ln>
        </c:spPr>
        <c:txPr>
          <a:bodyPr/>
          <a:lstStyle/>
          <a:p>
            <a:pPr>
              <a:defRPr sz="1200"/>
            </a:pPr>
            <a:endParaRPr lang="en-US"/>
          </a:p>
        </c:txPr>
        <c:crossAx val="-2129643912"/>
        <c:crosses val="autoZero"/>
        <c:crossBetween val="midCat"/>
        <c:majorUnit val="0.1"/>
      </c:valAx>
      <c:valAx>
        <c:axId val="-2129643912"/>
        <c:scaling>
          <c:orientation val="minMax"/>
          <c:max val="18"/>
          <c:min val="0"/>
        </c:scaling>
        <c:delete val="0"/>
        <c:axPos val="l"/>
        <c:majorGridlines>
          <c:spPr>
            <a:ln w="9525">
              <a:solidFill>
                <a:srgbClr val="E3E7E8"/>
              </a:solidFill>
            </a:ln>
          </c:spPr>
        </c:majorGridlines>
        <c:title>
          <c:tx>
            <c:rich>
              <a:bodyPr/>
              <a:lstStyle/>
              <a:p>
                <a:r>
                  <a:rPr lang="en-US" sz="1200" b="0">
                    <a:solidFill>
                      <a:srgbClr val="666666"/>
                    </a:solidFill>
                  </a:rPr>
                  <a:t>Subida del tono (dB)</a:t>
                </a:r>
              </a:p>
            </c:rich>
          </c:tx>
          <c:overlay val="0"/>
        </c:title>
        <c:numFmt formatCode="General" sourceLinked="1"/>
        <c:majorTickMark val="out"/>
        <c:minorTickMark val="none"/>
        <c:tickLblPos val="low"/>
        <c:spPr>
          <a:ln>
            <a:solidFill>
              <a:srgbClr val="C9D1D4"/>
            </a:solidFill>
          </a:ln>
        </c:spPr>
        <c:txPr>
          <a:bodyPr/>
          <a:lstStyle/>
          <a:p>
            <a:pPr>
              <a:defRPr sz="1200"/>
            </a:pPr>
            <a:endParaRPr lang="en-US"/>
          </a:p>
        </c:txPr>
        <c:crossAx val="-2128940872"/>
        <c:crosses val="autoZero"/>
        <c:crossBetween val="midCat"/>
        <c:majorUnit val="3"/>
      </c:valAx>
    </c:plotArea>
    <c:legend>
      <c:legendPos val="b"/>
      <c:overlay val="0"/>
    </c:legend>
    <c:plotVisOnly val="1"/>
    <c:dispBlanksAs val="gap"/>
    <c:showDLblsOverMax val="0"/>
  </c:chart>
  <c:txPr>
    <a:bodyPr/>
    <a:lstStyle/>
    <a:p>
      <a:pPr>
        <a:defRPr sz="1200">
          <a:solidFill>
            <a:srgbClr val="66666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Modelo de dos fasores</c:v>
                </c:pt>
              </c:strCache>
            </c:strRef>
          </c:tx>
          <c:spPr>
            <a:ln w="28575">
              <a:solidFill>
                <a:srgbClr val="0B5563"/>
              </a:solidFill>
            </a:ln>
          </c:spPr>
          <c:marker>
            <c:symbol val="none"/>
          </c:marker>
          <c:xVal>
            <c:numRef>
              <c:f>Sheet1!$A$2:$A$182</c:f>
              <c:numCache>
                <c:formatCode>General</c:formatCode>
                <c:ptCount val="181"/>
                <c:pt idx="0">
                  <c:v>-180</c:v>
                </c:pt>
                <c:pt idx="1">
                  <c:v>-178</c:v>
                </c:pt>
                <c:pt idx="2">
                  <c:v>-176</c:v>
                </c:pt>
                <c:pt idx="3">
                  <c:v>-174</c:v>
                </c:pt>
                <c:pt idx="4">
                  <c:v>-172</c:v>
                </c:pt>
                <c:pt idx="5">
                  <c:v>-170</c:v>
                </c:pt>
                <c:pt idx="6">
                  <c:v>-168</c:v>
                </c:pt>
                <c:pt idx="7">
                  <c:v>-166</c:v>
                </c:pt>
                <c:pt idx="8">
                  <c:v>-164</c:v>
                </c:pt>
                <c:pt idx="9">
                  <c:v>-162</c:v>
                </c:pt>
                <c:pt idx="10">
                  <c:v>-160</c:v>
                </c:pt>
                <c:pt idx="11">
                  <c:v>-158</c:v>
                </c:pt>
                <c:pt idx="12">
                  <c:v>-156</c:v>
                </c:pt>
                <c:pt idx="13">
                  <c:v>-154</c:v>
                </c:pt>
                <c:pt idx="14">
                  <c:v>-152</c:v>
                </c:pt>
                <c:pt idx="15">
                  <c:v>-150</c:v>
                </c:pt>
                <c:pt idx="16">
                  <c:v>-148</c:v>
                </c:pt>
                <c:pt idx="17">
                  <c:v>-146</c:v>
                </c:pt>
                <c:pt idx="18">
                  <c:v>-144</c:v>
                </c:pt>
                <c:pt idx="19">
                  <c:v>-142</c:v>
                </c:pt>
                <c:pt idx="20">
                  <c:v>-140</c:v>
                </c:pt>
                <c:pt idx="21">
                  <c:v>-138</c:v>
                </c:pt>
                <c:pt idx="22">
                  <c:v>-136</c:v>
                </c:pt>
                <c:pt idx="23">
                  <c:v>-134</c:v>
                </c:pt>
                <c:pt idx="24">
                  <c:v>-132</c:v>
                </c:pt>
                <c:pt idx="25">
                  <c:v>-130</c:v>
                </c:pt>
                <c:pt idx="26">
                  <c:v>-128</c:v>
                </c:pt>
                <c:pt idx="27">
                  <c:v>-126</c:v>
                </c:pt>
                <c:pt idx="28">
                  <c:v>-124</c:v>
                </c:pt>
                <c:pt idx="29">
                  <c:v>-122</c:v>
                </c:pt>
                <c:pt idx="30">
                  <c:v>-120</c:v>
                </c:pt>
                <c:pt idx="31">
                  <c:v>-118</c:v>
                </c:pt>
                <c:pt idx="32">
                  <c:v>-116</c:v>
                </c:pt>
                <c:pt idx="33">
                  <c:v>-114</c:v>
                </c:pt>
                <c:pt idx="34">
                  <c:v>-112</c:v>
                </c:pt>
                <c:pt idx="35">
                  <c:v>-110</c:v>
                </c:pt>
                <c:pt idx="36">
                  <c:v>-108</c:v>
                </c:pt>
                <c:pt idx="37">
                  <c:v>-106</c:v>
                </c:pt>
                <c:pt idx="38">
                  <c:v>-104</c:v>
                </c:pt>
                <c:pt idx="39">
                  <c:v>-102</c:v>
                </c:pt>
                <c:pt idx="40">
                  <c:v>-100</c:v>
                </c:pt>
                <c:pt idx="41">
                  <c:v>-98</c:v>
                </c:pt>
                <c:pt idx="42">
                  <c:v>-96</c:v>
                </c:pt>
                <c:pt idx="43">
                  <c:v>-94</c:v>
                </c:pt>
                <c:pt idx="44">
                  <c:v>-92</c:v>
                </c:pt>
                <c:pt idx="45">
                  <c:v>-90</c:v>
                </c:pt>
                <c:pt idx="46">
                  <c:v>-88</c:v>
                </c:pt>
                <c:pt idx="47">
                  <c:v>-86</c:v>
                </c:pt>
                <c:pt idx="48">
                  <c:v>-84</c:v>
                </c:pt>
                <c:pt idx="49">
                  <c:v>-82</c:v>
                </c:pt>
                <c:pt idx="50">
                  <c:v>-80</c:v>
                </c:pt>
                <c:pt idx="51">
                  <c:v>-78</c:v>
                </c:pt>
                <c:pt idx="52">
                  <c:v>-76</c:v>
                </c:pt>
                <c:pt idx="53">
                  <c:v>-74</c:v>
                </c:pt>
                <c:pt idx="54">
                  <c:v>-72</c:v>
                </c:pt>
                <c:pt idx="55">
                  <c:v>-70</c:v>
                </c:pt>
                <c:pt idx="56">
                  <c:v>-68</c:v>
                </c:pt>
                <c:pt idx="57">
                  <c:v>-66</c:v>
                </c:pt>
                <c:pt idx="58">
                  <c:v>-64</c:v>
                </c:pt>
                <c:pt idx="59">
                  <c:v>-62</c:v>
                </c:pt>
                <c:pt idx="60">
                  <c:v>-60</c:v>
                </c:pt>
                <c:pt idx="61">
                  <c:v>-58</c:v>
                </c:pt>
                <c:pt idx="62">
                  <c:v>-56</c:v>
                </c:pt>
                <c:pt idx="63">
                  <c:v>-54</c:v>
                </c:pt>
                <c:pt idx="64">
                  <c:v>-52</c:v>
                </c:pt>
                <c:pt idx="65">
                  <c:v>-50</c:v>
                </c:pt>
                <c:pt idx="66">
                  <c:v>-48</c:v>
                </c:pt>
                <c:pt idx="67">
                  <c:v>-46</c:v>
                </c:pt>
                <c:pt idx="68">
                  <c:v>-44</c:v>
                </c:pt>
                <c:pt idx="69">
                  <c:v>-42</c:v>
                </c:pt>
                <c:pt idx="70">
                  <c:v>-40</c:v>
                </c:pt>
                <c:pt idx="71">
                  <c:v>-38</c:v>
                </c:pt>
                <c:pt idx="72">
                  <c:v>-36</c:v>
                </c:pt>
                <c:pt idx="73">
                  <c:v>-34</c:v>
                </c:pt>
                <c:pt idx="74">
                  <c:v>-32</c:v>
                </c:pt>
                <c:pt idx="75">
                  <c:v>-30</c:v>
                </c:pt>
                <c:pt idx="76">
                  <c:v>-28</c:v>
                </c:pt>
                <c:pt idx="77">
                  <c:v>-26</c:v>
                </c:pt>
                <c:pt idx="78">
                  <c:v>-24</c:v>
                </c:pt>
                <c:pt idx="79">
                  <c:v>-22</c:v>
                </c:pt>
                <c:pt idx="80">
                  <c:v>-20</c:v>
                </c:pt>
                <c:pt idx="81">
                  <c:v>-18</c:v>
                </c:pt>
                <c:pt idx="82">
                  <c:v>-16</c:v>
                </c:pt>
                <c:pt idx="83">
                  <c:v>-14</c:v>
                </c:pt>
                <c:pt idx="84">
                  <c:v>-12</c:v>
                </c:pt>
                <c:pt idx="85">
                  <c:v>-10</c:v>
                </c:pt>
                <c:pt idx="86">
                  <c:v>-8</c:v>
                </c:pt>
                <c:pt idx="87">
                  <c:v>-6</c:v>
                </c:pt>
                <c:pt idx="88">
                  <c:v>-4</c:v>
                </c:pt>
                <c:pt idx="89">
                  <c:v>-2</c:v>
                </c:pt>
                <c:pt idx="90">
                  <c:v>0</c:v>
                </c:pt>
                <c:pt idx="91">
                  <c:v>2</c:v>
                </c:pt>
                <c:pt idx="92">
                  <c:v>4</c:v>
                </c:pt>
                <c:pt idx="93">
                  <c:v>6</c:v>
                </c:pt>
                <c:pt idx="94">
                  <c:v>8</c:v>
                </c:pt>
                <c:pt idx="95">
                  <c:v>10</c:v>
                </c:pt>
                <c:pt idx="96">
                  <c:v>12</c:v>
                </c:pt>
                <c:pt idx="97">
                  <c:v>14</c:v>
                </c:pt>
                <c:pt idx="98">
                  <c:v>16</c:v>
                </c:pt>
                <c:pt idx="99">
                  <c:v>18</c:v>
                </c:pt>
                <c:pt idx="100">
                  <c:v>20</c:v>
                </c:pt>
                <c:pt idx="101">
                  <c:v>22</c:v>
                </c:pt>
                <c:pt idx="102">
                  <c:v>24</c:v>
                </c:pt>
                <c:pt idx="103">
                  <c:v>26</c:v>
                </c:pt>
                <c:pt idx="104">
                  <c:v>28</c:v>
                </c:pt>
                <c:pt idx="105">
                  <c:v>30</c:v>
                </c:pt>
                <c:pt idx="106">
                  <c:v>32</c:v>
                </c:pt>
                <c:pt idx="107">
                  <c:v>34</c:v>
                </c:pt>
                <c:pt idx="108">
                  <c:v>36</c:v>
                </c:pt>
                <c:pt idx="109">
                  <c:v>38</c:v>
                </c:pt>
                <c:pt idx="110">
                  <c:v>40</c:v>
                </c:pt>
                <c:pt idx="111">
                  <c:v>42</c:v>
                </c:pt>
                <c:pt idx="112">
                  <c:v>44</c:v>
                </c:pt>
                <c:pt idx="113">
                  <c:v>46</c:v>
                </c:pt>
                <c:pt idx="114">
                  <c:v>48</c:v>
                </c:pt>
                <c:pt idx="115">
                  <c:v>50</c:v>
                </c:pt>
                <c:pt idx="116">
                  <c:v>52</c:v>
                </c:pt>
                <c:pt idx="117">
                  <c:v>54</c:v>
                </c:pt>
                <c:pt idx="118">
                  <c:v>56</c:v>
                </c:pt>
                <c:pt idx="119">
                  <c:v>58</c:v>
                </c:pt>
                <c:pt idx="120">
                  <c:v>60</c:v>
                </c:pt>
                <c:pt idx="121">
                  <c:v>62</c:v>
                </c:pt>
                <c:pt idx="122">
                  <c:v>64</c:v>
                </c:pt>
                <c:pt idx="123">
                  <c:v>66</c:v>
                </c:pt>
                <c:pt idx="124">
                  <c:v>68</c:v>
                </c:pt>
                <c:pt idx="125">
                  <c:v>70</c:v>
                </c:pt>
                <c:pt idx="126">
                  <c:v>72</c:v>
                </c:pt>
                <c:pt idx="127">
                  <c:v>74</c:v>
                </c:pt>
                <c:pt idx="128">
                  <c:v>76</c:v>
                </c:pt>
                <c:pt idx="129">
                  <c:v>78</c:v>
                </c:pt>
                <c:pt idx="130">
                  <c:v>80</c:v>
                </c:pt>
                <c:pt idx="131">
                  <c:v>82</c:v>
                </c:pt>
                <c:pt idx="132">
                  <c:v>84</c:v>
                </c:pt>
                <c:pt idx="133">
                  <c:v>86</c:v>
                </c:pt>
                <c:pt idx="134">
                  <c:v>88</c:v>
                </c:pt>
                <c:pt idx="135">
                  <c:v>90</c:v>
                </c:pt>
                <c:pt idx="136">
                  <c:v>92</c:v>
                </c:pt>
                <c:pt idx="137">
                  <c:v>94</c:v>
                </c:pt>
                <c:pt idx="138">
                  <c:v>96</c:v>
                </c:pt>
                <c:pt idx="139">
                  <c:v>98</c:v>
                </c:pt>
                <c:pt idx="140">
                  <c:v>100</c:v>
                </c:pt>
                <c:pt idx="141">
                  <c:v>102</c:v>
                </c:pt>
                <c:pt idx="142">
                  <c:v>104</c:v>
                </c:pt>
                <c:pt idx="143">
                  <c:v>106</c:v>
                </c:pt>
                <c:pt idx="144">
                  <c:v>108</c:v>
                </c:pt>
                <c:pt idx="145">
                  <c:v>110</c:v>
                </c:pt>
                <c:pt idx="146">
                  <c:v>112</c:v>
                </c:pt>
                <c:pt idx="147">
                  <c:v>114</c:v>
                </c:pt>
                <c:pt idx="148">
                  <c:v>116</c:v>
                </c:pt>
                <c:pt idx="149">
                  <c:v>118</c:v>
                </c:pt>
                <c:pt idx="150">
                  <c:v>120</c:v>
                </c:pt>
                <c:pt idx="151">
                  <c:v>122</c:v>
                </c:pt>
                <c:pt idx="152">
                  <c:v>124</c:v>
                </c:pt>
                <c:pt idx="153">
                  <c:v>126</c:v>
                </c:pt>
                <c:pt idx="154">
                  <c:v>128</c:v>
                </c:pt>
                <c:pt idx="155">
                  <c:v>130</c:v>
                </c:pt>
                <c:pt idx="156">
                  <c:v>132</c:v>
                </c:pt>
                <c:pt idx="157">
                  <c:v>134</c:v>
                </c:pt>
                <c:pt idx="158">
                  <c:v>136</c:v>
                </c:pt>
                <c:pt idx="159">
                  <c:v>138</c:v>
                </c:pt>
                <c:pt idx="160">
                  <c:v>140</c:v>
                </c:pt>
                <c:pt idx="161">
                  <c:v>142</c:v>
                </c:pt>
                <c:pt idx="162">
                  <c:v>144</c:v>
                </c:pt>
                <c:pt idx="163">
                  <c:v>146</c:v>
                </c:pt>
                <c:pt idx="164">
                  <c:v>148</c:v>
                </c:pt>
                <c:pt idx="165">
                  <c:v>150</c:v>
                </c:pt>
                <c:pt idx="166">
                  <c:v>152</c:v>
                </c:pt>
                <c:pt idx="167">
                  <c:v>154</c:v>
                </c:pt>
                <c:pt idx="168">
                  <c:v>156</c:v>
                </c:pt>
                <c:pt idx="169">
                  <c:v>158</c:v>
                </c:pt>
                <c:pt idx="170">
                  <c:v>160</c:v>
                </c:pt>
                <c:pt idx="171">
                  <c:v>162</c:v>
                </c:pt>
                <c:pt idx="172">
                  <c:v>164</c:v>
                </c:pt>
                <c:pt idx="173">
                  <c:v>166</c:v>
                </c:pt>
                <c:pt idx="174">
                  <c:v>168</c:v>
                </c:pt>
                <c:pt idx="175">
                  <c:v>170</c:v>
                </c:pt>
                <c:pt idx="176">
                  <c:v>172</c:v>
                </c:pt>
                <c:pt idx="177">
                  <c:v>174</c:v>
                </c:pt>
                <c:pt idx="178">
                  <c:v>176</c:v>
                </c:pt>
                <c:pt idx="179">
                  <c:v>178</c:v>
                </c:pt>
                <c:pt idx="180">
                  <c:v>180</c:v>
                </c:pt>
              </c:numCache>
            </c:numRef>
          </c:xVal>
          <c:yVal>
            <c:numRef>
              <c:f>Sheet1!$B$2:$B$182</c:f>
              <c:numCache>
                <c:formatCode>General</c:formatCode>
                <c:ptCount val="181"/>
                <c:pt idx="0">
                  <c:v>-68.950126088873773</c:v>
                </c:pt>
                <c:pt idx="1">
                  <c:v>-68.934715011463496</c:v>
                </c:pt>
                <c:pt idx="2">
                  <c:v>-68.921961717730852</c:v>
                </c:pt>
                <c:pt idx="3">
                  <c:v>-68.911858477870439</c:v>
                </c:pt>
                <c:pt idx="4">
                  <c:v>-68.904399184111</c:v>
                </c:pt>
                <c:pt idx="5">
                  <c:v>-68.899579336001523</c:v>
                </c:pt>
                <c:pt idx="6">
                  <c:v>-68.89739602960131</c:v>
                </c:pt>
                <c:pt idx="7">
                  <c:v>-68.897847950519221</c:v>
                </c:pt>
                <c:pt idx="8">
                  <c:v>-68.900935370766717</c:v>
                </c:pt>
                <c:pt idx="9">
                  <c:v>-68.906660149408964</c:v>
                </c:pt>
                <c:pt idx="10">
                  <c:v>-68.915025737017132</c:v>
                </c:pt>
                <c:pt idx="11">
                  <c:v>-68.926037183944487</c:v>
                </c:pt>
                <c:pt idx="12">
                  <c:v>-68.939701152468203</c:v>
                </c:pt>
                <c:pt idx="13">
                  <c:v>-68.956025932858608</c:v>
                </c:pt>
                <c:pt idx="14">
                  <c:v>-68.975021463458063</c:v>
                </c:pt>
                <c:pt idx="15">
                  <c:v>-68.996699354872291</c:v>
                </c:pt>
                <c:pt idx="16">
                  <c:v>-69.021072918399511</c:v>
                </c:pt>
                <c:pt idx="17">
                  <c:v>-69.048157198845345</c:v>
                </c:pt>
                <c:pt idx="18">
                  <c:v>-69.07796901189586</c:v>
                </c:pt>
                <c:pt idx="19">
                  <c:v>-69.110526986247478</c:v>
                </c:pt>
                <c:pt idx="20">
                  <c:v>-69.145851610719603</c:v>
                </c:pt>
                <c:pt idx="21">
                  <c:v>-69.18396528660621</c:v>
                </c:pt>
                <c:pt idx="22">
                  <c:v>-69.224892385554739</c:v>
                </c:pt>
                <c:pt idx="23">
                  <c:v>-69.268659313295331</c:v>
                </c:pt>
                <c:pt idx="24">
                  <c:v>-69.315294579582314</c:v>
                </c:pt>
                <c:pt idx="25">
                  <c:v>-69.364828874750955</c:v>
                </c:pt>
                <c:pt idx="26">
                  <c:v>-69.417295153338529</c:v>
                </c:pt>
                <c:pt idx="27">
                  <c:v>-69.472728725269405</c:v>
                </c:pt>
                <c:pt idx="28">
                  <c:v>-69.531167355159226</c:v>
                </c:pt>
                <c:pt idx="29">
                  <c:v>-69.592651370355284</c:v>
                </c:pt>
                <c:pt idx="30">
                  <c:v>-69.657223778398091</c:v>
                </c:pt>
                <c:pt idx="31">
                  <c:v>-69.724930394666146</c:v>
                </c:pt>
                <c:pt idx="32">
                  <c:v>-69.795819981049817</c:v>
                </c:pt>
                <c:pt idx="33">
                  <c:v>-69.869944396596239</c:v>
                </c:pt>
                <c:pt idx="34">
                  <c:v>-69.947358761172381</c:v>
                </c:pt>
                <c:pt idx="35">
                  <c:v>-70.028121633313972</c:v>
                </c:pt>
                <c:pt idx="36">
                  <c:v>-70.11229520356126</c:v>
                </c:pt>
                <c:pt idx="37">
                  <c:v>-70.199945504734444</c:v>
                </c:pt>
                <c:pt idx="38">
                  <c:v>-70.291142640772847</c:v>
                </c:pt>
                <c:pt idx="39">
                  <c:v>-70.385961035954736</c:v>
                </c:pt>
                <c:pt idx="40">
                  <c:v>-70.484479706535197</c:v>
                </c:pt>
                <c:pt idx="41">
                  <c:v>-70.586782557088412</c:v>
                </c:pt>
                <c:pt idx="42">
                  <c:v>-70.692958704125417</c:v>
                </c:pt>
                <c:pt idx="43">
                  <c:v>-70.803102829883088</c:v>
                </c:pt>
                <c:pt idx="44">
                  <c:v>-70.917315569551505</c:v>
                </c:pt>
                <c:pt idx="45">
                  <c:v>-71.035703935633364</c:v>
                </c:pt>
                <c:pt idx="46">
                  <c:v>-71.158381783618495</c:v>
                </c:pt>
                <c:pt idx="47">
                  <c:v>-71.285470323721455</c:v>
                </c:pt>
                <c:pt idx="48">
                  <c:v>-71.417098684082234</c:v>
                </c:pt>
                <c:pt idx="49">
                  <c:v>-71.55340453158496</c:v>
                </c:pt>
                <c:pt idx="50">
                  <c:v>-71.694534757326878</c:v>
                </c:pt>
                <c:pt idx="51">
                  <c:v>-71.840646234789972</c:v>
                </c:pt>
                <c:pt idx="52">
                  <c:v>-71.991906659959795</c:v>
                </c:pt>
                <c:pt idx="53">
                  <c:v>-72.148495484030292</c:v>
                </c:pt>
                <c:pt idx="54">
                  <c:v>-72.310604950971509</c:v>
                </c:pt>
                <c:pt idx="55">
                  <c:v>-72.478441254164679</c:v>
                </c:pt>
                <c:pt idx="56">
                  <c:v>-72.652225828587177</c:v>
                </c:pt>
                <c:pt idx="57">
                  <c:v>-72.832196797727462</c:v>
                </c:pt>
                <c:pt idx="58">
                  <c:v>-73.01861059761778</c:v>
                </c:pt>
                <c:pt idx="59">
                  <c:v>-73.211743804196757</c:v>
                </c:pt>
                <c:pt idx="60">
                  <c:v>-73.411895194791143</c:v>
                </c:pt>
                <c:pt idx="61">
                  <c:v>-73.619388080000761</c:v>
                </c:pt>
                <c:pt idx="62">
                  <c:v>-73.834572948893268</c:v>
                </c:pt>
                <c:pt idx="63">
                  <c:v>-74.057830478421877</c:v>
                </c:pt>
                <c:pt idx="64">
                  <c:v>-74.289574967698059</c:v>
                </c:pt>
                <c:pt idx="65">
                  <c:v>-74.530258269587392</c:v>
                </c:pt>
                <c:pt idx="66">
                  <c:v>-74.780374306565534</c:v>
                </c:pt>
                <c:pt idx="67">
                  <c:v>-75.040464275519255</c:v>
                </c:pt>
                <c:pt idx="68">
                  <c:v>-75.311122668019834</c:v>
                </c:pt>
                <c:pt idx="69">
                  <c:v>-75.593004259561752</c:v>
                </c:pt>
                <c:pt idx="70">
                  <c:v>-75.886832254639785</c:v>
                </c:pt>
                <c:pt idx="71">
                  <c:v>-76.193407815942621</c:v>
                </c:pt>
                <c:pt idx="72">
                  <c:v>-76.513621257366424</c:v>
                </c:pt>
                <c:pt idx="73">
                  <c:v>-76.848465244409212</c:v>
                </c:pt>
                <c:pt idx="74">
                  <c:v>-77.199050424634493</c:v>
                </c:pt>
                <c:pt idx="75">
                  <c:v>-77.566624008420916</c:v>
                </c:pt>
                <c:pt idx="76">
                  <c:v>-77.9525919391874</c:v>
                </c:pt>
                <c:pt idx="77">
                  <c:v>-78.358545434700829</c:v>
                </c:pt>
                <c:pt idx="78">
                  <c:v>-78.786292845781787</c:v>
                </c:pt>
                <c:pt idx="79">
                  <c:v>-79.237897956888133</c:v>
                </c:pt>
                <c:pt idx="80">
                  <c:v>-79.715726018709731</c:v>
                </c:pt>
                <c:pt idx="81">
                  <c:v>-80.222498893268011</c:v>
                </c:pt>
                <c:pt idx="82">
                  <c:v>-80.761360566453945</c:v>
                </c:pt>
                <c:pt idx="83">
                  <c:v>-81.335953636684422</c:v>
                </c:pt>
                <c:pt idx="84">
                  <c:v>-81.950505568760107</c:v>
                </c:pt>
                <c:pt idx="85">
                  <c:v>-82.609919111478476</c:v>
                </c:pt>
                <c:pt idx="86">
                  <c:v>-83.319851301893181</c:v>
                </c:pt>
                <c:pt idx="87">
                  <c:v>-84.086743346998134</c:v>
                </c:pt>
                <c:pt idx="88">
                  <c:v>-84.917714904104429</c:v>
                </c:pt>
                <c:pt idx="89">
                  <c:v>-85.820128805696569</c:v>
                </c:pt>
                <c:pt idx="90">
                  <c:v>-86.800395953736512</c:v>
                </c:pt>
                <c:pt idx="91">
                  <c:v>-87.861080239147228</c:v>
                </c:pt>
                <c:pt idx="92">
                  <c:v>-88.994336346360228</c:v>
                </c:pt>
                <c:pt idx="93">
                  <c:v>-90.168068706840344</c:v>
                </c:pt>
                <c:pt idx="94">
                  <c:v>-91.300713925652957</c:v>
                </c:pt>
                <c:pt idx="95">
                  <c:v>-92.230937028036067</c:v>
                </c:pt>
                <c:pt idx="96">
                  <c:v>-92.728684824550228</c:v>
                </c:pt>
                <c:pt idx="97">
                  <c:v>-92.620848333843057</c:v>
                </c:pt>
                <c:pt idx="98">
                  <c:v>-91.948362215820367</c:v>
                </c:pt>
                <c:pt idx="99">
                  <c:v>-90.924971891087139</c:v>
                </c:pt>
                <c:pt idx="100">
                  <c:v>-89.764593959576402</c:v>
                </c:pt>
                <c:pt idx="101">
                  <c:v>-88.598714942754654</c:v>
                </c:pt>
                <c:pt idx="102">
                  <c:v>-87.488360383305292</c:v>
                </c:pt>
                <c:pt idx="103">
                  <c:v>-86.45509855984001</c:v>
                </c:pt>
                <c:pt idx="104">
                  <c:v>-85.502107692030137</c:v>
                </c:pt>
                <c:pt idx="105">
                  <c:v>-84.625007186020895</c:v>
                </c:pt>
                <c:pt idx="106">
                  <c:v>-83.816847319328957</c:v>
                </c:pt>
                <c:pt idx="107">
                  <c:v>-83.070265338375876</c:v>
                </c:pt>
                <c:pt idx="108">
                  <c:v>-82.378347757848161</c:v>
                </c:pt>
                <c:pt idx="109">
                  <c:v>-81.734919908579201</c:v>
                </c:pt>
                <c:pt idx="110">
                  <c:v>-81.134590486428664</c:v>
                </c:pt>
                <c:pt idx="111">
                  <c:v>-80.572698341067792</c:v>
                </c:pt>
                <c:pt idx="112">
                  <c:v>-80.045226790036267</c:v>
                </c:pt>
                <c:pt idx="113">
                  <c:v>-79.548713544971946</c:v>
                </c:pt>
                <c:pt idx="114">
                  <c:v>-79.080167474792489</c:v>
                </c:pt>
                <c:pt idx="115">
                  <c:v>-78.636995872693859</c:v>
                </c:pt>
                <c:pt idx="116">
                  <c:v>-78.216942616862639</c:v>
                </c:pt>
                <c:pt idx="117">
                  <c:v>-77.818036305625796</c:v>
                </c:pt>
                <c:pt idx="118">
                  <c:v>-77.438547030612156</c:v>
                </c:pt>
                <c:pt idx="119">
                  <c:v>-77.076950423498374</c:v>
                </c:pt>
                <c:pt idx="120">
                  <c:v>-76.731897738803909</c:v>
                </c:pt>
                <c:pt idx="121">
                  <c:v>-76.402190909781353</c:v>
                </c:pt>
                <c:pt idx="122">
                  <c:v>-76.086761689779223</c:v>
                </c:pt>
                <c:pt idx="123">
                  <c:v>-75.78465414899172</c:v>
                </c:pt>
                <c:pt idx="124">
                  <c:v>-75.495009930792804</c:v>
                </c:pt>
                <c:pt idx="125">
                  <c:v>-75.217055783162181</c:v>
                </c:pt>
                <c:pt idx="126">
                  <c:v>-74.950092971567514</c:v>
                </c:pt>
                <c:pt idx="127">
                  <c:v>-74.693488253214781</c:v>
                </c:pt>
                <c:pt idx="128">
                  <c:v>-74.446666151872236</c:v>
                </c:pt>
                <c:pt idx="129">
                  <c:v>-74.20910232021177</c:v>
                </c:pt>
                <c:pt idx="130">
                  <c:v>-73.98031781505972</c:v>
                </c:pt>
                <c:pt idx="131">
                  <c:v>-73.759874141965128</c:v>
                </c:pt>
                <c:pt idx="132">
                  <c:v>-73.547368950570188</c:v>
                </c:pt>
                <c:pt idx="133">
                  <c:v>-73.342432282602218</c:v>
                </c:pt>
                <c:pt idx="134">
                  <c:v>-73.144723290846429</c:v>
                </c:pt>
                <c:pt idx="135">
                  <c:v>-72.953927360959497</c:v>
                </c:pt>
                <c:pt idx="136">
                  <c:v>-72.76975357904162</c:v>
                </c:pt>
                <c:pt idx="137">
                  <c:v>-72.591932496975105</c:v>
                </c:pt>
                <c:pt idx="138">
                  <c:v>-72.420214155035993</c:v>
                </c:pt>
                <c:pt idx="139">
                  <c:v>-72.254366327495262</c:v>
                </c:pt>
                <c:pt idx="140">
                  <c:v>-72.094172962084329</c:v>
                </c:pt>
                <c:pt idx="141">
                  <c:v>-71.939432788502018</c:v>
                </c:pt>
                <c:pt idx="142">
                  <c:v>-71.78995807473899</c:v>
                </c:pt>
                <c:pt idx="143">
                  <c:v>-71.645573513017425</c:v>
                </c:pt>
                <c:pt idx="144">
                  <c:v>-71.506115219688127</c:v>
                </c:pt>
                <c:pt idx="145">
                  <c:v>-71.371429835578212</c:v>
                </c:pt>
                <c:pt idx="146">
                  <c:v>-71.241373715104089</c:v>
                </c:pt>
                <c:pt idx="147">
                  <c:v>-71.115812194014765</c:v>
                </c:pt>
                <c:pt idx="148">
                  <c:v>-70.994618926950594</c:v>
                </c:pt>
                <c:pt idx="149">
                  <c:v>-70.87767528713313</c:v>
                </c:pt>
                <c:pt idx="150">
                  <c:v>-70.764869821469446</c:v>
                </c:pt>
                <c:pt idx="151">
                  <c:v>-70.656097755188</c:v>
                </c:pt>
                <c:pt idx="152">
                  <c:v>-70.551260540839991</c:v>
                </c:pt>
                <c:pt idx="153">
                  <c:v>-70.45026544712168</c:v>
                </c:pt>
                <c:pt idx="154">
                  <c:v>-70.353025183509828</c:v>
                </c:pt>
                <c:pt idx="155">
                  <c:v>-70.259457557169952</c:v>
                </c:pt>
                <c:pt idx="156">
                  <c:v>-70.169485159003074</c:v>
                </c:pt>
                <c:pt idx="157">
                  <c:v>-70.083035076051729</c:v>
                </c:pt>
                <c:pt idx="158">
                  <c:v>-70.000038627795917</c:v>
                </c:pt>
                <c:pt idx="159">
                  <c:v>-69.920431124141743</c:v>
                </c:pt>
                <c:pt idx="160">
                  <c:v>-69.844151643144244</c:v>
                </c:pt>
                <c:pt idx="161">
                  <c:v>-69.771142826716073</c:v>
                </c:pt>
                <c:pt idx="162">
                  <c:v>-69.701350692759561</c:v>
                </c:pt>
                <c:pt idx="163">
                  <c:v>-69.634724462323135</c:v>
                </c:pt>
                <c:pt idx="164">
                  <c:v>-69.57121640052857</c:v>
                </c:pt>
                <c:pt idx="165">
                  <c:v>-69.510781670144752</c:v>
                </c:pt>
                <c:pt idx="166">
                  <c:v>-69.453378196797843</c:v>
                </c:pt>
                <c:pt idx="167">
                  <c:v>-69.398966544910238</c:v>
                </c:pt>
                <c:pt idx="168">
                  <c:v>-69.347509803552299</c:v>
                </c:pt>
                <c:pt idx="169">
                  <c:v>-69.298973481472188</c:v>
                </c:pt>
                <c:pt idx="170">
                  <c:v>-69.253325410642788</c:v>
                </c:pt>
                <c:pt idx="171">
                  <c:v>-69.210535657730716</c:v>
                </c:pt>
                <c:pt idx="172">
                  <c:v>-69.170576442951997</c:v>
                </c:pt>
                <c:pt idx="173">
                  <c:v>-69.133422065832548</c:v>
                </c:pt>
                <c:pt idx="174">
                  <c:v>-69.099048837440847</c:v>
                </c:pt>
                <c:pt idx="175">
                  <c:v>-69.067435018703975</c:v>
                </c:pt>
                <c:pt idx="176">
                  <c:v>-69.038560764459319</c:v>
                </c:pt>
                <c:pt idx="177">
                  <c:v>-69.012408072930768</c:v>
                </c:pt>
                <c:pt idx="178">
                  <c:v>-68.988960740352368</c:v>
                </c:pt>
                <c:pt idx="179">
                  <c:v>-68.968204320494223</c:v>
                </c:pt>
                <c:pt idx="180">
                  <c:v>-68.950126088873773</c:v>
                </c:pt>
              </c:numCache>
            </c:numRef>
          </c:yVal>
          <c:smooth val="0"/>
          <c:extLst>
            <c:ext xmlns:c16="http://schemas.microsoft.com/office/drawing/2014/chart" uri="{C3380CC4-5D6E-409C-BE32-E72D297353CC}">
              <c16:uniqueId val="{00000000-31DC-48D5-9D8D-EA2634CDE727}"/>
            </c:ext>
          </c:extLst>
        </c:ser>
        <c:ser>
          <c:idx val="1"/>
          <c:order val="1"/>
          <c:tx>
            <c:strRef>
              <c:f>Sheet1!$B$184</c:f>
              <c:strCache>
                <c:ptCount val="1"/>
                <c:pt idx="0">
                  <c:v>Medido</c:v>
                </c:pt>
              </c:strCache>
            </c:strRef>
          </c:tx>
          <c:spPr>
            <a:ln w="47625">
              <a:noFill/>
            </a:ln>
          </c:spPr>
          <c:marker>
            <c:symbol val="circle"/>
            <c:size val="8"/>
            <c:spPr>
              <a:solidFill>
                <a:srgbClr val="222222"/>
              </a:solidFill>
              <a:ln>
                <a:solidFill>
                  <a:srgbClr val="FFFFFF"/>
                </a:solidFill>
              </a:ln>
            </c:spPr>
          </c:marker>
          <c:xVal>
            <c:numRef>
              <c:f>Sheet1!$A$185:$A$197</c:f>
              <c:numCache>
                <c:formatCode>General</c:formatCode>
                <c:ptCount val="13"/>
                <c:pt idx="0">
                  <c:v>-180</c:v>
                </c:pt>
                <c:pt idx="1">
                  <c:v>-160</c:v>
                </c:pt>
                <c:pt idx="2">
                  <c:v>-140</c:v>
                </c:pt>
                <c:pt idx="3">
                  <c:v>-120</c:v>
                </c:pt>
                <c:pt idx="4">
                  <c:v>-100</c:v>
                </c:pt>
                <c:pt idx="5">
                  <c:v>-80</c:v>
                </c:pt>
                <c:pt idx="6">
                  <c:v>-60</c:v>
                </c:pt>
                <c:pt idx="7">
                  <c:v>-40</c:v>
                </c:pt>
                <c:pt idx="8">
                  <c:v>-20</c:v>
                </c:pt>
                <c:pt idx="9">
                  <c:v>0</c:v>
                </c:pt>
                <c:pt idx="10">
                  <c:v>20</c:v>
                </c:pt>
                <c:pt idx="11">
                  <c:v>40</c:v>
                </c:pt>
                <c:pt idx="12">
                  <c:v>60</c:v>
                </c:pt>
              </c:numCache>
            </c:numRef>
          </c:xVal>
          <c:yVal>
            <c:numRef>
              <c:f>Sheet1!$B$185:$B$197</c:f>
              <c:numCache>
                <c:formatCode>General</c:formatCode>
                <c:ptCount val="13"/>
                <c:pt idx="0">
                  <c:v>-69</c:v>
                </c:pt>
                <c:pt idx="1">
                  <c:v>-68.7</c:v>
                </c:pt>
                <c:pt idx="2">
                  <c:v>-69.3</c:v>
                </c:pt>
                <c:pt idx="3">
                  <c:v>-69.8</c:v>
                </c:pt>
                <c:pt idx="4">
                  <c:v>-70.5</c:v>
                </c:pt>
                <c:pt idx="5">
                  <c:v>-71.5</c:v>
                </c:pt>
                <c:pt idx="6">
                  <c:v>-73.400000000000006</c:v>
                </c:pt>
                <c:pt idx="7">
                  <c:v>-75.400000000000006</c:v>
                </c:pt>
                <c:pt idx="8">
                  <c:v>-81</c:v>
                </c:pt>
                <c:pt idx="9">
                  <c:v>-90.1</c:v>
                </c:pt>
                <c:pt idx="10">
                  <c:v>-88</c:v>
                </c:pt>
                <c:pt idx="11">
                  <c:v>-81.5</c:v>
                </c:pt>
                <c:pt idx="12">
                  <c:v>-76.599999999999994</c:v>
                </c:pt>
              </c:numCache>
            </c:numRef>
          </c:yVal>
          <c:smooth val="0"/>
          <c:extLst>
            <c:ext xmlns:c16="http://schemas.microsoft.com/office/drawing/2014/chart" uri="{C3380CC4-5D6E-409C-BE32-E72D297353CC}">
              <c16:uniqueId val="{00000001-31DC-48D5-9D8D-EA2634CDE727}"/>
            </c:ext>
          </c:extLst>
        </c:ser>
        <c:ser>
          <c:idx val="2"/>
          <c:order val="2"/>
          <c:tx>
            <c:strRef>
              <c:f>Sheet1!$B$199</c:f>
              <c:strCache>
                <c:ptCount val="1"/>
                <c:pt idx="0">
                  <c:v>Ajuste fino: 15°</c:v>
                </c:pt>
              </c:strCache>
            </c:strRef>
          </c:tx>
          <c:spPr>
            <a:ln w="47625">
              <a:noFill/>
            </a:ln>
          </c:spPr>
          <c:marker>
            <c:symbol val="diamond"/>
            <c:size val="11"/>
            <c:spPr>
              <a:solidFill>
                <a:srgbClr val="C2410C"/>
              </a:solidFill>
              <a:ln>
                <a:solidFill>
                  <a:srgbClr val="FFFFFF"/>
                </a:solidFill>
              </a:ln>
            </c:spPr>
          </c:marker>
          <c:xVal>
            <c:numRef>
              <c:f>Sheet1!$A$200:$A$200</c:f>
              <c:numCache>
                <c:formatCode>General</c:formatCode>
                <c:ptCount val="1"/>
                <c:pt idx="0">
                  <c:v>15</c:v>
                </c:pt>
              </c:numCache>
            </c:numRef>
          </c:xVal>
          <c:yVal>
            <c:numRef>
              <c:f>Sheet1!$B$200:$B$200</c:f>
              <c:numCache>
                <c:formatCode>General</c:formatCode>
                <c:ptCount val="1"/>
                <c:pt idx="0">
                  <c:v>-93.5</c:v>
                </c:pt>
              </c:numCache>
            </c:numRef>
          </c:yVal>
          <c:smooth val="0"/>
          <c:extLst>
            <c:ext xmlns:c16="http://schemas.microsoft.com/office/drawing/2014/chart" uri="{C3380CC4-5D6E-409C-BE32-E72D297353CC}">
              <c16:uniqueId val="{00000002-31DC-48D5-9D8D-EA2634CDE727}"/>
            </c:ext>
          </c:extLst>
        </c:ser>
        <c:ser>
          <c:idx val="3"/>
          <c:order val="3"/>
          <c:tx>
            <c:strRef>
              <c:f>Sheet1!$B$202</c:f>
              <c:strCache>
                <c:ptCount val="1"/>
                <c:pt idx="0">
                  <c:v>Sin corrección: −75,8 dBm</c:v>
                </c:pt>
              </c:strCache>
            </c:strRef>
          </c:tx>
          <c:spPr>
            <a:ln w="15875">
              <a:solidFill>
                <a:srgbClr val="666666"/>
              </a:solidFill>
              <a:prstDash val="dash"/>
            </a:ln>
          </c:spPr>
          <c:marker>
            <c:symbol val="none"/>
          </c:marker>
          <c:xVal>
            <c:numRef>
              <c:f>Sheet1!$A$203:$A$204</c:f>
              <c:numCache>
                <c:formatCode>General</c:formatCode>
                <c:ptCount val="2"/>
                <c:pt idx="0">
                  <c:v>-180</c:v>
                </c:pt>
                <c:pt idx="1">
                  <c:v>180</c:v>
                </c:pt>
              </c:numCache>
            </c:numRef>
          </c:xVal>
          <c:yVal>
            <c:numRef>
              <c:f>Sheet1!$B$203:$B$204</c:f>
              <c:numCache>
                <c:formatCode>General</c:formatCode>
                <c:ptCount val="2"/>
                <c:pt idx="0">
                  <c:v>-75.8</c:v>
                </c:pt>
                <c:pt idx="1">
                  <c:v>-75.8</c:v>
                </c:pt>
              </c:numCache>
            </c:numRef>
          </c:yVal>
          <c:smooth val="0"/>
          <c:extLst>
            <c:ext xmlns:c16="http://schemas.microsoft.com/office/drawing/2014/chart" uri="{C3380CC4-5D6E-409C-BE32-E72D297353CC}">
              <c16:uniqueId val="{00000003-31DC-48D5-9D8D-EA2634CDE727}"/>
            </c:ext>
          </c:extLst>
        </c:ser>
        <c:dLbls>
          <c:showLegendKey val="0"/>
          <c:showVal val="0"/>
          <c:showCatName val="0"/>
          <c:showSerName val="0"/>
          <c:showPercent val="0"/>
          <c:showBubbleSize val="0"/>
        </c:dLbls>
        <c:axId val="-2128940872"/>
        <c:axId val="-2129643912"/>
      </c:scatterChart>
      <c:valAx>
        <c:axId val="-2128940872"/>
        <c:scaling>
          <c:orientation val="minMax"/>
          <c:max val="180"/>
          <c:min val="-180"/>
        </c:scaling>
        <c:delete val="0"/>
        <c:axPos val="b"/>
        <c:majorGridlines>
          <c:spPr>
            <a:ln w="9525">
              <a:solidFill>
                <a:srgbClr val="E3E7E8"/>
              </a:solidFill>
            </a:ln>
          </c:spPr>
        </c:majorGridlines>
        <c:title>
          <c:tx>
            <c:rich>
              <a:bodyPr/>
              <a:lstStyle/>
              <a:p>
                <a:r>
                  <a:rPr lang="es-ES" sz="1200" b="0">
                    <a:solidFill>
                      <a:srgbClr val="666666"/>
                    </a:solidFill>
                  </a:rPr>
                  <a:t>Fase de la corrección (grados)</a:t>
                </a:r>
              </a:p>
            </c:rich>
          </c:tx>
          <c:overlay val="0"/>
        </c:title>
        <c:numFmt formatCode="General" sourceLinked="1"/>
        <c:majorTickMark val="out"/>
        <c:minorTickMark val="none"/>
        <c:tickLblPos val="low"/>
        <c:spPr>
          <a:ln>
            <a:solidFill>
              <a:srgbClr val="C9D1D4"/>
            </a:solidFill>
          </a:ln>
        </c:spPr>
        <c:txPr>
          <a:bodyPr/>
          <a:lstStyle/>
          <a:p>
            <a:pPr>
              <a:defRPr sz="1200"/>
            </a:pPr>
            <a:endParaRPr lang="en-US"/>
          </a:p>
        </c:txPr>
        <c:crossAx val="-2129643912"/>
        <c:crosses val="autoZero"/>
        <c:crossBetween val="midCat"/>
        <c:majorUnit val="60"/>
      </c:valAx>
      <c:valAx>
        <c:axId val="-2129643912"/>
        <c:scaling>
          <c:orientation val="minMax"/>
          <c:max val="-65"/>
          <c:min val="-100"/>
        </c:scaling>
        <c:delete val="0"/>
        <c:axPos val="l"/>
        <c:majorGridlines>
          <c:spPr>
            <a:ln w="9525">
              <a:solidFill>
                <a:srgbClr val="E3E7E8"/>
              </a:solidFill>
            </a:ln>
          </c:spPr>
        </c:majorGridlines>
        <c:title>
          <c:tx>
            <c:rich>
              <a:bodyPr/>
              <a:lstStyle/>
              <a:p>
                <a:r>
                  <a:rPr lang="en-US" sz="1200" b="0">
                    <a:solidFill>
                      <a:srgbClr val="666666"/>
                    </a:solidFill>
                  </a:rPr>
                  <a:t>Imagen (dBm)</a:t>
                </a:r>
              </a:p>
            </c:rich>
          </c:tx>
          <c:overlay val="0"/>
        </c:title>
        <c:numFmt formatCode="General" sourceLinked="1"/>
        <c:majorTickMark val="out"/>
        <c:minorTickMark val="none"/>
        <c:tickLblPos val="low"/>
        <c:spPr>
          <a:ln>
            <a:solidFill>
              <a:srgbClr val="C9D1D4"/>
            </a:solidFill>
          </a:ln>
        </c:spPr>
        <c:txPr>
          <a:bodyPr/>
          <a:lstStyle/>
          <a:p>
            <a:pPr>
              <a:defRPr sz="1200"/>
            </a:pPr>
            <a:endParaRPr lang="en-US"/>
          </a:p>
        </c:txPr>
        <c:crossAx val="-2128940872"/>
        <c:crosses val="autoZero"/>
        <c:crossBetween val="midCat"/>
        <c:majorUnit val="5"/>
      </c:valAx>
    </c:plotArea>
    <c:legend>
      <c:legendPos val="b"/>
      <c:overlay val="0"/>
    </c:legend>
    <c:plotVisOnly val="1"/>
    <c:dispBlanksAs val="gap"/>
    <c:showDLblsOverMax val="0"/>
  </c:chart>
  <c:txPr>
    <a:bodyPr/>
    <a:lstStyle/>
    <a:p>
      <a:pPr>
        <a:defRPr sz="1200">
          <a:solidFill>
            <a:srgbClr val="66666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Reducción de la imagen (dB)</c:v>
                </c:pt>
              </c:strCache>
            </c:strRef>
          </c:tx>
          <c:spPr>
            <a:solidFill>
              <a:srgbClr val="0B5563"/>
            </a:solidFill>
          </c:spPr>
          <c:invertIfNegative val="1"/>
          <c:dPt>
            <c:idx val="2"/>
            <c:invertIfNegative val="1"/>
            <c:bubble3D val="0"/>
            <c:spPr>
              <a:solidFill>
                <a:srgbClr val="C2410C"/>
              </a:solidFill>
            </c:spPr>
            <c:extLst>
              <c:ext xmlns:c16="http://schemas.microsoft.com/office/drawing/2014/chart" uri="{C3380CC4-5D6E-409C-BE32-E72D297353CC}">
                <c16:uniqueId val="{00000001-57BE-4F0F-8B32-05E26490125C}"/>
              </c:ext>
            </c:extLst>
          </c:dPt>
          <c:dLbls>
            <c:numFmt formatCode="0.0&quot; dB&quot;" sourceLinked="0"/>
            <c:spPr>
              <a:noFill/>
              <a:ln>
                <a:noFill/>
              </a:ln>
              <a:effectLst/>
            </c:spPr>
            <c:txPr>
              <a:bodyPr/>
              <a:lstStyle/>
              <a:p>
                <a:pPr>
                  <a:defRPr sz="1400" b="1">
                    <a:solidFill>
                      <a:srgbClr val="222222"/>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400 MHz, 200 kHz</c:v>
                </c:pt>
                <c:pt idx="1">
                  <c:v>400 MHz, 600 kHz</c:v>
                </c:pt>
                <c:pt idx="2">
                  <c:v>600 MHz, c de 400 MHz</c:v>
                </c:pt>
                <c:pt idx="3">
                  <c:v>600 MHz, c reajustado</c:v>
                </c:pt>
              </c:strCache>
            </c:strRef>
          </c:cat>
          <c:val>
            <c:numRef>
              <c:f>Sheet1!$B$2:$B$5</c:f>
              <c:numCache>
                <c:formatCode>General</c:formatCode>
                <c:ptCount val="4"/>
                <c:pt idx="0">
                  <c:v>18</c:v>
                </c:pt>
                <c:pt idx="1">
                  <c:v>16.600000000000001</c:v>
                </c:pt>
                <c:pt idx="2">
                  <c:v>7.5</c:v>
                </c:pt>
                <c:pt idx="3">
                  <c:v>16.5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7BE-4F0F-8B32-05E26490125C}"/>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C9D1D4"/>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20"/>
          <c:min val="0"/>
        </c:scaling>
        <c:delete val="0"/>
        <c:axPos val="l"/>
        <c:majorGridlines>
          <c:spPr>
            <a:ln w="9525">
              <a:solidFill>
                <a:srgbClr val="E3E7E8"/>
              </a:solidFill>
            </a:ln>
          </c:spPr>
        </c:majorGridlines>
        <c:title>
          <c:tx>
            <c:rich>
              <a:bodyPr/>
              <a:lstStyle/>
              <a:p>
                <a:r>
                  <a:rPr lang="es-ES" sz="1200" b="0">
                    <a:solidFill>
                      <a:srgbClr val="666666"/>
                    </a:solidFill>
                  </a:rPr>
                  <a:t>Reducción de la imagen (dB)</a:t>
                </a:r>
              </a:p>
            </c:rich>
          </c:tx>
          <c:overlay val="0"/>
        </c:title>
        <c:numFmt formatCode="General" sourceLinked="1"/>
        <c:majorTickMark val="out"/>
        <c:minorTickMark val="none"/>
        <c:tickLblPos val="low"/>
        <c:spPr>
          <a:ln>
            <a:solidFill>
              <a:srgbClr val="C9D1D4"/>
            </a:solidFill>
          </a:ln>
        </c:spPr>
        <c:txPr>
          <a:bodyPr/>
          <a:lstStyle/>
          <a:p>
            <a:pPr>
              <a:defRPr sz="1200"/>
            </a:pPr>
            <a:endParaRPr lang="en-US"/>
          </a:p>
        </c:txPr>
        <c:crossAx val="-2068027336"/>
        <c:crosses val="autoZero"/>
        <c:crossBetween val="between"/>
        <c:majorUnit val="5"/>
      </c:valAx>
    </c:plotArea>
    <c:plotVisOnly val="1"/>
    <c:dispBlanksAs val="gap"/>
    <c:showDLblsOverMax val="1"/>
  </c:chart>
  <c:txPr>
    <a:bodyPr/>
    <a:lstStyle/>
    <a:p>
      <a:pPr>
        <a:defRPr sz="1200">
          <a:solidFill>
            <a:srgbClr val="66666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Modelo</c:v>
                </c:pt>
              </c:strCache>
            </c:strRef>
          </c:tx>
          <c:spPr>
            <a:ln w="28575">
              <a:solidFill>
                <a:srgbClr val="C9D1D4"/>
              </a:solidFill>
            </a:ln>
          </c:spPr>
          <c:marker>
            <c:symbol val="none"/>
          </c:marker>
          <c:xVal>
            <c:numRef>
              <c:f>Sheet1!$A$2:$A$182</c:f>
              <c:numCache>
                <c:formatCode>General</c:formatCode>
                <c:ptCount val="181"/>
                <c:pt idx="0">
                  <c:v>-180</c:v>
                </c:pt>
                <c:pt idx="1">
                  <c:v>-178</c:v>
                </c:pt>
                <c:pt idx="2">
                  <c:v>-176</c:v>
                </c:pt>
                <c:pt idx="3">
                  <c:v>-174</c:v>
                </c:pt>
                <c:pt idx="4">
                  <c:v>-172</c:v>
                </c:pt>
                <c:pt idx="5">
                  <c:v>-170</c:v>
                </c:pt>
                <c:pt idx="6">
                  <c:v>-168</c:v>
                </c:pt>
                <c:pt idx="7">
                  <c:v>-166</c:v>
                </c:pt>
                <c:pt idx="8">
                  <c:v>-164</c:v>
                </c:pt>
                <c:pt idx="9">
                  <c:v>-162</c:v>
                </c:pt>
                <c:pt idx="10">
                  <c:v>-160</c:v>
                </c:pt>
                <c:pt idx="11">
                  <c:v>-158</c:v>
                </c:pt>
                <c:pt idx="12">
                  <c:v>-156</c:v>
                </c:pt>
                <c:pt idx="13">
                  <c:v>-154</c:v>
                </c:pt>
                <c:pt idx="14">
                  <c:v>-152</c:v>
                </c:pt>
                <c:pt idx="15">
                  <c:v>-150</c:v>
                </c:pt>
                <c:pt idx="16">
                  <c:v>-148</c:v>
                </c:pt>
                <c:pt idx="17">
                  <c:v>-146</c:v>
                </c:pt>
                <c:pt idx="18">
                  <c:v>-144</c:v>
                </c:pt>
                <c:pt idx="19">
                  <c:v>-142</c:v>
                </c:pt>
                <c:pt idx="20">
                  <c:v>-140</c:v>
                </c:pt>
                <c:pt idx="21">
                  <c:v>-138</c:v>
                </c:pt>
                <c:pt idx="22">
                  <c:v>-136</c:v>
                </c:pt>
                <c:pt idx="23">
                  <c:v>-134</c:v>
                </c:pt>
                <c:pt idx="24">
                  <c:v>-132</c:v>
                </c:pt>
                <c:pt idx="25">
                  <c:v>-130</c:v>
                </c:pt>
                <c:pt idx="26">
                  <c:v>-128</c:v>
                </c:pt>
                <c:pt idx="27">
                  <c:v>-126</c:v>
                </c:pt>
                <c:pt idx="28">
                  <c:v>-124</c:v>
                </c:pt>
                <c:pt idx="29">
                  <c:v>-122</c:v>
                </c:pt>
                <c:pt idx="30">
                  <c:v>-120</c:v>
                </c:pt>
                <c:pt idx="31">
                  <c:v>-118</c:v>
                </c:pt>
                <c:pt idx="32">
                  <c:v>-116</c:v>
                </c:pt>
                <c:pt idx="33">
                  <c:v>-114</c:v>
                </c:pt>
                <c:pt idx="34">
                  <c:v>-112</c:v>
                </c:pt>
                <c:pt idx="35">
                  <c:v>-110</c:v>
                </c:pt>
                <c:pt idx="36">
                  <c:v>-108</c:v>
                </c:pt>
                <c:pt idx="37">
                  <c:v>-106</c:v>
                </c:pt>
                <c:pt idx="38">
                  <c:v>-104</c:v>
                </c:pt>
                <c:pt idx="39">
                  <c:v>-102</c:v>
                </c:pt>
                <c:pt idx="40">
                  <c:v>-100</c:v>
                </c:pt>
                <c:pt idx="41">
                  <c:v>-98</c:v>
                </c:pt>
                <c:pt idx="42">
                  <c:v>-96</c:v>
                </c:pt>
                <c:pt idx="43">
                  <c:v>-94</c:v>
                </c:pt>
                <c:pt idx="44">
                  <c:v>-92</c:v>
                </c:pt>
                <c:pt idx="45">
                  <c:v>-90</c:v>
                </c:pt>
                <c:pt idx="46">
                  <c:v>-88</c:v>
                </c:pt>
                <c:pt idx="47">
                  <c:v>-86</c:v>
                </c:pt>
                <c:pt idx="48">
                  <c:v>-84</c:v>
                </c:pt>
                <c:pt idx="49">
                  <c:v>-82</c:v>
                </c:pt>
                <c:pt idx="50">
                  <c:v>-80</c:v>
                </c:pt>
                <c:pt idx="51">
                  <c:v>-78</c:v>
                </c:pt>
                <c:pt idx="52">
                  <c:v>-76</c:v>
                </c:pt>
                <c:pt idx="53">
                  <c:v>-74</c:v>
                </c:pt>
                <c:pt idx="54">
                  <c:v>-72</c:v>
                </c:pt>
                <c:pt idx="55">
                  <c:v>-70</c:v>
                </c:pt>
                <c:pt idx="56">
                  <c:v>-68</c:v>
                </c:pt>
                <c:pt idx="57">
                  <c:v>-66</c:v>
                </c:pt>
                <c:pt idx="58">
                  <c:v>-64</c:v>
                </c:pt>
                <c:pt idx="59">
                  <c:v>-62</c:v>
                </c:pt>
                <c:pt idx="60">
                  <c:v>-60</c:v>
                </c:pt>
                <c:pt idx="61">
                  <c:v>-58</c:v>
                </c:pt>
                <c:pt idx="62">
                  <c:v>-56</c:v>
                </c:pt>
                <c:pt idx="63">
                  <c:v>-54</c:v>
                </c:pt>
                <c:pt idx="64">
                  <c:v>-52</c:v>
                </c:pt>
                <c:pt idx="65">
                  <c:v>-50</c:v>
                </c:pt>
                <c:pt idx="66">
                  <c:v>-48</c:v>
                </c:pt>
                <c:pt idx="67">
                  <c:v>-46</c:v>
                </c:pt>
                <c:pt idx="68">
                  <c:v>-44</c:v>
                </c:pt>
                <c:pt idx="69">
                  <c:v>-42</c:v>
                </c:pt>
                <c:pt idx="70">
                  <c:v>-40</c:v>
                </c:pt>
                <c:pt idx="71">
                  <c:v>-38</c:v>
                </c:pt>
                <c:pt idx="72">
                  <c:v>-36</c:v>
                </c:pt>
                <c:pt idx="73">
                  <c:v>-34</c:v>
                </c:pt>
                <c:pt idx="74">
                  <c:v>-32</c:v>
                </c:pt>
                <c:pt idx="75">
                  <c:v>-30</c:v>
                </c:pt>
                <c:pt idx="76">
                  <c:v>-28</c:v>
                </c:pt>
                <c:pt idx="77">
                  <c:v>-26</c:v>
                </c:pt>
                <c:pt idx="78">
                  <c:v>-24</c:v>
                </c:pt>
                <c:pt idx="79">
                  <c:v>-22</c:v>
                </c:pt>
                <c:pt idx="80">
                  <c:v>-20</c:v>
                </c:pt>
                <c:pt idx="81">
                  <c:v>-18</c:v>
                </c:pt>
                <c:pt idx="82">
                  <c:v>-16</c:v>
                </c:pt>
                <c:pt idx="83">
                  <c:v>-14</c:v>
                </c:pt>
                <c:pt idx="84">
                  <c:v>-12</c:v>
                </c:pt>
                <c:pt idx="85">
                  <c:v>-10</c:v>
                </c:pt>
                <c:pt idx="86">
                  <c:v>-8</c:v>
                </c:pt>
                <c:pt idx="87">
                  <c:v>-6</c:v>
                </c:pt>
                <c:pt idx="88">
                  <c:v>-4</c:v>
                </c:pt>
                <c:pt idx="89">
                  <c:v>-2</c:v>
                </c:pt>
                <c:pt idx="90">
                  <c:v>0</c:v>
                </c:pt>
                <c:pt idx="91">
                  <c:v>2</c:v>
                </c:pt>
                <c:pt idx="92">
                  <c:v>4</c:v>
                </c:pt>
                <c:pt idx="93">
                  <c:v>6</c:v>
                </c:pt>
                <c:pt idx="94">
                  <c:v>8</c:v>
                </c:pt>
                <c:pt idx="95">
                  <c:v>10</c:v>
                </c:pt>
                <c:pt idx="96">
                  <c:v>12</c:v>
                </c:pt>
                <c:pt idx="97">
                  <c:v>14</c:v>
                </c:pt>
                <c:pt idx="98">
                  <c:v>16</c:v>
                </c:pt>
                <c:pt idx="99">
                  <c:v>18</c:v>
                </c:pt>
                <c:pt idx="100">
                  <c:v>20</c:v>
                </c:pt>
                <c:pt idx="101">
                  <c:v>22</c:v>
                </c:pt>
                <c:pt idx="102">
                  <c:v>24</c:v>
                </c:pt>
                <c:pt idx="103">
                  <c:v>26</c:v>
                </c:pt>
                <c:pt idx="104">
                  <c:v>28</c:v>
                </c:pt>
                <c:pt idx="105">
                  <c:v>30</c:v>
                </c:pt>
                <c:pt idx="106">
                  <c:v>32</c:v>
                </c:pt>
                <c:pt idx="107">
                  <c:v>34</c:v>
                </c:pt>
                <c:pt idx="108">
                  <c:v>36</c:v>
                </c:pt>
                <c:pt idx="109">
                  <c:v>38</c:v>
                </c:pt>
                <c:pt idx="110">
                  <c:v>40</c:v>
                </c:pt>
                <c:pt idx="111">
                  <c:v>42</c:v>
                </c:pt>
                <c:pt idx="112">
                  <c:v>44</c:v>
                </c:pt>
                <c:pt idx="113">
                  <c:v>46</c:v>
                </c:pt>
                <c:pt idx="114">
                  <c:v>48</c:v>
                </c:pt>
                <c:pt idx="115">
                  <c:v>50</c:v>
                </c:pt>
                <c:pt idx="116">
                  <c:v>52</c:v>
                </c:pt>
                <c:pt idx="117">
                  <c:v>54</c:v>
                </c:pt>
                <c:pt idx="118">
                  <c:v>56</c:v>
                </c:pt>
                <c:pt idx="119">
                  <c:v>58</c:v>
                </c:pt>
                <c:pt idx="120">
                  <c:v>60</c:v>
                </c:pt>
                <c:pt idx="121">
                  <c:v>62</c:v>
                </c:pt>
                <c:pt idx="122">
                  <c:v>64</c:v>
                </c:pt>
                <c:pt idx="123">
                  <c:v>66</c:v>
                </c:pt>
                <c:pt idx="124">
                  <c:v>68</c:v>
                </c:pt>
                <c:pt idx="125">
                  <c:v>70</c:v>
                </c:pt>
                <c:pt idx="126">
                  <c:v>72</c:v>
                </c:pt>
                <c:pt idx="127">
                  <c:v>74</c:v>
                </c:pt>
                <c:pt idx="128">
                  <c:v>76</c:v>
                </c:pt>
                <c:pt idx="129">
                  <c:v>78</c:v>
                </c:pt>
                <c:pt idx="130">
                  <c:v>80</c:v>
                </c:pt>
                <c:pt idx="131">
                  <c:v>82</c:v>
                </c:pt>
                <c:pt idx="132">
                  <c:v>84</c:v>
                </c:pt>
                <c:pt idx="133">
                  <c:v>86</c:v>
                </c:pt>
                <c:pt idx="134">
                  <c:v>88</c:v>
                </c:pt>
                <c:pt idx="135">
                  <c:v>90</c:v>
                </c:pt>
                <c:pt idx="136">
                  <c:v>92</c:v>
                </c:pt>
                <c:pt idx="137">
                  <c:v>94</c:v>
                </c:pt>
                <c:pt idx="138">
                  <c:v>96</c:v>
                </c:pt>
                <c:pt idx="139">
                  <c:v>98</c:v>
                </c:pt>
                <c:pt idx="140">
                  <c:v>100</c:v>
                </c:pt>
                <c:pt idx="141">
                  <c:v>102</c:v>
                </c:pt>
                <c:pt idx="142">
                  <c:v>104</c:v>
                </c:pt>
                <c:pt idx="143">
                  <c:v>106</c:v>
                </c:pt>
                <c:pt idx="144">
                  <c:v>108</c:v>
                </c:pt>
                <c:pt idx="145">
                  <c:v>110</c:v>
                </c:pt>
                <c:pt idx="146">
                  <c:v>112</c:v>
                </c:pt>
                <c:pt idx="147">
                  <c:v>114</c:v>
                </c:pt>
                <c:pt idx="148">
                  <c:v>116</c:v>
                </c:pt>
                <c:pt idx="149">
                  <c:v>118</c:v>
                </c:pt>
                <c:pt idx="150">
                  <c:v>120</c:v>
                </c:pt>
                <c:pt idx="151">
                  <c:v>122</c:v>
                </c:pt>
                <c:pt idx="152">
                  <c:v>124</c:v>
                </c:pt>
                <c:pt idx="153">
                  <c:v>126</c:v>
                </c:pt>
                <c:pt idx="154">
                  <c:v>128</c:v>
                </c:pt>
                <c:pt idx="155">
                  <c:v>130</c:v>
                </c:pt>
                <c:pt idx="156">
                  <c:v>132</c:v>
                </c:pt>
                <c:pt idx="157">
                  <c:v>134</c:v>
                </c:pt>
                <c:pt idx="158">
                  <c:v>136</c:v>
                </c:pt>
                <c:pt idx="159">
                  <c:v>138</c:v>
                </c:pt>
                <c:pt idx="160">
                  <c:v>140</c:v>
                </c:pt>
                <c:pt idx="161">
                  <c:v>142</c:v>
                </c:pt>
                <c:pt idx="162">
                  <c:v>144</c:v>
                </c:pt>
                <c:pt idx="163">
                  <c:v>146</c:v>
                </c:pt>
                <c:pt idx="164">
                  <c:v>148</c:v>
                </c:pt>
                <c:pt idx="165">
                  <c:v>150</c:v>
                </c:pt>
                <c:pt idx="166">
                  <c:v>152</c:v>
                </c:pt>
                <c:pt idx="167">
                  <c:v>154</c:v>
                </c:pt>
                <c:pt idx="168">
                  <c:v>156</c:v>
                </c:pt>
                <c:pt idx="169">
                  <c:v>158</c:v>
                </c:pt>
                <c:pt idx="170">
                  <c:v>160</c:v>
                </c:pt>
                <c:pt idx="171">
                  <c:v>162</c:v>
                </c:pt>
                <c:pt idx="172">
                  <c:v>164</c:v>
                </c:pt>
                <c:pt idx="173">
                  <c:v>166</c:v>
                </c:pt>
                <c:pt idx="174">
                  <c:v>168</c:v>
                </c:pt>
                <c:pt idx="175">
                  <c:v>170</c:v>
                </c:pt>
                <c:pt idx="176">
                  <c:v>172</c:v>
                </c:pt>
                <c:pt idx="177">
                  <c:v>174</c:v>
                </c:pt>
                <c:pt idx="178">
                  <c:v>176</c:v>
                </c:pt>
                <c:pt idx="179">
                  <c:v>178</c:v>
                </c:pt>
                <c:pt idx="180">
                  <c:v>180</c:v>
                </c:pt>
              </c:numCache>
            </c:numRef>
          </c:xVal>
          <c:yVal>
            <c:numRef>
              <c:f>Sheet1!$B$2:$B$182</c:f>
              <c:numCache>
                <c:formatCode>General</c:formatCode>
                <c:ptCount val="181"/>
                <c:pt idx="0">
                  <c:v>-68.950126088873773</c:v>
                </c:pt>
                <c:pt idx="1">
                  <c:v>-68.934715011463496</c:v>
                </c:pt>
                <c:pt idx="2">
                  <c:v>-68.921961717730852</c:v>
                </c:pt>
                <c:pt idx="3">
                  <c:v>-68.911858477870439</c:v>
                </c:pt>
                <c:pt idx="4">
                  <c:v>-68.904399184111</c:v>
                </c:pt>
                <c:pt idx="5">
                  <c:v>-68.899579336001523</c:v>
                </c:pt>
                <c:pt idx="6">
                  <c:v>-68.89739602960131</c:v>
                </c:pt>
                <c:pt idx="7">
                  <c:v>-68.897847950519221</c:v>
                </c:pt>
                <c:pt idx="8">
                  <c:v>-68.900935370766717</c:v>
                </c:pt>
                <c:pt idx="9">
                  <c:v>-68.906660149408964</c:v>
                </c:pt>
                <c:pt idx="10">
                  <c:v>-68.915025737017132</c:v>
                </c:pt>
                <c:pt idx="11">
                  <c:v>-68.926037183944487</c:v>
                </c:pt>
                <c:pt idx="12">
                  <c:v>-68.939701152468203</c:v>
                </c:pt>
                <c:pt idx="13">
                  <c:v>-68.956025932858608</c:v>
                </c:pt>
                <c:pt idx="14">
                  <c:v>-68.975021463458063</c:v>
                </c:pt>
                <c:pt idx="15">
                  <c:v>-68.996699354872291</c:v>
                </c:pt>
                <c:pt idx="16">
                  <c:v>-69.021072918399511</c:v>
                </c:pt>
                <c:pt idx="17">
                  <c:v>-69.048157198845345</c:v>
                </c:pt>
                <c:pt idx="18">
                  <c:v>-69.07796901189586</c:v>
                </c:pt>
                <c:pt idx="19">
                  <c:v>-69.110526986247478</c:v>
                </c:pt>
                <c:pt idx="20">
                  <c:v>-69.145851610719603</c:v>
                </c:pt>
                <c:pt idx="21">
                  <c:v>-69.18396528660621</c:v>
                </c:pt>
                <c:pt idx="22">
                  <c:v>-69.224892385554739</c:v>
                </c:pt>
                <c:pt idx="23">
                  <c:v>-69.268659313295331</c:v>
                </c:pt>
                <c:pt idx="24">
                  <c:v>-69.315294579582314</c:v>
                </c:pt>
                <c:pt idx="25">
                  <c:v>-69.364828874750955</c:v>
                </c:pt>
                <c:pt idx="26">
                  <c:v>-69.417295153338529</c:v>
                </c:pt>
                <c:pt idx="27">
                  <c:v>-69.472728725269405</c:v>
                </c:pt>
                <c:pt idx="28">
                  <c:v>-69.531167355159226</c:v>
                </c:pt>
                <c:pt idx="29">
                  <c:v>-69.592651370355284</c:v>
                </c:pt>
                <c:pt idx="30">
                  <c:v>-69.657223778398091</c:v>
                </c:pt>
                <c:pt idx="31">
                  <c:v>-69.724930394666146</c:v>
                </c:pt>
                <c:pt idx="32">
                  <c:v>-69.795819981049817</c:v>
                </c:pt>
                <c:pt idx="33">
                  <c:v>-69.869944396596239</c:v>
                </c:pt>
                <c:pt idx="34">
                  <c:v>-69.947358761172381</c:v>
                </c:pt>
                <c:pt idx="35">
                  <c:v>-70.028121633313972</c:v>
                </c:pt>
                <c:pt idx="36">
                  <c:v>-70.11229520356126</c:v>
                </c:pt>
                <c:pt idx="37">
                  <c:v>-70.199945504734444</c:v>
                </c:pt>
                <c:pt idx="38">
                  <c:v>-70.291142640772847</c:v>
                </c:pt>
                <c:pt idx="39">
                  <c:v>-70.385961035954736</c:v>
                </c:pt>
                <c:pt idx="40">
                  <c:v>-70.484479706535197</c:v>
                </c:pt>
                <c:pt idx="41">
                  <c:v>-70.586782557088412</c:v>
                </c:pt>
                <c:pt idx="42">
                  <c:v>-70.692958704125417</c:v>
                </c:pt>
                <c:pt idx="43">
                  <c:v>-70.803102829883088</c:v>
                </c:pt>
                <c:pt idx="44">
                  <c:v>-70.917315569551505</c:v>
                </c:pt>
                <c:pt idx="45">
                  <c:v>-71.035703935633364</c:v>
                </c:pt>
                <c:pt idx="46">
                  <c:v>-71.158381783618495</c:v>
                </c:pt>
                <c:pt idx="47">
                  <c:v>-71.285470323721455</c:v>
                </c:pt>
                <c:pt idx="48">
                  <c:v>-71.417098684082234</c:v>
                </c:pt>
                <c:pt idx="49">
                  <c:v>-71.55340453158496</c:v>
                </c:pt>
                <c:pt idx="50">
                  <c:v>-71.694534757326878</c:v>
                </c:pt>
                <c:pt idx="51">
                  <c:v>-71.840646234789972</c:v>
                </c:pt>
                <c:pt idx="52">
                  <c:v>-71.991906659959795</c:v>
                </c:pt>
                <c:pt idx="53">
                  <c:v>-72.148495484030292</c:v>
                </c:pt>
                <c:pt idx="54">
                  <c:v>-72.310604950971509</c:v>
                </c:pt>
                <c:pt idx="55">
                  <c:v>-72.478441254164679</c:v>
                </c:pt>
                <c:pt idx="56">
                  <c:v>-72.652225828587177</c:v>
                </c:pt>
                <c:pt idx="57">
                  <c:v>-72.832196797727462</c:v>
                </c:pt>
                <c:pt idx="58">
                  <c:v>-73.01861059761778</c:v>
                </c:pt>
                <c:pt idx="59">
                  <c:v>-73.211743804196757</c:v>
                </c:pt>
                <c:pt idx="60">
                  <c:v>-73.411895194791143</c:v>
                </c:pt>
                <c:pt idx="61">
                  <c:v>-73.619388080000761</c:v>
                </c:pt>
                <c:pt idx="62">
                  <c:v>-73.834572948893268</c:v>
                </c:pt>
                <c:pt idx="63">
                  <c:v>-74.057830478421877</c:v>
                </c:pt>
                <c:pt idx="64">
                  <c:v>-74.289574967698059</c:v>
                </c:pt>
                <c:pt idx="65">
                  <c:v>-74.530258269587392</c:v>
                </c:pt>
                <c:pt idx="66">
                  <c:v>-74.780374306565534</c:v>
                </c:pt>
                <c:pt idx="67">
                  <c:v>-75.040464275519255</c:v>
                </c:pt>
                <c:pt idx="68">
                  <c:v>-75.311122668019834</c:v>
                </c:pt>
                <c:pt idx="69">
                  <c:v>-75.593004259561752</c:v>
                </c:pt>
                <c:pt idx="70">
                  <c:v>-75.886832254639785</c:v>
                </c:pt>
                <c:pt idx="71">
                  <c:v>-76.193407815942621</c:v>
                </c:pt>
                <c:pt idx="72">
                  <c:v>-76.513621257366424</c:v>
                </c:pt>
                <c:pt idx="73">
                  <c:v>-76.848465244409212</c:v>
                </c:pt>
                <c:pt idx="74">
                  <c:v>-77.199050424634493</c:v>
                </c:pt>
                <c:pt idx="75">
                  <c:v>-77.566624008420916</c:v>
                </c:pt>
                <c:pt idx="76">
                  <c:v>-77.9525919391874</c:v>
                </c:pt>
                <c:pt idx="77">
                  <c:v>-78.358545434700829</c:v>
                </c:pt>
                <c:pt idx="78">
                  <c:v>-78.786292845781787</c:v>
                </c:pt>
                <c:pt idx="79">
                  <c:v>-79.237897956888133</c:v>
                </c:pt>
                <c:pt idx="80">
                  <c:v>-79.715726018709731</c:v>
                </c:pt>
                <c:pt idx="81">
                  <c:v>-80.222498893268011</c:v>
                </c:pt>
                <c:pt idx="82">
                  <c:v>-80.761360566453945</c:v>
                </c:pt>
                <c:pt idx="83">
                  <c:v>-81.335953636684422</c:v>
                </c:pt>
                <c:pt idx="84">
                  <c:v>-81.950505568760107</c:v>
                </c:pt>
                <c:pt idx="85">
                  <c:v>-82.609919111478476</c:v>
                </c:pt>
                <c:pt idx="86">
                  <c:v>-83.319851301893181</c:v>
                </c:pt>
                <c:pt idx="87">
                  <c:v>-84.086743346998134</c:v>
                </c:pt>
                <c:pt idx="88">
                  <c:v>-84.917714904104429</c:v>
                </c:pt>
                <c:pt idx="89">
                  <c:v>-85.820128805696569</c:v>
                </c:pt>
                <c:pt idx="90">
                  <c:v>-86.800395953736512</c:v>
                </c:pt>
                <c:pt idx="91">
                  <c:v>-87.861080239147228</c:v>
                </c:pt>
                <c:pt idx="92">
                  <c:v>-88.994336346360228</c:v>
                </c:pt>
                <c:pt idx="93">
                  <c:v>-90.168068706840344</c:v>
                </c:pt>
                <c:pt idx="94">
                  <c:v>-91.300713925652957</c:v>
                </c:pt>
                <c:pt idx="95">
                  <c:v>-92.230937028036067</c:v>
                </c:pt>
                <c:pt idx="96">
                  <c:v>-92.728684824550228</c:v>
                </c:pt>
                <c:pt idx="97">
                  <c:v>-92.620848333843057</c:v>
                </c:pt>
                <c:pt idx="98">
                  <c:v>-91.948362215820367</c:v>
                </c:pt>
                <c:pt idx="99">
                  <c:v>-90.924971891087139</c:v>
                </c:pt>
                <c:pt idx="100">
                  <c:v>-89.764593959576402</c:v>
                </c:pt>
                <c:pt idx="101">
                  <c:v>-88.598714942754654</c:v>
                </c:pt>
                <c:pt idx="102">
                  <c:v>-87.488360383305292</c:v>
                </c:pt>
                <c:pt idx="103">
                  <c:v>-86.45509855984001</c:v>
                </c:pt>
                <c:pt idx="104">
                  <c:v>-85.502107692030137</c:v>
                </c:pt>
                <c:pt idx="105">
                  <c:v>-84.625007186020895</c:v>
                </c:pt>
                <c:pt idx="106">
                  <c:v>-83.816847319328957</c:v>
                </c:pt>
                <c:pt idx="107">
                  <c:v>-83.070265338375876</c:v>
                </c:pt>
                <c:pt idx="108">
                  <c:v>-82.378347757848161</c:v>
                </c:pt>
                <c:pt idx="109">
                  <c:v>-81.734919908579201</c:v>
                </c:pt>
                <c:pt idx="110">
                  <c:v>-81.134590486428664</c:v>
                </c:pt>
                <c:pt idx="111">
                  <c:v>-80.572698341067792</c:v>
                </c:pt>
                <c:pt idx="112">
                  <c:v>-80.045226790036267</c:v>
                </c:pt>
                <c:pt idx="113">
                  <c:v>-79.548713544971946</c:v>
                </c:pt>
                <c:pt idx="114">
                  <c:v>-79.080167474792489</c:v>
                </c:pt>
                <c:pt idx="115">
                  <c:v>-78.636995872693859</c:v>
                </c:pt>
                <c:pt idx="116">
                  <c:v>-78.216942616862639</c:v>
                </c:pt>
                <c:pt idx="117">
                  <c:v>-77.818036305625796</c:v>
                </c:pt>
                <c:pt idx="118">
                  <c:v>-77.438547030612156</c:v>
                </c:pt>
                <c:pt idx="119">
                  <c:v>-77.076950423498374</c:v>
                </c:pt>
                <c:pt idx="120">
                  <c:v>-76.731897738803909</c:v>
                </c:pt>
                <c:pt idx="121">
                  <c:v>-76.402190909781353</c:v>
                </c:pt>
                <c:pt idx="122">
                  <c:v>-76.086761689779223</c:v>
                </c:pt>
                <c:pt idx="123">
                  <c:v>-75.78465414899172</c:v>
                </c:pt>
                <c:pt idx="124">
                  <c:v>-75.495009930792804</c:v>
                </c:pt>
                <c:pt idx="125">
                  <c:v>-75.217055783162181</c:v>
                </c:pt>
                <c:pt idx="126">
                  <c:v>-74.950092971567514</c:v>
                </c:pt>
                <c:pt idx="127">
                  <c:v>-74.693488253214781</c:v>
                </c:pt>
                <c:pt idx="128">
                  <c:v>-74.446666151872236</c:v>
                </c:pt>
                <c:pt idx="129">
                  <c:v>-74.20910232021177</c:v>
                </c:pt>
                <c:pt idx="130">
                  <c:v>-73.98031781505972</c:v>
                </c:pt>
                <c:pt idx="131">
                  <c:v>-73.759874141965128</c:v>
                </c:pt>
                <c:pt idx="132">
                  <c:v>-73.547368950570188</c:v>
                </c:pt>
                <c:pt idx="133">
                  <c:v>-73.342432282602218</c:v>
                </c:pt>
                <c:pt idx="134">
                  <c:v>-73.144723290846429</c:v>
                </c:pt>
                <c:pt idx="135">
                  <c:v>-72.953927360959497</c:v>
                </c:pt>
                <c:pt idx="136">
                  <c:v>-72.76975357904162</c:v>
                </c:pt>
                <c:pt idx="137">
                  <c:v>-72.591932496975105</c:v>
                </c:pt>
                <c:pt idx="138">
                  <c:v>-72.420214155035993</c:v>
                </c:pt>
                <c:pt idx="139">
                  <c:v>-72.254366327495262</c:v>
                </c:pt>
                <c:pt idx="140">
                  <c:v>-72.094172962084329</c:v>
                </c:pt>
                <c:pt idx="141">
                  <c:v>-71.939432788502018</c:v>
                </c:pt>
                <c:pt idx="142">
                  <c:v>-71.78995807473899</c:v>
                </c:pt>
                <c:pt idx="143">
                  <c:v>-71.645573513017425</c:v>
                </c:pt>
                <c:pt idx="144">
                  <c:v>-71.506115219688127</c:v>
                </c:pt>
                <c:pt idx="145">
                  <c:v>-71.371429835578212</c:v>
                </c:pt>
                <c:pt idx="146">
                  <c:v>-71.241373715104089</c:v>
                </c:pt>
                <c:pt idx="147">
                  <c:v>-71.115812194014765</c:v>
                </c:pt>
                <c:pt idx="148">
                  <c:v>-70.994618926950594</c:v>
                </c:pt>
                <c:pt idx="149">
                  <c:v>-70.87767528713313</c:v>
                </c:pt>
                <c:pt idx="150">
                  <c:v>-70.764869821469446</c:v>
                </c:pt>
                <c:pt idx="151">
                  <c:v>-70.656097755188</c:v>
                </c:pt>
                <c:pt idx="152">
                  <c:v>-70.551260540839991</c:v>
                </c:pt>
                <c:pt idx="153">
                  <c:v>-70.45026544712168</c:v>
                </c:pt>
                <c:pt idx="154">
                  <c:v>-70.353025183509828</c:v>
                </c:pt>
                <c:pt idx="155">
                  <c:v>-70.259457557169952</c:v>
                </c:pt>
                <c:pt idx="156">
                  <c:v>-70.169485159003074</c:v>
                </c:pt>
                <c:pt idx="157">
                  <c:v>-70.083035076051729</c:v>
                </c:pt>
                <c:pt idx="158">
                  <c:v>-70.000038627795917</c:v>
                </c:pt>
                <c:pt idx="159">
                  <c:v>-69.920431124141743</c:v>
                </c:pt>
                <c:pt idx="160">
                  <c:v>-69.844151643144244</c:v>
                </c:pt>
                <c:pt idx="161">
                  <c:v>-69.771142826716073</c:v>
                </c:pt>
                <c:pt idx="162">
                  <c:v>-69.701350692759561</c:v>
                </c:pt>
                <c:pt idx="163">
                  <c:v>-69.634724462323135</c:v>
                </c:pt>
                <c:pt idx="164">
                  <c:v>-69.57121640052857</c:v>
                </c:pt>
                <c:pt idx="165">
                  <c:v>-69.510781670144752</c:v>
                </c:pt>
                <c:pt idx="166">
                  <c:v>-69.453378196797843</c:v>
                </c:pt>
                <c:pt idx="167">
                  <c:v>-69.398966544910238</c:v>
                </c:pt>
                <c:pt idx="168">
                  <c:v>-69.347509803552299</c:v>
                </c:pt>
                <c:pt idx="169">
                  <c:v>-69.298973481472188</c:v>
                </c:pt>
                <c:pt idx="170">
                  <c:v>-69.253325410642788</c:v>
                </c:pt>
                <c:pt idx="171">
                  <c:v>-69.210535657730716</c:v>
                </c:pt>
                <c:pt idx="172">
                  <c:v>-69.170576442951997</c:v>
                </c:pt>
                <c:pt idx="173">
                  <c:v>-69.133422065832548</c:v>
                </c:pt>
                <c:pt idx="174">
                  <c:v>-69.099048837440847</c:v>
                </c:pt>
                <c:pt idx="175">
                  <c:v>-69.067435018703975</c:v>
                </c:pt>
                <c:pt idx="176">
                  <c:v>-69.038560764459319</c:v>
                </c:pt>
                <c:pt idx="177">
                  <c:v>-69.012408072930768</c:v>
                </c:pt>
                <c:pt idx="178">
                  <c:v>-68.988960740352368</c:v>
                </c:pt>
                <c:pt idx="179">
                  <c:v>-68.968204320494223</c:v>
                </c:pt>
                <c:pt idx="180">
                  <c:v>-68.950126088873773</c:v>
                </c:pt>
              </c:numCache>
            </c:numRef>
          </c:yVal>
          <c:smooth val="0"/>
          <c:extLst>
            <c:ext xmlns:c16="http://schemas.microsoft.com/office/drawing/2014/chart" uri="{C3380CC4-5D6E-409C-BE32-E72D297353CC}">
              <c16:uniqueId val="{00000000-9701-408F-AA15-2FE55D8BA738}"/>
            </c:ext>
          </c:extLst>
        </c:ser>
        <c:ser>
          <c:idx val="1"/>
          <c:order val="1"/>
          <c:tx>
            <c:strRef>
              <c:f>Sheet1!$B$184</c:f>
              <c:strCache>
                <c:ptCount val="1"/>
                <c:pt idx="0">
                  <c:v>Tres lecturas</c:v>
                </c:pt>
              </c:strCache>
            </c:strRef>
          </c:tx>
          <c:spPr>
            <a:ln w="47625">
              <a:noFill/>
            </a:ln>
          </c:spPr>
          <c:marker>
            <c:symbol val="circle"/>
            <c:size val="12"/>
            <c:spPr>
              <a:solidFill>
                <a:srgbClr val="0B5563"/>
              </a:solidFill>
              <a:ln>
                <a:solidFill>
                  <a:srgbClr val="FFFFFF"/>
                </a:solidFill>
              </a:ln>
            </c:spPr>
          </c:marker>
          <c:xVal>
            <c:numRef>
              <c:f>Sheet1!$A$185:$A$187</c:f>
              <c:numCache>
                <c:formatCode>General</c:formatCode>
                <c:ptCount val="3"/>
                <c:pt idx="0">
                  <c:v>0</c:v>
                </c:pt>
                <c:pt idx="1">
                  <c:v>120</c:v>
                </c:pt>
                <c:pt idx="2">
                  <c:v>-120</c:v>
                </c:pt>
              </c:numCache>
            </c:numRef>
          </c:xVal>
          <c:yVal>
            <c:numRef>
              <c:f>Sheet1!$B$185:$B$187</c:f>
              <c:numCache>
                <c:formatCode>General</c:formatCode>
                <c:ptCount val="3"/>
                <c:pt idx="0">
                  <c:v>-86.800395953736512</c:v>
                </c:pt>
                <c:pt idx="1">
                  <c:v>-70.764869821469446</c:v>
                </c:pt>
                <c:pt idx="2">
                  <c:v>-69.657223778398091</c:v>
                </c:pt>
              </c:numCache>
            </c:numRef>
          </c:yVal>
          <c:smooth val="0"/>
          <c:extLst>
            <c:ext xmlns:c16="http://schemas.microsoft.com/office/drawing/2014/chart" uri="{C3380CC4-5D6E-409C-BE32-E72D297353CC}">
              <c16:uniqueId val="{00000001-9701-408F-AA15-2FE55D8BA738}"/>
            </c:ext>
          </c:extLst>
        </c:ser>
        <c:ser>
          <c:idx val="2"/>
          <c:order val="2"/>
          <c:tx>
            <c:strRef>
              <c:f>Sheet1!$B$189</c:f>
              <c:strCache>
                <c:ptCount val="1"/>
                <c:pt idx="0">
                  <c:v>Óptimo calculado: 12,6°</c:v>
                </c:pt>
              </c:strCache>
            </c:strRef>
          </c:tx>
          <c:spPr>
            <a:ln w="47625">
              <a:noFill/>
            </a:ln>
          </c:spPr>
          <c:marker>
            <c:symbol val="diamond"/>
            <c:size val="12"/>
            <c:spPr>
              <a:solidFill>
                <a:srgbClr val="C2410C"/>
              </a:solidFill>
              <a:ln>
                <a:solidFill>
                  <a:srgbClr val="FFFFFF"/>
                </a:solidFill>
              </a:ln>
            </c:spPr>
          </c:marker>
          <c:xVal>
            <c:numRef>
              <c:f>Sheet1!$A$190:$A$190</c:f>
              <c:numCache>
                <c:formatCode>General</c:formatCode>
                <c:ptCount val="1"/>
                <c:pt idx="0">
                  <c:v>12.6</c:v>
                </c:pt>
              </c:numCache>
            </c:numRef>
          </c:xVal>
          <c:yVal>
            <c:numRef>
              <c:f>Sheet1!$B$190:$B$190</c:f>
              <c:numCache>
                <c:formatCode>General</c:formatCode>
                <c:ptCount val="1"/>
                <c:pt idx="0">
                  <c:v>-92.762913215572027</c:v>
                </c:pt>
              </c:numCache>
            </c:numRef>
          </c:yVal>
          <c:smooth val="0"/>
          <c:extLst>
            <c:ext xmlns:c16="http://schemas.microsoft.com/office/drawing/2014/chart" uri="{C3380CC4-5D6E-409C-BE32-E72D297353CC}">
              <c16:uniqueId val="{00000002-9701-408F-AA15-2FE55D8BA738}"/>
            </c:ext>
          </c:extLst>
        </c:ser>
        <c:dLbls>
          <c:showLegendKey val="0"/>
          <c:showVal val="0"/>
          <c:showCatName val="0"/>
          <c:showSerName val="0"/>
          <c:showPercent val="0"/>
          <c:showBubbleSize val="0"/>
        </c:dLbls>
        <c:axId val="-2128940872"/>
        <c:axId val="-2129643912"/>
      </c:scatterChart>
      <c:valAx>
        <c:axId val="-2128940872"/>
        <c:scaling>
          <c:orientation val="minMax"/>
          <c:max val="180"/>
          <c:min val="-180"/>
        </c:scaling>
        <c:delete val="0"/>
        <c:axPos val="b"/>
        <c:majorGridlines>
          <c:spPr>
            <a:ln w="9525">
              <a:solidFill>
                <a:srgbClr val="E3E7E8"/>
              </a:solidFill>
            </a:ln>
          </c:spPr>
        </c:majorGridlines>
        <c:title>
          <c:tx>
            <c:rich>
              <a:bodyPr/>
              <a:lstStyle/>
              <a:p>
                <a:r>
                  <a:rPr lang="es-ES" sz="1200" b="0">
                    <a:solidFill>
                      <a:srgbClr val="666666"/>
                    </a:solidFill>
                  </a:rPr>
                  <a:t>Fase de la corrección (grados)</a:t>
                </a:r>
              </a:p>
            </c:rich>
          </c:tx>
          <c:overlay val="0"/>
        </c:title>
        <c:numFmt formatCode="General" sourceLinked="1"/>
        <c:majorTickMark val="out"/>
        <c:minorTickMark val="none"/>
        <c:tickLblPos val="low"/>
        <c:spPr>
          <a:ln>
            <a:solidFill>
              <a:srgbClr val="C9D1D4"/>
            </a:solidFill>
          </a:ln>
        </c:spPr>
        <c:txPr>
          <a:bodyPr/>
          <a:lstStyle/>
          <a:p>
            <a:pPr>
              <a:defRPr sz="1200"/>
            </a:pPr>
            <a:endParaRPr lang="en-US"/>
          </a:p>
        </c:txPr>
        <c:crossAx val="-2129643912"/>
        <c:crosses val="autoZero"/>
        <c:crossBetween val="midCat"/>
        <c:majorUnit val="60"/>
      </c:valAx>
      <c:valAx>
        <c:axId val="-2129643912"/>
        <c:scaling>
          <c:orientation val="minMax"/>
          <c:max val="-65"/>
          <c:min val="-100"/>
        </c:scaling>
        <c:delete val="0"/>
        <c:axPos val="l"/>
        <c:majorGridlines>
          <c:spPr>
            <a:ln w="9525">
              <a:solidFill>
                <a:srgbClr val="E3E7E8"/>
              </a:solidFill>
            </a:ln>
          </c:spPr>
        </c:majorGridlines>
        <c:title>
          <c:tx>
            <c:rich>
              <a:bodyPr/>
              <a:lstStyle/>
              <a:p>
                <a:r>
                  <a:rPr lang="en-US" sz="1200" b="0">
                    <a:solidFill>
                      <a:srgbClr val="666666"/>
                    </a:solidFill>
                  </a:rPr>
                  <a:t>Imagen (dBm)</a:t>
                </a:r>
              </a:p>
            </c:rich>
          </c:tx>
          <c:overlay val="0"/>
        </c:title>
        <c:numFmt formatCode="General" sourceLinked="1"/>
        <c:majorTickMark val="out"/>
        <c:minorTickMark val="none"/>
        <c:tickLblPos val="low"/>
        <c:spPr>
          <a:ln>
            <a:solidFill>
              <a:srgbClr val="C9D1D4"/>
            </a:solidFill>
          </a:ln>
        </c:spPr>
        <c:txPr>
          <a:bodyPr/>
          <a:lstStyle/>
          <a:p>
            <a:pPr>
              <a:defRPr sz="1200"/>
            </a:pPr>
            <a:endParaRPr lang="en-US"/>
          </a:p>
        </c:txPr>
        <c:crossAx val="-2128940872"/>
        <c:crosses val="autoZero"/>
        <c:crossBetween val="midCat"/>
        <c:majorUnit val="5"/>
      </c:valAx>
    </c:plotArea>
    <c:legend>
      <c:legendPos val="b"/>
      <c:overlay val="0"/>
    </c:legend>
    <c:plotVisOnly val="1"/>
    <c:dispBlanksAs val="gap"/>
    <c:showDLblsOverMax val="0"/>
  </c:chart>
  <c:txPr>
    <a:bodyPr/>
    <a:lstStyle/>
    <a:p>
      <a:pPr>
        <a:defRPr sz="1200">
          <a:solidFill>
            <a:srgbClr val="666666"/>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Traza medida</c:v>
                </c:pt>
              </c:strCache>
            </c:strRef>
          </c:tx>
          <c:spPr>
            <a:ln w="15875">
              <a:solidFill>
                <a:srgbClr val="222222"/>
              </a:solidFill>
            </a:ln>
          </c:spPr>
          <c:marker>
            <c:symbol val="none"/>
          </c:marker>
          <c:xVal>
            <c:numRef>
              <c:f>Sheet1!$A$2:$A$451</c:f>
              <c:numCache>
                <c:formatCode>General</c:formatCode>
                <c:ptCount val="450"/>
                <c:pt idx="0">
                  <c:v>295</c:v>
                </c:pt>
                <c:pt idx="1">
                  <c:v>295.48998999999998</c:v>
                </c:pt>
                <c:pt idx="2">
                  <c:v>295.97998100000001</c:v>
                </c:pt>
                <c:pt idx="3">
                  <c:v>296.46991000000003</c:v>
                </c:pt>
                <c:pt idx="4">
                  <c:v>296.9599</c:v>
                </c:pt>
                <c:pt idx="5">
                  <c:v>297.44988999999998</c:v>
                </c:pt>
                <c:pt idx="6">
                  <c:v>297.93988000000002</c:v>
                </c:pt>
                <c:pt idx="7">
                  <c:v>298.42987099999999</c:v>
                </c:pt>
                <c:pt idx="8">
                  <c:v>298.91980000000001</c:v>
                </c:pt>
                <c:pt idx="9">
                  <c:v>299.40978999999999</c:v>
                </c:pt>
                <c:pt idx="10">
                  <c:v>299.89978000000002</c:v>
                </c:pt>
                <c:pt idx="11">
                  <c:v>300.389771</c:v>
                </c:pt>
                <c:pt idx="12">
                  <c:v>300.87973</c:v>
                </c:pt>
                <c:pt idx="13">
                  <c:v>301.36968999999999</c:v>
                </c:pt>
                <c:pt idx="14">
                  <c:v>301.85968000000003</c:v>
                </c:pt>
                <c:pt idx="15">
                  <c:v>302.34967</c:v>
                </c:pt>
                <c:pt idx="16">
                  <c:v>302.83966099999998</c:v>
                </c:pt>
                <c:pt idx="17">
                  <c:v>303.32961999999998</c:v>
                </c:pt>
                <c:pt idx="18">
                  <c:v>303.81957999999997</c:v>
                </c:pt>
                <c:pt idx="19">
                  <c:v>304.30957000000001</c:v>
                </c:pt>
                <c:pt idx="20">
                  <c:v>304.79956099999998</c:v>
                </c:pt>
                <c:pt idx="21">
                  <c:v>305.28955100000002</c:v>
                </c:pt>
                <c:pt idx="22">
                  <c:v>305.77951100000001</c:v>
                </c:pt>
                <c:pt idx="23">
                  <c:v>306.26950099999999</c:v>
                </c:pt>
                <c:pt idx="24">
                  <c:v>306.75945999999999</c:v>
                </c:pt>
                <c:pt idx="25">
                  <c:v>307.24945100000002</c:v>
                </c:pt>
                <c:pt idx="26">
                  <c:v>307.73941000000002</c:v>
                </c:pt>
                <c:pt idx="27">
                  <c:v>308.229401</c:v>
                </c:pt>
                <c:pt idx="28">
                  <c:v>308.71935999999999</c:v>
                </c:pt>
                <c:pt idx="29">
                  <c:v>309.20935100000003</c:v>
                </c:pt>
                <c:pt idx="30">
                  <c:v>309.699341</c:v>
                </c:pt>
                <c:pt idx="31">
                  <c:v>310.189301</c:v>
                </c:pt>
                <c:pt idx="32">
                  <c:v>310.67929099999998</c:v>
                </c:pt>
                <c:pt idx="33">
                  <c:v>311.16928100000001</c:v>
                </c:pt>
                <c:pt idx="34">
                  <c:v>311.65924100000001</c:v>
                </c:pt>
                <c:pt idx="35">
                  <c:v>312.14923099999999</c:v>
                </c:pt>
                <c:pt idx="36">
                  <c:v>312.63919099999998</c:v>
                </c:pt>
                <c:pt idx="37">
                  <c:v>313.12918100000002</c:v>
                </c:pt>
                <c:pt idx="38">
                  <c:v>313.61917099999999</c:v>
                </c:pt>
                <c:pt idx="39">
                  <c:v>314.10913099999999</c:v>
                </c:pt>
                <c:pt idx="40">
                  <c:v>314.59909099999999</c:v>
                </c:pt>
                <c:pt idx="41">
                  <c:v>315.08908100000002</c:v>
                </c:pt>
                <c:pt idx="42">
                  <c:v>315.579071</c:v>
                </c:pt>
                <c:pt idx="43">
                  <c:v>316.06906099999998</c:v>
                </c:pt>
                <c:pt idx="44">
                  <c:v>316.55902099999997</c:v>
                </c:pt>
                <c:pt idx="45">
                  <c:v>317.04898100000003</c:v>
                </c:pt>
                <c:pt idx="46">
                  <c:v>317.538971</c:v>
                </c:pt>
                <c:pt idx="47">
                  <c:v>318.02896099999998</c:v>
                </c:pt>
                <c:pt idx="48">
                  <c:v>318.51895100000002</c:v>
                </c:pt>
                <c:pt idx="49">
                  <c:v>319.00891100000001</c:v>
                </c:pt>
                <c:pt idx="50">
                  <c:v>319.49887100000001</c:v>
                </c:pt>
                <c:pt idx="51">
                  <c:v>319.98886099999999</c:v>
                </c:pt>
                <c:pt idx="52">
                  <c:v>320.47885100000002</c:v>
                </c:pt>
                <c:pt idx="53">
                  <c:v>320.968842</c:v>
                </c:pt>
                <c:pt idx="54">
                  <c:v>321.45877100000001</c:v>
                </c:pt>
                <c:pt idx="55">
                  <c:v>321.94876099999999</c:v>
                </c:pt>
                <c:pt idx="56">
                  <c:v>322.43875100000002</c:v>
                </c:pt>
                <c:pt idx="57">
                  <c:v>322.928741</c:v>
                </c:pt>
                <c:pt idx="58">
                  <c:v>323.41873199999998</c:v>
                </c:pt>
                <c:pt idx="59">
                  <c:v>323.908661</c:v>
                </c:pt>
                <c:pt idx="60">
                  <c:v>324.39865099999997</c:v>
                </c:pt>
                <c:pt idx="61">
                  <c:v>324.88864100000001</c:v>
                </c:pt>
                <c:pt idx="62">
                  <c:v>325.37863199999998</c:v>
                </c:pt>
                <c:pt idx="63">
                  <c:v>325.86862200000002</c:v>
                </c:pt>
                <c:pt idx="64">
                  <c:v>326.35855099999998</c:v>
                </c:pt>
                <c:pt idx="65">
                  <c:v>326.84854100000001</c:v>
                </c:pt>
                <c:pt idx="66">
                  <c:v>327.33853199999999</c:v>
                </c:pt>
                <c:pt idx="67">
                  <c:v>327.82852200000002</c:v>
                </c:pt>
                <c:pt idx="68">
                  <c:v>328.31848100000002</c:v>
                </c:pt>
                <c:pt idx="69">
                  <c:v>328.80844100000002</c:v>
                </c:pt>
                <c:pt idx="70">
                  <c:v>329.29843099999999</c:v>
                </c:pt>
                <c:pt idx="71">
                  <c:v>329.78842200000003</c:v>
                </c:pt>
                <c:pt idx="72">
                  <c:v>330.278412</c:v>
                </c:pt>
                <c:pt idx="73">
                  <c:v>330.768372</c:v>
                </c:pt>
                <c:pt idx="74">
                  <c:v>331.25836199999998</c:v>
                </c:pt>
                <c:pt idx="75">
                  <c:v>331.74832199999997</c:v>
                </c:pt>
                <c:pt idx="76">
                  <c:v>332.23831200000001</c:v>
                </c:pt>
                <c:pt idx="77">
                  <c:v>332.72830199999999</c:v>
                </c:pt>
                <c:pt idx="78">
                  <c:v>333.21826199999998</c:v>
                </c:pt>
                <c:pt idx="79">
                  <c:v>333.70825200000002</c:v>
                </c:pt>
                <c:pt idx="80">
                  <c:v>334.19821200000001</c:v>
                </c:pt>
                <c:pt idx="81">
                  <c:v>334.68820199999999</c:v>
                </c:pt>
                <c:pt idx="82">
                  <c:v>335.17816199999999</c:v>
                </c:pt>
                <c:pt idx="83">
                  <c:v>335.66815200000002</c:v>
                </c:pt>
                <c:pt idx="84">
                  <c:v>336.158142</c:v>
                </c:pt>
                <c:pt idx="85">
                  <c:v>336.64810199999999</c:v>
                </c:pt>
                <c:pt idx="86">
                  <c:v>337.13809199999997</c:v>
                </c:pt>
                <c:pt idx="87">
                  <c:v>337.62805200000003</c:v>
                </c:pt>
                <c:pt idx="88">
                  <c:v>338.118042</c:v>
                </c:pt>
                <c:pt idx="89">
                  <c:v>338.60803199999998</c:v>
                </c:pt>
                <c:pt idx="90">
                  <c:v>339.09799199999998</c:v>
                </c:pt>
                <c:pt idx="91">
                  <c:v>339.58798200000001</c:v>
                </c:pt>
                <c:pt idx="92">
                  <c:v>340.07794200000001</c:v>
                </c:pt>
                <c:pt idx="93">
                  <c:v>340.56793199999998</c:v>
                </c:pt>
                <c:pt idx="94">
                  <c:v>341.05792200000002</c:v>
                </c:pt>
                <c:pt idx="95">
                  <c:v>341.54788200000002</c:v>
                </c:pt>
                <c:pt idx="96">
                  <c:v>342.03784200000001</c:v>
                </c:pt>
                <c:pt idx="97">
                  <c:v>342.52783199999999</c:v>
                </c:pt>
                <c:pt idx="98">
                  <c:v>343.01782200000002</c:v>
                </c:pt>
                <c:pt idx="99">
                  <c:v>343.507813</c:v>
                </c:pt>
                <c:pt idx="100">
                  <c:v>343.997772</c:v>
                </c:pt>
                <c:pt idx="101">
                  <c:v>344.48773199999999</c:v>
                </c:pt>
                <c:pt idx="102">
                  <c:v>344.97772200000003</c:v>
                </c:pt>
                <c:pt idx="103">
                  <c:v>345.46771200000001</c:v>
                </c:pt>
                <c:pt idx="104">
                  <c:v>345.95770299999998</c:v>
                </c:pt>
                <c:pt idx="105">
                  <c:v>346.44766199999998</c:v>
                </c:pt>
                <c:pt idx="106">
                  <c:v>346.93762199999998</c:v>
                </c:pt>
                <c:pt idx="107">
                  <c:v>347.42761200000001</c:v>
                </c:pt>
                <c:pt idx="108">
                  <c:v>347.91760299999999</c:v>
                </c:pt>
                <c:pt idx="109">
                  <c:v>348.40759300000002</c:v>
                </c:pt>
                <c:pt idx="110">
                  <c:v>348.89752199999998</c:v>
                </c:pt>
                <c:pt idx="111">
                  <c:v>349.38751200000002</c:v>
                </c:pt>
                <c:pt idx="112">
                  <c:v>349.87750199999999</c:v>
                </c:pt>
                <c:pt idx="113">
                  <c:v>350.36749300000002</c:v>
                </c:pt>
                <c:pt idx="114">
                  <c:v>350.857483</c:v>
                </c:pt>
                <c:pt idx="115">
                  <c:v>351.34741200000002</c:v>
                </c:pt>
                <c:pt idx="116">
                  <c:v>351.837402</c:v>
                </c:pt>
                <c:pt idx="117">
                  <c:v>352.32739299999997</c:v>
                </c:pt>
                <c:pt idx="118">
                  <c:v>352.81738300000001</c:v>
                </c:pt>
                <c:pt idx="119">
                  <c:v>353.30737299999998</c:v>
                </c:pt>
                <c:pt idx="120">
                  <c:v>353.797302</c:v>
                </c:pt>
                <c:pt idx="121">
                  <c:v>354.28729199999998</c:v>
                </c:pt>
                <c:pt idx="122">
                  <c:v>354.77728300000001</c:v>
                </c:pt>
                <c:pt idx="123">
                  <c:v>355.26727299999999</c:v>
                </c:pt>
                <c:pt idx="124">
                  <c:v>355.75726300000002</c:v>
                </c:pt>
                <c:pt idx="125">
                  <c:v>356.24722300000002</c:v>
                </c:pt>
                <c:pt idx="126">
                  <c:v>356.73718300000002</c:v>
                </c:pt>
                <c:pt idx="127">
                  <c:v>357.22717299999999</c:v>
                </c:pt>
                <c:pt idx="128">
                  <c:v>357.71716300000003</c:v>
                </c:pt>
                <c:pt idx="129">
                  <c:v>358.20712300000002</c:v>
                </c:pt>
                <c:pt idx="130">
                  <c:v>358.697113</c:v>
                </c:pt>
                <c:pt idx="131">
                  <c:v>359.187073</c:v>
                </c:pt>
                <c:pt idx="132">
                  <c:v>359.67706299999998</c:v>
                </c:pt>
                <c:pt idx="133">
                  <c:v>360.16705300000001</c:v>
                </c:pt>
                <c:pt idx="134">
                  <c:v>360.65701300000001</c:v>
                </c:pt>
                <c:pt idx="135">
                  <c:v>361.14700299999998</c:v>
                </c:pt>
                <c:pt idx="136">
                  <c:v>361.63696299999998</c:v>
                </c:pt>
                <c:pt idx="137">
                  <c:v>362.12695300000001</c:v>
                </c:pt>
                <c:pt idx="138">
                  <c:v>362.61691300000001</c:v>
                </c:pt>
                <c:pt idx="139">
                  <c:v>363.10690299999999</c:v>
                </c:pt>
                <c:pt idx="140">
                  <c:v>363.59689300000002</c:v>
                </c:pt>
                <c:pt idx="141">
                  <c:v>364.08685300000002</c:v>
                </c:pt>
                <c:pt idx="142">
                  <c:v>364.576843</c:v>
                </c:pt>
                <c:pt idx="143">
                  <c:v>365.06680299999999</c:v>
                </c:pt>
                <c:pt idx="144">
                  <c:v>365.55679300000003</c:v>
                </c:pt>
                <c:pt idx="145">
                  <c:v>366.046783</c:v>
                </c:pt>
                <c:pt idx="146">
                  <c:v>366.536743</c:v>
                </c:pt>
                <c:pt idx="147">
                  <c:v>367.02673299999998</c:v>
                </c:pt>
                <c:pt idx="148">
                  <c:v>367.51669299999998</c:v>
                </c:pt>
                <c:pt idx="149">
                  <c:v>368.00668300000001</c:v>
                </c:pt>
                <c:pt idx="150">
                  <c:v>368.49667399999998</c:v>
                </c:pt>
                <c:pt idx="151">
                  <c:v>368.98663299999998</c:v>
                </c:pt>
                <c:pt idx="152">
                  <c:v>369.47659299999998</c:v>
                </c:pt>
                <c:pt idx="153">
                  <c:v>369.96658300000001</c:v>
                </c:pt>
                <c:pt idx="154">
                  <c:v>370.45657399999999</c:v>
                </c:pt>
                <c:pt idx="155">
                  <c:v>370.94656400000002</c:v>
                </c:pt>
                <c:pt idx="156">
                  <c:v>371.43652300000002</c:v>
                </c:pt>
                <c:pt idx="157">
                  <c:v>371.92648300000002</c:v>
                </c:pt>
                <c:pt idx="158">
                  <c:v>372.416473</c:v>
                </c:pt>
                <c:pt idx="159">
                  <c:v>372.90646400000003</c:v>
                </c:pt>
                <c:pt idx="160">
                  <c:v>373.39645400000001</c:v>
                </c:pt>
                <c:pt idx="161">
                  <c:v>373.886414</c:v>
                </c:pt>
                <c:pt idx="162">
                  <c:v>374.376373</c:v>
                </c:pt>
                <c:pt idx="163">
                  <c:v>374.86636399999998</c:v>
                </c:pt>
                <c:pt idx="164">
                  <c:v>375.35635400000001</c:v>
                </c:pt>
                <c:pt idx="165">
                  <c:v>375.84634399999999</c:v>
                </c:pt>
                <c:pt idx="166">
                  <c:v>376.33627300000001</c:v>
                </c:pt>
                <c:pt idx="167">
                  <c:v>376.82626299999998</c:v>
                </c:pt>
                <c:pt idx="168">
                  <c:v>377.31625400000001</c:v>
                </c:pt>
                <c:pt idx="169">
                  <c:v>377.80624399999999</c:v>
                </c:pt>
                <c:pt idx="170">
                  <c:v>378.29623400000003</c:v>
                </c:pt>
                <c:pt idx="171">
                  <c:v>378.78616299999999</c:v>
                </c:pt>
                <c:pt idx="172">
                  <c:v>379.27615400000002</c:v>
                </c:pt>
                <c:pt idx="173">
                  <c:v>379.766144</c:v>
                </c:pt>
                <c:pt idx="174">
                  <c:v>380.25613399999997</c:v>
                </c:pt>
                <c:pt idx="175">
                  <c:v>380.74612400000001</c:v>
                </c:pt>
                <c:pt idx="176">
                  <c:v>381.23608400000001</c:v>
                </c:pt>
                <c:pt idx="177">
                  <c:v>381.726044</c:v>
                </c:pt>
                <c:pt idx="178">
                  <c:v>382.21603399999998</c:v>
                </c:pt>
                <c:pt idx="179">
                  <c:v>382.70602400000001</c:v>
                </c:pt>
                <c:pt idx="180">
                  <c:v>383.19601399999999</c:v>
                </c:pt>
                <c:pt idx="181">
                  <c:v>383.68597399999999</c:v>
                </c:pt>
                <c:pt idx="182">
                  <c:v>384.17593399999998</c:v>
                </c:pt>
                <c:pt idx="183">
                  <c:v>384.66592400000002</c:v>
                </c:pt>
                <c:pt idx="184">
                  <c:v>385.155914</c:v>
                </c:pt>
                <c:pt idx="185">
                  <c:v>385.64587399999999</c:v>
                </c:pt>
                <c:pt idx="186">
                  <c:v>386.13586400000003</c:v>
                </c:pt>
                <c:pt idx="187">
                  <c:v>386.62582400000002</c:v>
                </c:pt>
                <c:pt idx="188">
                  <c:v>387.115814</c:v>
                </c:pt>
                <c:pt idx="189">
                  <c:v>387.60580399999998</c:v>
                </c:pt>
                <c:pt idx="190">
                  <c:v>388.09576399999997</c:v>
                </c:pt>
                <c:pt idx="191">
                  <c:v>388.58575400000001</c:v>
                </c:pt>
                <c:pt idx="192">
                  <c:v>389.075714</c:v>
                </c:pt>
                <c:pt idx="193">
                  <c:v>389.56570399999998</c:v>
                </c:pt>
                <c:pt idx="194">
                  <c:v>390.05569500000001</c:v>
                </c:pt>
                <c:pt idx="195">
                  <c:v>390.54565400000001</c:v>
                </c:pt>
                <c:pt idx="196">
                  <c:v>391.03564499999999</c:v>
                </c:pt>
                <c:pt idx="197">
                  <c:v>391.52560399999999</c:v>
                </c:pt>
                <c:pt idx="198">
                  <c:v>392.01559400000002</c:v>
                </c:pt>
                <c:pt idx="199">
                  <c:v>392.50555400000002</c:v>
                </c:pt>
                <c:pt idx="200">
                  <c:v>392.995544</c:v>
                </c:pt>
                <c:pt idx="201">
                  <c:v>393.48553500000003</c:v>
                </c:pt>
                <c:pt idx="202">
                  <c:v>393.97549400000003</c:v>
                </c:pt>
                <c:pt idx="203">
                  <c:v>394.465485</c:v>
                </c:pt>
                <c:pt idx="204">
                  <c:v>394.955444</c:v>
                </c:pt>
                <c:pt idx="205">
                  <c:v>395.44543499999997</c:v>
                </c:pt>
                <c:pt idx="206">
                  <c:v>395.93542500000001</c:v>
                </c:pt>
                <c:pt idx="207">
                  <c:v>396.42538500000001</c:v>
                </c:pt>
                <c:pt idx="208">
                  <c:v>396.91537499999998</c:v>
                </c:pt>
                <c:pt idx="209">
                  <c:v>397.40533399999998</c:v>
                </c:pt>
                <c:pt idx="210">
                  <c:v>397.89532500000001</c:v>
                </c:pt>
                <c:pt idx="211">
                  <c:v>398.38531499999999</c:v>
                </c:pt>
                <c:pt idx="212">
                  <c:v>398.87527499999999</c:v>
                </c:pt>
                <c:pt idx="213">
                  <c:v>399.36523399999999</c:v>
                </c:pt>
                <c:pt idx="214">
                  <c:v>399.85522500000002</c:v>
                </c:pt>
                <c:pt idx="215">
                  <c:v>400.345215</c:v>
                </c:pt>
                <c:pt idx="216">
                  <c:v>400.83520499999997</c:v>
                </c:pt>
                <c:pt idx="217">
                  <c:v>401.32516500000003</c:v>
                </c:pt>
                <c:pt idx="218">
                  <c:v>401.81512500000002</c:v>
                </c:pt>
                <c:pt idx="219">
                  <c:v>402.305115</c:v>
                </c:pt>
                <c:pt idx="220">
                  <c:v>402.79510499999998</c:v>
                </c:pt>
                <c:pt idx="221">
                  <c:v>403.28509500000001</c:v>
                </c:pt>
                <c:pt idx="222">
                  <c:v>403.77505500000001</c:v>
                </c:pt>
                <c:pt idx="223">
                  <c:v>404.26501500000001</c:v>
                </c:pt>
                <c:pt idx="224">
                  <c:v>404.75500499999998</c:v>
                </c:pt>
                <c:pt idx="225">
                  <c:v>405.24499500000002</c:v>
                </c:pt>
                <c:pt idx="226">
                  <c:v>405.73498499999999</c:v>
                </c:pt>
                <c:pt idx="227">
                  <c:v>406.22494499999999</c:v>
                </c:pt>
                <c:pt idx="228">
                  <c:v>406.71490499999999</c:v>
                </c:pt>
                <c:pt idx="229">
                  <c:v>407.20489500000002</c:v>
                </c:pt>
                <c:pt idx="230">
                  <c:v>407.694885</c:v>
                </c:pt>
                <c:pt idx="231">
                  <c:v>408.18487499999998</c:v>
                </c:pt>
                <c:pt idx="232">
                  <c:v>408.67483499999997</c:v>
                </c:pt>
                <c:pt idx="233">
                  <c:v>409.16479500000003</c:v>
                </c:pt>
                <c:pt idx="234">
                  <c:v>409.654785</c:v>
                </c:pt>
                <c:pt idx="235">
                  <c:v>410.14477499999998</c:v>
                </c:pt>
                <c:pt idx="236">
                  <c:v>410.63476600000001</c:v>
                </c:pt>
                <c:pt idx="237">
                  <c:v>411.12472500000001</c:v>
                </c:pt>
                <c:pt idx="238">
                  <c:v>411.61468500000001</c:v>
                </c:pt>
                <c:pt idx="239">
                  <c:v>412.10467499999999</c:v>
                </c:pt>
                <c:pt idx="240">
                  <c:v>412.59466600000002</c:v>
                </c:pt>
                <c:pt idx="241">
                  <c:v>413.08462500000002</c:v>
                </c:pt>
                <c:pt idx="242">
                  <c:v>413.57461599999999</c:v>
                </c:pt>
                <c:pt idx="243">
                  <c:v>414.06457499999999</c:v>
                </c:pt>
                <c:pt idx="244">
                  <c:v>414.55456500000003</c:v>
                </c:pt>
                <c:pt idx="245">
                  <c:v>415.044556</c:v>
                </c:pt>
                <c:pt idx="246">
                  <c:v>415.534515</c:v>
                </c:pt>
                <c:pt idx="247">
                  <c:v>416.02450599999997</c:v>
                </c:pt>
                <c:pt idx="248">
                  <c:v>416.51446499999997</c:v>
                </c:pt>
                <c:pt idx="249">
                  <c:v>417.004456</c:v>
                </c:pt>
                <c:pt idx="250">
                  <c:v>417.49444599999998</c:v>
                </c:pt>
                <c:pt idx="251">
                  <c:v>417.98440599999998</c:v>
                </c:pt>
                <c:pt idx="252">
                  <c:v>418.47439600000001</c:v>
                </c:pt>
                <c:pt idx="253">
                  <c:v>418.96435600000001</c:v>
                </c:pt>
                <c:pt idx="254">
                  <c:v>419.45434599999999</c:v>
                </c:pt>
                <c:pt idx="255">
                  <c:v>419.94430499999999</c:v>
                </c:pt>
                <c:pt idx="256">
                  <c:v>420.43429600000002</c:v>
                </c:pt>
                <c:pt idx="257">
                  <c:v>420.924286</c:v>
                </c:pt>
                <c:pt idx="258">
                  <c:v>421.41424599999999</c:v>
                </c:pt>
                <c:pt idx="259">
                  <c:v>421.90423600000003</c:v>
                </c:pt>
                <c:pt idx="260">
                  <c:v>422.39419600000002</c:v>
                </c:pt>
                <c:pt idx="261">
                  <c:v>422.884186</c:v>
                </c:pt>
                <c:pt idx="262">
                  <c:v>423.37417599999998</c:v>
                </c:pt>
                <c:pt idx="263">
                  <c:v>423.86413599999997</c:v>
                </c:pt>
                <c:pt idx="264">
                  <c:v>424.35412600000001</c:v>
                </c:pt>
                <c:pt idx="265">
                  <c:v>424.844086</c:v>
                </c:pt>
                <c:pt idx="266">
                  <c:v>425.33407599999998</c:v>
                </c:pt>
                <c:pt idx="267">
                  <c:v>425.82406600000002</c:v>
                </c:pt>
                <c:pt idx="268">
                  <c:v>426.31402600000001</c:v>
                </c:pt>
                <c:pt idx="269">
                  <c:v>426.80398600000001</c:v>
                </c:pt>
                <c:pt idx="270">
                  <c:v>427.29397599999999</c:v>
                </c:pt>
                <c:pt idx="271">
                  <c:v>427.78396600000002</c:v>
                </c:pt>
                <c:pt idx="272">
                  <c:v>428.273956</c:v>
                </c:pt>
                <c:pt idx="273">
                  <c:v>428.76391599999999</c:v>
                </c:pt>
                <c:pt idx="274">
                  <c:v>429.25387599999999</c:v>
                </c:pt>
                <c:pt idx="275">
                  <c:v>429.74386600000003</c:v>
                </c:pt>
                <c:pt idx="276">
                  <c:v>430.233856</c:v>
                </c:pt>
                <c:pt idx="277">
                  <c:v>430.72384599999998</c:v>
                </c:pt>
                <c:pt idx="278">
                  <c:v>431.21383700000001</c:v>
                </c:pt>
                <c:pt idx="279">
                  <c:v>431.70376599999997</c:v>
                </c:pt>
                <c:pt idx="280">
                  <c:v>432.19375600000001</c:v>
                </c:pt>
                <c:pt idx="281">
                  <c:v>432.68374599999999</c:v>
                </c:pt>
                <c:pt idx="282">
                  <c:v>433.17373700000002</c:v>
                </c:pt>
                <c:pt idx="283">
                  <c:v>433.66372699999999</c:v>
                </c:pt>
                <c:pt idx="284">
                  <c:v>434.15365600000001</c:v>
                </c:pt>
                <c:pt idx="285">
                  <c:v>434.64364599999999</c:v>
                </c:pt>
                <c:pt idx="286">
                  <c:v>435.13363600000002</c:v>
                </c:pt>
                <c:pt idx="287">
                  <c:v>435.623627</c:v>
                </c:pt>
                <c:pt idx="288">
                  <c:v>436.113586</c:v>
                </c:pt>
                <c:pt idx="289">
                  <c:v>436.60354599999999</c:v>
                </c:pt>
                <c:pt idx="290">
                  <c:v>437.09353599999997</c:v>
                </c:pt>
                <c:pt idx="291">
                  <c:v>437.583527</c:v>
                </c:pt>
                <c:pt idx="292">
                  <c:v>438.07351699999998</c:v>
                </c:pt>
                <c:pt idx="293">
                  <c:v>438.56347699999998</c:v>
                </c:pt>
                <c:pt idx="294">
                  <c:v>439.05343599999998</c:v>
                </c:pt>
                <c:pt idx="295">
                  <c:v>439.54342700000001</c:v>
                </c:pt>
                <c:pt idx="296">
                  <c:v>440.03341699999999</c:v>
                </c:pt>
                <c:pt idx="297">
                  <c:v>440.52340700000002</c:v>
                </c:pt>
                <c:pt idx="298">
                  <c:v>441.01336700000002</c:v>
                </c:pt>
                <c:pt idx="299">
                  <c:v>441.50332600000002</c:v>
                </c:pt>
                <c:pt idx="300">
                  <c:v>441.99331699999999</c:v>
                </c:pt>
                <c:pt idx="301">
                  <c:v>442.48330700000002</c:v>
                </c:pt>
                <c:pt idx="302">
                  <c:v>442.97326700000002</c:v>
                </c:pt>
                <c:pt idx="303">
                  <c:v>443.463257</c:v>
                </c:pt>
                <c:pt idx="304">
                  <c:v>443.953217</c:v>
                </c:pt>
                <c:pt idx="305">
                  <c:v>444.44320699999997</c:v>
                </c:pt>
                <c:pt idx="306">
                  <c:v>444.93319700000001</c:v>
                </c:pt>
                <c:pt idx="307">
                  <c:v>445.423157</c:v>
                </c:pt>
                <c:pt idx="308">
                  <c:v>445.91314699999998</c:v>
                </c:pt>
                <c:pt idx="309">
                  <c:v>446.40310699999998</c:v>
                </c:pt>
                <c:pt idx="310">
                  <c:v>446.89309700000001</c:v>
                </c:pt>
                <c:pt idx="311">
                  <c:v>447.38308699999999</c:v>
                </c:pt>
                <c:pt idx="312">
                  <c:v>447.87304699999999</c:v>
                </c:pt>
                <c:pt idx="313">
                  <c:v>448.36303700000002</c:v>
                </c:pt>
                <c:pt idx="314">
                  <c:v>448.85299700000002</c:v>
                </c:pt>
                <c:pt idx="315">
                  <c:v>449.34298699999999</c:v>
                </c:pt>
                <c:pt idx="316">
                  <c:v>449.83294699999999</c:v>
                </c:pt>
                <c:pt idx="317">
                  <c:v>450.32293700000002</c:v>
                </c:pt>
                <c:pt idx="318">
                  <c:v>450.812927</c:v>
                </c:pt>
                <c:pt idx="319">
                  <c:v>451.302887</c:v>
                </c:pt>
                <c:pt idx="320">
                  <c:v>451.79287699999998</c:v>
                </c:pt>
                <c:pt idx="321">
                  <c:v>452.28283699999997</c:v>
                </c:pt>
                <c:pt idx="322">
                  <c:v>452.77282700000001</c:v>
                </c:pt>
                <c:pt idx="323">
                  <c:v>453.26281699999998</c:v>
                </c:pt>
                <c:pt idx="324">
                  <c:v>453.75277699999998</c:v>
                </c:pt>
                <c:pt idx="325">
                  <c:v>454.24273699999998</c:v>
                </c:pt>
                <c:pt idx="326">
                  <c:v>454.73272700000001</c:v>
                </c:pt>
                <c:pt idx="327">
                  <c:v>455.22271699999999</c:v>
                </c:pt>
                <c:pt idx="328">
                  <c:v>455.71270800000002</c:v>
                </c:pt>
                <c:pt idx="329">
                  <c:v>456.202698</c:v>
                </c:pt>
                <c:pt idx="330">
                  <c:v>456.69262700000002</c:v>
                </c:pt>
                <c:pt idx="331">
                  <c:v>457.18261699999999</c:v>
                </c:pt>
                <c:pt idx="332">
                  <c:v>457.67260700000003</c:v>
                </c:pt>
                <c:pt idx="333">
                  <c:v>458.162598</c:v>
                </c:pt>
                <c:pt idx="334">
                  <c:v>458.65258799999998</c:v>
                </c:pt>
                <c:pt idx="335">
                  <c:v>459.142517</c:v>
                </c:pt>
                <c:pt idx="336">
                  <c:v>459.63250699999998</c:v>
                </c:pt>
                <c:pt idx="337">
                  <c:v>460.12249800000001</c:v>
                </c:pt>
                <c:pt idx="338">
                  <c:v>460.61248799999998</c:v>
                </c:pt>
                <c:pt idx="339">
                  <c:v>461.10247800000002</c:v>
                </c:pt>
                <c:pt idx="340">
                  <c:v>461.59240699999998</c:v>
                </c:pt>
                <c:pt idx="341">
                  <c:v>462.08239700000001</c:v>
                </c:pt>
                <c:pt idx="342">
                  <c:v>462.57238799999999</c:v>
                </c:pt>
                <c:pt idx="343">
                  <c:v>463.06237800000002</c:v>
                </c:pt>
                <c:pt idx="344">
                  <c:v>463.55233800000002</c:v>
                </c:pt>
                <c:pt idx="345">
                  <c:v>464.04229700000002</c:v>
                </c:pt>
                <c:pt idx="346">
                  <c:v>464.53228799999999</c:v>
                </c:pt>
                <c:pt idx="347">
                  <c:v>465.02227800000003</c:v>
                </c:pt>
                <c:pt idx="348">
                  <c:v>465.51226800000001</c:v>
                </c:pt>
                <c:pt idx="349">
                  <c:v>466.002228</c:v>
                </c:pt>
                <c:pt idx="350">
                  <c:v>466.492188</c:v>
                </c:pt>
                <c:pt idx="351">
                  <c:v>466.98217799999998</c:v>
                </c:pt>
                <c:pt idx="352">
                  <c:v>467.47216800000001</c:v>
                </c:pt>
                <c:pt idx="353">
                  <c:v>467.96215799999999</c:v>
                </c:pt>
                <c:pt idx="354">
                  <c:v>468.45211799999998</c:v>
                </c:pt>
                <c:pt idx="355">
                  <c:v>468.94207799999998</c:v>
                </c:pt>
                <c:pt idx="356">
                  <c:v>469.43206800000002</c:v>
                </c:pt>
                <c:pt idx="357">
                  <c:v>469.92205799999999</c:v>
                </c:pt>
                <c:pt idx="358">
                  <c:v>470.41201799999999</c:v>
                </c:pt>
                <c:pt idx="359">
                  <c:v>470.90200800000002</c:v>
                </c:pt>
                <c:pt idx="360">
                  <c:v>471.39196800000002</c:v>
                </c:pt>
                <c:pt idx="361">
                  <c:v>471.881958</c:v>
                </c:pt>
                <c:pt idx="362">
                  <c:v>472.37194799999997</c:v>
                </c:pt>
                <c:pt idx="363">
                  <c:v>472.86190800000003</c:v>
                </c:pt>
                <c:pt idx="364">
                  <c:v>473.35189800000001</c:v>
                </c:pt>
                <c:pt idx="365">
                  <c:v>473.841858</c:v>
                </c:pt>
                <c:pt idx="366">
                  <c:v>474.33184799999998</c:v>
                </c:pt>
                <c:pt idx="367">
                  <c:v>474.82183800000001</c:v>
                </c:pt>
                <c:pt idx="368">
                  <c:v>475.31179800000001</c:v>
                </c:pt>
                <c:pt idx="369">
                  <c:v>475.80178799999999</c:v>
                </c:pt>
                <c:pt idx="370">
                  <c:v>476.29174799999998</c:v>
                </c:pt>
                <c:pt idx="371">
                  <c:v>476.78173800000002</c:v>
                </c:pt>
                <c:pt idx="372">
                  <c:v>477.27169800000001</c:v>
                </c:pt>
                <c:pt idx="373">
                  <c:v>477.76168799999999</c:v>
                </c:pt>
                <c:pt idx="374">
                  <c:v>478.25167800000003</c:v>
                </c:pt>
                <c:pt idx="375">
                  <c:v>478.74163800000002</c:v>
                </c:pt>
                <c:pt idx="376">
                  <c:v>479.231628</c:v>
                </c:pt>
                <c:pt idx="377">
                  <c:v>479.721588</c:v>
                </c:pt>
                <c:pt idx="378">
                  <c:v>480.21157799999997</c:v>
                </c:pt>
                <c:pt idx="379">
                  <c:v>480.70156900000001</c:v>
                </c:pt>
                <c:pt idx="380">
                  <c:v>481.19155899999998</c:v>
                </c:pt>
                <c:pt idx="381">
                  <c:v>481.68151899999998</c:v>
                </c:pt>
                <c:pt idx="382">
                  <c:v>482.17147799999998</c:v>
                </c:pt>
                <c:pt idx="383">
                  <c:v>482.66146900000001</c:v>
                </c:pt>
                <c:pt idx="384">
                  <c:v>483.15145899999999</c:v>
                </c:pt>
                <c:pt idx="385">
                  <c:v>483.64144900000002</c:v>
                </c:pt>
                <c:pt idx="386">
                  <c:v>484.13137799999998</c:v>
                </c:pt>
                <c:pt idx="387">
                  <c:v>484.62136800000002</c:v>
                </c:pt>
                <c:pt idx="388">
                  <c:v>485.11135899999999</c:v>
                </c:pt>
                <c:pt idx="389">
                  <c:v>485.60134900000003</c:v>
                </c:pt>
                <c:pt idx="390">
                  <c:v>486.091339</c:v>
                </c:pt>
                <c:pt idx="391">
                  <c:v>486.58126800000002</c:v>
                </c:pt>
                <c:pt idx="392">
                  <c:v>487.071259</c:v>
                </c:pt>
                <c:pt idx="393">
                  <c:v>487.56124899999998</c:v>
                </c:pt>
                <c:pt idx="394">
                  <c:v>488.05123900000001</c:v>
                </c:pt>
                <c:pt idx="395">
                  <c:v>488.54122899999999</c:v>
                </c:pt>
                <c:pt idx="396">
                  <c:v>489.031158</c:v>
                </c:pt>
                <c:pt idx="397">
                  <c:v>489.52114899999998</c:v>
                </c:pt>
                <c:pt idx="398">
                  <c:v>490.01113900000001</c:v>
                </c:pt>
                <c:pt idx="399">
                  <c:v>490.50112899999999</c:v>
                </c:pt>
                <c:pt idx="400">
                  <c:v>490.99108899999999</c:v>
                </c:pt>
                <c:pt idx="401">
                  <c:v>491.48104899999998</c:v>
                </c:pt>
                <c:pt idx="402">
                  <c:v>491.97103900000002</c:v>
                </c:pt>
                <c:pt idx="403">
                  <c:v>492.461029</c:v>
                </c:pt>
                <c:pt idx="404">
                  <c:v>492.95101899999997</c:v>
                </c:pt>
                <c:pt idx="405">
                  <c:v>493.44097900000003</c:v>
                </c:pt>
                <c:pt idx="406">
                  <c:v>493.93093900000002</c:v>
                </c:pt>
                <c:pt idx="407">
                  <c:v>494.420929</c:v>
                </c:pt>
                <c:pt idx="408">
                  <c:v>494.91091899999998</c:v>
                </c:pt>
                <c:pt idx="409">
                  <c:v>495.40090900000001</c:v>
                </c:pt>
                <c:pt idx="410">
                  <c:v>495.89086900000001</c:v>
                </c:pt>
                <c:pt idx="411">
                  <c:v>496.38082900000001</c:v>
                </c:pt>
                <c:pt idx="412">
                  <c:v>496.87081899999998</c:v>
                </c:pt>
                <c:pt idx="413">
                  <c:v>497.36080900000002</c:v>
                </c:pt>
                <c:pt idx="414">
                  <c:v>497.85076900000001</c:v>
                </c:pt>
                <c:pt idx="415">
                  <c:v>498.34075899999999</c:v>
                </c:pt>
                <c:pt idx="416">
                  <c:v>498.83071899999999</c:v>
                </c:pt>
                <c:pt idx="417">
                  <c:v>499.32070900000002</c:v>
                </c:pt>
                <c:pt idx="418">
                  <c:v>499.810699</c:v>
                </c:pt>
                <c:pt idx="419">
                  <c:v>500.300659</c:v>
                </c:pt>
                <c:pt idx="420">
                  <c:v>500.79064899999997</c:v>
                </c:pt>
                <c:pt idx="421">
                  <c:v>501.28064000000001</c:v>
                </c:pt>
                <c:pt idx="422">
                  <c:v>501.770599</c:v>
                </c:pt>
                <c:pt idx="423">
                  <c:v>502.26058999999998</c:v>
                </c:pt>
                <c:pt idx="424">
                  <c:v>502.75054899999998</c:v>
                </c:pt>
                <c:pt idx="425">
                  <c:v>503.24054000000001</c:v>
                </c:pt>
                <c:pt idx="426">
                  <c:v>503.73049900000001</c:v>
                </c:pt>
                <c:pt idx="427">
                  <c:v>504.22048999999998</c:v>
                </c:pt>
                <c:pt idx="428">
                  <c:v>504.71044899999998</c:v>
                </c:pt>
                <c:pt idx="429">
                  <c:v>505.20043900000002</c:v>
                </c:pt>
                <c:pt idx="430">
                  <c:v>505.69042999999999</c:v>
                </c:pt>
                <c:pt idx="431">
                  <c:v>506.18042000000003</c:v>
                </c:pt>
                <c:pt idx="432">
                  <c:v>506.67038000000002</c:v>
                </c:pt>
                <c:pt idx="433">
                  <c:v>507.16033900000002</c:v>
                </c:pt>
                <c:pt idx="434">
                  <c:v>507.65033</c:v>
                </c:pt>
                <c:pt idx="435">
                  <c:v>508.14031999999997</c:v>
                </c:pt>
                <c:pt idx="436">
                  <c:v>508.63031000000001</c:v>
                </c:pt>
                <c:pt idx="437">
                  <c:v>509.12027</c:v>
                </c:pt>
                <c:pt idx="438">
                  <c:v>509.61023</c:v>
                </c:pt>
                <c:pt idx="439">
                  <c:v>510.10021999999998</c:v>
                </c:pt>
                <c:pt idx="440">
                  <c:v>510.59021000000001</c:v>
                </c:pt>
                <c:pt idx="441">
                  <c:v>511.08019999999999</c:v>
                </c:pt>
                <c:pt idx="442">
                  <c:v>511.57012900000001</c:v>
                </c:pt>
                <c:pt idx="443">
                  <c:v>512.06011999999998</c:v>
                </c:pt>
                <c:pt idx="444">
                  <c:v>512.55011000000002</c:v>
                </c:pt>
                <c:pt idx="445">
                  <c:v>513.04010000000005</c:v>
                </c:pt>
                <c:pt idx="446">
                  <c:v>513.53008999999997</c:v>
                </c:pt>
                <c:pt idx="447">
                  <c:v>514.02002000000005</c:v>
                </c:pt>
                <c:pt idx="448">
                  <c:v>514.51000999999997</c:v>
                </c:pt>
                <c:pt idx="449">
                  <c:v>515</c:v>
                </c:pt>
              </c:numCache>
            </c:numRef>
          </c:xVal>
          <c:yVal>
            <c:numRef>
              <c:f>Sheet1!$B$2:$B$451</c:f>
              <c:numCache>
                <c:formatCode>General</c:formatCode>
                <c:ptCount val="450"/>
                <c:pt idx="0">
                  <c:v>-91.968999999999994</c:v>
                </c:pt>
                <c:pt idx="1">
                  <c:v>-92</c:v>
                </c:pt>
                <c:pt idx="2">
                  <c:v>-90.5</c:v>
                </c:pt>
                <c:pt idx="3">
                  <c:v>-90.968999999999994</c:v>
                </c:pt>
                <c:pt idx="4">
                  <c:v>-91.968999999999994</c:v>
                </c:pt>
                <c:pt idx="5">
                  <c:v>-91</c:v>
                </c:pt>
                <c:pt idx="6">
                  <c:v>-92.468999999999994</c:v>
                </c:pt>
                <c:pt idx="7">
                  <c:v>-92.468999999999994</c:v>
                </c:pt>
                <c:pt idx="8">
                  <c:v>-92.468999999999994</c:v>
                </c:pt>
                <c:pt idx="9">
                  <c:v>-92</c:v>
                </c:pt>
                <c:pt idx="10">
                  <c:v>-41.969000000000001</c:v>
                </c:pt>
                <c:pt idx="11">
                  <c:v>-90</c:v>
                </c:pt>
                <c:pt idx="12">
                  <c:v>-90.5</c:v>
                </c:pt>
                <c:pt idx="13">
                  <c:v>-91</c:v>
                </c:pt>
                <c:pt idx="14">
                  <c:v>-92.031000000000006</c:v>
                </c:pt>
                <c:pt idx="15">
                  <c:v>-91.5</c:v>
                </c:pt>
                <c:pt idx="16">
                  <c:v>-92.5</c:v>
                </c:pt>
                <c:pt idx="17">
                  <c:v>-92.5</c:v>
                </c:pt>
                <c:pt idx="18">
                  <c:v>-91.531000000000006</c:v>
                </c:pt>
                <c:pt idx="19">
                  <c:v>-92.5</c:v>
                </c:pt>
                <c:pt idx="20">
                  <c:v>-60.5</c:v>
                </c:pt>
                <c:pt idx="21">
                  <c:v>-65.5</c:v>
                </c:pt>
                <c:pt idx="22">
                  <c:v>-92.5</c:v>
                </c:pt>
                <c:pt idx="23">
                  <c:v>-91.5</c:v>
                </c:pt>
                <c:pt idx="24">
                  <c:v>-92</c:v>
                </c:pt>
                <c:pt idx="25">
                  <c:v>-84.031000000000006</c:v>
                </c:pt>
                <c:pt idx="26">
                  <c:v>-91.031000000000006</c:v>
                </c:pt>
                <c:pt idx="27">
                  <c:v>-92</c:v>
                </c:pt>
                <c:pt idx="28">
                  <c:v>-90.031000000000006</c:v>
                </c:pt>
                <c:pt idx="29">
                  <c:v>-91.531000000000006</c:v>
                </c:pt>
                <c:pt idx="30">
                  <c:v>-48.530999999999999</c:v>
                </c:pt>
                <c:pt idx="31">
                  <c:v>-41.5</c:v>
                </c:pt>
                <c:pt idx="32">
                  <c:v>-86.5</c:v>
                </c:pt>
                <c:pt idx="33">
                  <c:v>-91.031000000000006</c:v>
                </c:pt>
                <c:pt idx="34">
                  <c:v>-92</c:v>
                </c:pt>
                <c:pt idx="35">
                  <c:v>-92.531000000000006</c:v>
                </c:pt>
                <c:pt idx="36">
                  <c:v>-91.5</c:v>
                </c:pt>
                <c:pt idx="37">
                  <c:v>-92.5</c:v>
                </c:pt>
                <c:pt idx="38">
                  <c:v>-90.531000000000006</c:v>
                </c:pt>
                <c:pt idx="39">
                  <c:v>-93</c:v>
                </c:pt>
                <c:pt idx="40">
                  <c:v>-93</c:v>
                </c:pt>
                <c:pt idx="41">
                  <c:v>-92.5</c:v>
                </c:pt>
                <c:pt idx="42">
                  <c:v>-92.5</c:v>
                </c:pt>
                <c:pt idx="43">
                  <c:v>-93</c:v>
                </c:pt>
                <c:pt idx="44">
                  <c:v>-92</c:v>
                </c:pt>
                <c:pt idx="45">
                  <c:v>-93.5</c:v>
                </c:pt>
                <c:pt idx="46">
                  <c:v>-92.5</c:v>
                </c:pt>
                <c:pt idx="47">
                  <c:v>-92.531000000000006</c:v>
                </c:pt>
                <c:pt idx="48">
                  <c:v>-93.031000000000006</c:v>
                </c:pt>
                <c:pt idx="49">
                  <c:v>-92.531000000000006</c:v>
                </c:pt>
                <c:pt idx="50">
                  <c:v>-91.5</c:v>
                </c:pt>
                <c:pt idx="51">
                  <c:v>-42</c:v>
                </c:pt>
                <c:pt idx="52">
                  <c:v>-91.5</c:v>
                </c:pt>
                <c:pt idx="53">
                  <c:v>-91</c:v>
                </c:pt>
                <c:pt idx="54">
                  <c:v>-92.5</c:v>
                </c:pt>
                <c:pt idx="55">
                  <c:v>-92</c:v>
                </c:pt>
                <c:pt idx="56">
                  <c:v>-92.031000000000006</c:v>
                </c:pt>
                <c:pt idx="57">
                  <c:v>-91</c:v>
                </c:pt>
                <c:pt idx="58">
                  <c:v>-91.031000000000006</c:v>
                </c:pt>
                <c:pt idx="59">
                  <c:v>-93</c:v>
                </c:pt>
                <c:pt idx="60">
                  <c:v>-91</c:v>
                </c:pt>
                <c:pt idx="61">
                  <c:v>-62.5</c:v>
                </c:pt>
                <c:pt idx="62">
                  <c:v>-93</c:v>
                </c:pt>
                <c:pt idx="63">
                  <c:v>-91.031000000000006</c:v>
                </c:pt>
                <c:pt idx="64">
                  <c:v>-92</c:v>
                </c:pt>
                <c:pt idx="65">
                  <c:v>-91.5</c:v>
                </c:pt>
                <c:pt idx="66">
                  <c:v>-92</c:v>
                </c:pt>
                <c:pt idx="67">
                  <c:v>-92.531000000000006</c:v>
                </c:pt>
                <c:pt idx="68">
                  <c:v>-92</c:v>
                </c:pt>
                <c:pt idx="69">
                  <c:v>-92.031000000000006</c:v>
                </c:pt>
                <c:pt idx="70">
                  <c:v>-93.5</c:v>
                </c:pt>
                <c:pt idx="71">
                  <c:v>-42</c:v>
                </c:pt>
                <c:pt idx="72">
                  <c:v>-46</c:v>
                </c:pt>
                <c:pt idx="73">
                  <c:v>-93.5</c:v>
                </c:pt>
                <c:pt idx="74">
                  <c:v>-93</c:v>
                </c:pt>
                <c:pt idx="75">
                  <c:v>-92</c:v>
                </c:pt>
                <c:pt idx="76">
                  <c:v>-92</c:v>
                </c:pt>
                <c:pt idx="77">
                  <c:v>-92.5</c:v>
                </c:pt>
                <c:pt idx="78">
                  <c:v>-93.031000000000006</c:v>
                </c:pt>
                <c:pt idx="79">
                  <c:v>-93.031000000000006</c:v>
                </c:pt>
                <c:pt idx="80">
                  <c:v>-92.031000000000006</c:v>
                </c:pt>
                <c:pt idx="81">
                  <c:v>-93.063000000000002</c:v>
                </c:pt>
                <c:pt idx="82">
                  <c:v>-93.531000000000006</c:v>
                </c:pt>
                <c:pt idx="83">
                  <c:v>-93.031000000000006</c:v>
                </c:pt>
                <c:pt idx="84">
                  <c:v>-92.031000000000006</c:v>
                </c:pt>
                <c:pt idx="85">
                  <c:v>-92.563000000000002</c:v>
                </c:pt>
                <c:pt idx="86">
                  <c:v>-93.031000000000006</c:v>
                </c:pt>
                <c:pt idx="87">
                  <c:v>-92.031000000000006</c:v>
                </c:pt>
                <c:pt idx="88">
                  <c:v>-93.031000000000006</c:v>
                </c:pt>
                <c:pt idx="89">
                  <c:v>-91.531000000000006</c:v>
                </c:pt>
                <c:pt idx="90">
                  <c:v>-92.031000000000006</c:v>
                </c:pt>
                <c:pt idx="91">
                  <c:v>-91.563000000000002</c:v>
                </c:pt>
                <c:pt idx="92">
                  <c:v>-42.530999999999999</c:v>
                </c:pt>
                <c:pt idx="93">
                  <c:v>-90.563000000000002</c:v>
                </c:pt>
                <c:pt idx="94">
                  <c:v>-92.531000000000006</c:v>
                </c:pt>
                <c:pt idx="95">
                  <c:v>-93.031000000000006</c:v>
                </c:pt>
                <c:pt idx="96">
                  <c:v>-90.531000000000006</c:v>
                </c:pt>
                <c:pt idx="97">
                  <c:v>-92.531000000000006</c:v>
                </c:pt>
                <c:pt idx="98">
                  <c:v>-93.531000000000006</c:v>
                </c:pt>
                <c:pt idx="99">
                  <c:v>-93.031000000000006</c:v>
                </c:pt>
                <c:pt idx="100">
                  <c:v>-92.531000000000006</c:v>
                </c:pt>
                <c:pt idx="101">
                  <c:v>-92.531000000000006</c:v>
                </c:pt>
                <c:pt idx="102">
                  <c:v>-67.531000000000006</c:v>
                </c:pt>
                <c:pt idx="103">
                  <c:v>-91.031000000000006</c:v>
                </c:pt>
                <c:pt idx="104">
                  <c:v>-91.031000000000006</c:v>
                </c:pt>
                <c:pt idx="105">
                  <c:v>-92.031000000000006</c:v>
                </c:pt>
                <c:pt idx="106">
                  <c:v>-92.531000000000006</c:v>
                </c:pt>
                <c:pt idx="107">
                  <c:v>-92.063000000000002</c:v>
                </c:pt>
                <c:pt idx="108">
                  <c:v>-92.063000000000002</c:v>
                </c:pt>
                <c:pt idx="109">
                  <c:v>-92.563000000000002</c:v>
                </c:pt>
                <c:pt idx="110">
                  <c:v>-91.063000000000002</c:v>
                </c:pt>
                <c:pt idx="111">
                  <c:v>-93.031000000000006</c:v>
                </c:pt>
                <c:pt idx="112">
                  <c:v>-42.563000000000002</c:v>
                </c:pt>
                <c:pt idx="113">
                  <c:v>-74.031000000000006</c:v>
                </c:pt>
                <c:pt idx="114">
                  <c:v>-92.563000000000002</c:v>
                </c:pt>
                <c:pt idx="115">
                  <c:v>-92.031000000000006</c:v>
                </c:pt>
                <c:pt idx="116">
                  <c:v>-92.531000000000006</c:v>
                </c:pt>
                <c:pt idx="117">
                  <c:v>-93.563000000000002</c:v>
                </c:pt>
                <c:pt idx="118">
                  <c:v>-92.031000000000006</c:v>
                </c:pt>
                <c:pt idx="119">
                  <c:v>-92.031000000000006</c:v>
                </c:pt>
                <c:pt idx="120">
                  <c:v>-93.531000000000006</c:v>
                </c:pt>
                <c:pt idx="121">
                  <c:v>-93.531000000000006</c:v>
                </c:pt>
                <c:pt idx="122">
                  <c:v>-93.031000000000006</c:v>
                </c:pt>
                <c:pt idx="123">
                  <c:v>-94.031000000000006</c:v>
                </c:pt>
                <c:pt idx="124">
                  <c:v>-93.031000000000006</c:v>
                </c:pt>
                <c:pt idx="125">
                  <c:v>-93.031000000000006</c:v>
                </c:pt>
                <c:pt idx="126">
                  <c:v>-93.031000000000006</c:v>
                </c:pt>
                <c:pt idx="127">
                  <c:v>-93.063000000000002</c:v>
                </c:pt>
                <c:pt idx="128">
                  <c:v>-93.031000000000006</c:v>
                </c:pt>
                <c:pt idx="129">
                  <c:v>-92.531000000000006</c:v>
                </c:pt>
                <c:pt idx="130">
                  <c:v>-90.563000000000002</c:v>
                </c:pt>
                <c:pt idx="131">
                  <c:v>-92.031000000000006</c:v>
                </c:pt>
                <c:pt idx="132">
                  <c:v>-56.563000000000002</c:v>
                </c:pt>
                <c:pt idx="133">
                  <c:v>-43.063000000000002</c:v>
                </c:pt>
                <c:pt idx="134">
                  <c:v>-92.031000000000006</c:v>
                </c:pt>
                <c:pt idx="135">
                  <c:v>-94.531000000000006</c:v>
                </c:pt>
                <c:pt idx="136">
                  <c:v>-92.031000000000006</c:v>
                </c:pt>
                <c:pt idx="137">
                  <c:v>-94.031000000000006</c:v>
                </c:pt>
                <c:pt idx="138">
                  <c:v>-93.063000000000002</c:v>
                </c:pt>
                <c:pt idx="139">
                  <c:v>-91.531000000000006</c:v>
                </c:pt>
                <c:pt idx="140">
                  <c:v>-93.031000000000006</c:v>
                </c:pt>
                <c:pt idx="141">
                  <c:v>-93.031000000000006</c:v>
                </c:pt>
                <c:pt idx="142">
                  <c:v>-92.031000000000006</c:v>
                </c:pt>
                <c:pt idx="143">
                  <c:v>-67.563000000000002</c:v>
                </c:pt>
                <c:pt idx="144">
                  <c:v>-92.531000000000006</c:v>
                </c:pt>
                <c:pt idx="145">
                  <c:v>-94.031000000000006</c:v>
                </c:pt>
                <c:pt idx="146">
                  <c:v>-92.031000000000006</c:v>
                </c:pt>
                <c:pt idx="147">
                  <c:v>-92.093999999999994</c:v>
                </c:pt>
                <c:pt idx="148">
                  <c:v>-93.563000000000002</c:v>
                </c:pt>
                <c:pt idx="149">
                  <c:v>-92.563000000000002</c:v>
                </c:pt>
                <c:pt idx="150">
                  <c:v>-93.063000000000002</c:v>
                </c:pt>
                <c:pt idx="151">
                  <c:v>-91.093999999999994</c:v>
                </c:pt>
                <c:pt idx="152">
                  <c:v>-93.063000000000002</c:v>
                </c:pt>
                <c:pt idx="153">
                  <c:v>-43.094000000000001</c:v>
                </c:pt>
                <c:pt idx="154">
                  <c:v>-91.593999999999994</c:v>
                </c:pt>
                <c:pt idx="155">
                  <c:v>-92.563000000000002</c:v>
                </c:pt>
                <c:pt idx="156">
                  <c:v>-93.563000000000002</c:v>
                </c:pt>
                <c:pt idx="157">
                  <c:v>-92.063000000000002</c:v>
                </c:pt>
                <c:pt idx="158">
                  <c:v>-93.063000000000002</c:v>
                </c:pt>
                <c:pt idx="159">
                  <c:v>-91.593999999999994</c:v>
                </c:pt>
                <c:pt idx="160">
                  <c:v>-92.563000000000002</c:v>
                </c:pt>
                <c:pt idx="161">
                  <c:v>-93.093999999999994</c:v>
                </c:pt>
                <c:pt idx="162">
                  <c:v>-92.593999999999994</c:v>
                </c:pt>
                <c:pt idx="163">
                  <c:v>-93.093999999999994</c:v>
                </c:pt>
                <c:pt idx="164">
                  <c:v>-93.563000000000002</c:v>
                </c:pt>
                <c:pt idx="165">
                  <c:v>-93.093999999999994</c:v>
                </c:pt>
                <c:pt idx="166">
                  <c:v>-92.063000000000002</c:v>
                </c:pt>
                <c:pt idx="167">
                  <c:v>-92.593999999999994</c:v>
                </c:pt>
                <c:pt idx="168">
                  <c:v>-93.063000000000002</c:v>
                </c:pt>
                <c:pt idx="169">
                  <c:v>-92.593999999999994</c:v>
                </c:pt>
                <c:pt idx="170">
                  <c:v>-92.593999999999994</c:v>
                </c:pt>
                <c:pt idx="171">
                  <c:v>-92.593999999999994</c:v>
                </c:pt>
                <c:pt idx="172">
                  <c:v>-92.563000000000002</c:v>
                </c:pt>
                <c:pt idx="173">
                  <c:v>-43.063000000000002</c:v>
                </c:pt>
                <c:pt idx="174">
                  <c:v>-44.563000000000002</c:v>
                </c:pt>
                <c:pt idx="175">
                  <c:v>-93.093999999999994</c:v>
                </c:pt>
                <c:pt idx="176">
                  <c:v>-92.563000000000002</c:v>
                </c:pt>
                <c:pt idx="177">
                  <c:v>-93.563000000000002</c:v>
                </c:pt>
                <c:pt idx="178">
                  <c:v>-92.063000000000002</c:v>
                </c:pt>
                <c:pt idx="179">
                  <c:v>-92.063000000000002</c:v>
                </c:pt>
                <c:pt idx="180">
                  <c:v>-93.063000000000002</c:v>
                </c:pt>
                <c:pt idx="181">
                  <c:v>-93.063000000000002</c:v>
                </c:pt>
                <c:pt idx="182">
                  <c:v>-93.063000000000002</c:v>
                </c:pt>
                <c:pt idx="183">
                  <c:v>-83.563000000000002</c:v>
                </c:pt>
                <c:pt idx="184">
                  <c:v>-68.063000000000002</c:v>
                </c:pt>
                <c:pt idx="185">
                  <c:v>-93.063000000000002</c:v>
                </c:pt>
                <c:pt idx="186">
                  <c:v>-93.063000000000002</c:v>
                </c:pt>
                <c:pt idx="187">
                  <c:v>-93.563000000000002</c:v>
                </c:pt>
                <c:pt idx="188">
                  <c:v>-93.063000000000002</c:v>
                </c:pt>
                <c:pt idx="189">
                  <c:v>-93.063000000000002</c:v>
                </c:pt>
                <c:pt idx="190">
                  <c:v>-91.593999999999994</c:v>
                </c:pt>
                <c:pt idx="191">
                  <c:v>-93.063000000000002</c:v>
                </c:pt>
                <c:pt idx="192">
                  <c:v>-91.063000000000002</c:v>
                </c:pt>
                <c:pt idx="193">
                  <c:v>-92.093999999999994</c:v>
                </c:pt>
                <c:pt idx="194">
                  <c:v>-43.563000000000002</c:v>
                </c:pt>
                <c:pt idx="195">
                  <c:v>-91.063000000000002</c:v>
                </c:pt>
                <c:pt idx="196">
                  <c:v>-93.093999999999994</c:v>
                </c:pt>
                <c:pt idx="197">
                  <c:v>-92.063000000000002</c:v>
                </c:pt>
                <c:pt idx="198">
                  <c:v>-93.063000000000002</c:v>
                </c:pt>
                <c:pt idx="199">
                  <c:v>-91.563000000000002</c:v>
                </c:pt>
                <c:pt idx="200">
                  <c:v>-92.593999999999994</c:v>
                </c:pt>
                <c:pt idx="201">
                  <c:v>-92.063000000000002</c:v>
                </c:pt>
                <c:pt idx="202">
                  <c:v>-92.563000000000002</c:v>
                </c:pt>
                <c:pt idx="203">
                  <c:v>-93.063000000000002</c:v>
                </c:pt>
                <c:pt idx="204">
                  <c:v>-93.563000000000002</c:v>
                </c:pt>
                <c:pt idx="205">
                  <c:v>-92.093999999999994</c:v>
                </c:pt>
                <c:pt idx="206">
                  <c:v>-93.563000000000002</c:v>
                </c:pt>
                <c:pt idx="207">
                  <c:v>-93.563000000000002</c:v>
                </c:pt>
                <c:pt idx="208">
                  <c:v>-93.063000000000002</c:v>
                </c:pt>
                <c:pt idx="209">
                  <c:v>-92.563000000000002</c:v>
                </c:pt>
                <c:pt idx="210">
                  <c:v>-93.063000000000002</c:v>
                </c:pt>
                <c:pt idx="211">
                  <c:v>-91.563000000000002</c:v>
                </c:pt>
                <c:pt idx="212">
                  <c:v>-94.563000000000002</c:v>
                </c:pt>
                <c:pt idx="213">
                  <c:v>-93.593999999999994</c:v>
                </c:pt>
                <c:pt idx="214">
                  <c:v>-43.563000000000002</c:v>
                </c:pt>
                <c:pt idx="215">
                  <c:v>-64.093999999999994</c:v>
                </c:pt>
                <c:pt idx="216">
                  <c:v>-91.593999999999994</c:v>
                </c:pt>
                <c:pt idx="217">
                  <c:v>-93.093999999999994</c:v>
                </c:pt>
                <c:pt idx="218">
                  <c:v>-91.625</c:v>
                </c:pt>
                <c:pt idx="219">
                  <c:v>-92.093999999999994</c:v>
                </c:pt>
                <c:pt idx="220">
                  <c:v>-90.593999999999994</c:v>
                </c:pt>
                <c:pt idx="221">
                  <c:v>-93.625</c:v>
                </c:pt>
                <c:pt idx="222">
                  <c:v>-91.625</c:v>
                </c:pt>
                <c:pt idx="223">
                  <c:v>-93.093999999999994</c:v>
                </c:pt>
                <c:pt idx="224">
                  <c:v>-66.625</c:v>
                </c:pt>
                <c:pt idx="225">
                  <c:v>-67.125</c:v>
                </c:pt>
                <c:pt idx="226">
                  <c:v>-93.125</c:v>
                </c:pt>
                <c:pt idx="227">
                  <c:v>-92.125</c:v>
                </c:pt>
                <c:pt idx="228">
                  <c:v>-92.625</c:v>
                </c:pt>
                <c:pt idx="229">
                  <c:v>-92.656000000000006</c:v>
                </c:pt>
                <c:pt idx="230">
                  <c:v>-92.656000000000006</c:v>
                </c:pt>
                <c:pt idx="231">
                  <c:v>-92.688000000000002</c:v>
                </c:pt>
                <c:pt idx="232">
                  <c:v>-92.156000000000006</c:v>
                </c:pt>
                <c:pt idx="233">
                  <c:v>-94.656000000000006</c:v>
                </c:pt>
                <c:pt idx="234">
                  <c:v>-63.155999999999999</c:v>
                </c:pt>
                <c:pt idx="235">
                  <c:v>-43.655999999999999</c:v>
                </c:pt>
                <c:pt idx="236">
                  <c:v>-92.656000000000006</c:v>
                </c:pt>
                <c:pt idx="237">
                  <c:v>-94.656000000000006</c:v>
                </c:pt>
                <c:pt idx="238">
                  <c:v>-91.188000000000002</c:v>
                </c:pt>
                <c:pt idx="239">
                  <c:v>-93.656000000000006</c:v>
                </c:pt>
                <c:pt idx="240">
                  <c:v>-93.688000000000002</c:v>
                </c:pt>
                <c:pt idx="241">
                  <c:v>-92.688000000000002</c:v>
                </c:pt>
                <c:pt idx="242">
                  <c:v>-94.188000000000002</c:v>
                </c:pt>
                <c:pt idx="243">
                  <c:v>-94.188000000000002</c:v>
                </c:pt>
                <c:pt idx="244">
                  <c:v>-93.218999999999994</c:v>
                </c:pt>
                <c:pt idx="245">
                  <c:v>-92.688000000000002</c:v>
                </c:pt>
                <c:pt idx="246">
                  <c:v>-93.688000000000002</c:v>
                </c:pt>
                <c:pt idx="247">
                  <c:v>-92.188000000000002</c:v>
                </c:pt>
                <c:pt idx="248">
                  <c:v>-94.218999999999994</c:v>
                </c:pt>
                <c:pt idx="249">
                  <c:v>-92.75</c:v>
                </c:pt>
                <c:pt idx="250">
                  <c:v>-91.718999999999994</c:v>
                </c:pt>
                <c:pt idx="251">
                  <c:v>-92.75</c:v>
                </c:pt>
                <c:pt idx="252">
                  <c:v>-92.718999999999994</c:v>
                </c:pt>
                <c:pt idx="253">
                  <c:v>-92.75</c:v>
                </c:pt>
                <c:pt idx="254">
                  <c:v>-92.218999999999994</c:v>
                </c:pt>
                <c:pt idx="255">
                  <c:v>-43.219000000000001</c:v>
                </c:pt>
                <c:pt idx="256">
                  <c:v>-92.25</c:v>
                </c:pt>
                <c:pt idx="257">
                  <c:v>-93.25</c:v>
                </c:pt>
                <c:pt idx="258">
                  <c:v>-90.25</c:v>
                </c:pt>
                <c:pt idx="259">
                  <c:v>-93.25</c:v>
                </c:pt>
                <c:pt idx="260">
                  <c:v>-91.25</c:v>
                </c:pt>
                <c:pt idx="261">
                  <c:v>-92.25</c:v>
                </c:pt>
                <c:pt idx="262">
                  <c:v>-93.25</c:v>
                </c:pt>
                <c:pt idx="263">
                  <c:v>-90.75</c:v>
                </c:pt>
                <c:pt idx="264">
                  <c:v>-91.781000000000006</c:v>
                </c:pt>
                <c:pt idx="265">
                  <c:v>-67.781000000000006</c:v>
                </c:pt>
                <c:pt idx="266">
                  <c:v>-84.781000000000006</c:v>
                </c:pt>
                <c:pt idx="267">
                  <c:v>-93.281000000000006</c:v>
                </c:pt>
                <c:pt idx="268">
                  <c:v>-91.781000000000006</c:v>
                </c:pt>
                <c:pt idx="269">
                  <c:v>-93.281000000000006</c:v>
                </c:pt>
                <c:pt idx="270">
                  <c:v>-94.281000000000006</c:v>
                </c:pt>
                <c:pt idx="271">
                  <c:v>-92.813000000000002</c:v>
                </c:pt>
                <c:pt idx="272">
                  <c:v>-93.281000000000006</c:v>
                </c:pt>
                <c:pt idx="273">
                  <c:v>-93.313000000000002</c:v>
                </c:pt>
                <c:pt idx="274">
                  <c:v>-92.313000000000002</c:v>
                </c:pt>
                <c:pt idx="275">
                  <c:v>-44.813000000000002</c:v>
                </c:pt>
                <c:pt idx="276">
                  <c:v>-43.313000000000002</c:v>
                </c:pt>
                <c:pt idx="277">
                  <c:v>-92.813000000000002</c:v>
                </c:pt>
                <c:pt idx="278">
                  <c:v>-94.313000000000002</c:v>
                </c:pt>
                <c:pt idx="279">
                  <c:v>-92.843999999999994</c:v>
                </c:pt>
                <c:pt idx="280">
                  <c:v>-94.313000000000002</c:v>
                </c:pt>
                <c:pt idx="281">
                  <c:v>-92.343999999999994</c:v>
                </c:pt>
                <c:pt idx="282">
                  <c:v>-93.343999999999994</c:v>
                </c:pt>
                <c:pt idx="283">
                  <c:v>-92.875</c:v>
                </c:pt>
                <c:pt idx="284">
                  <c:v>-92.343999999999994</c:v>
                </c:pt>
                <c:pt idx="285">
                  <c:v>-92.343999999999994</c:v>
                </c:pt>
                <c:pt idx="286">
                  <c:v>-94.343999999999994</c:v>
                </c:pt>
                <c:pt idx="287">
                  <c:v>-93.343999999999994</c:v>
                </c:pt>
                <c:pt idx="288">
                  <c:v>-93.343999999999994</c:v>
                </c:pt>
                <c:pt idx="289">
                  <c:v>-92.375</c:v>
                </c:pt>
                <c:pt idx="290">
                  <c:v>-94.375</c:v>
                </c:pt>
                <c:pt idx="291">
                  <c:v>-92.375</c:v>
                </c:pt>
                <c:pt idx="292">
                  <c:v>-93.906000000000006</c:v>
                </c:pt>
                <c:pt idx="293">
                  <c:v>-93.375</c:v>
                </c:pt>
                <c:pt idx="294">
                  <c:v>-93.875</c:v>
                </c:pt>
                <c:pt idx="295">
                  <c:v>-91.875</c:v>
                </c:pt>
                <c:pt idx="296">
                  <c:v>-42.875</c:v>
                </c:pt>
                <c:pt idx="297">
                  <c:v>-91.375</c:v>
                </c:pt>
                <c:pt idx="298">
                  <c:v>-94.406000000000006</c:v>
                </c:pt>
                <c:pt idx="299">
                  <c:v>-93.906000000000006</c:v>
                </c:pt>
                <c:pt idx="300">
                  <c:v>-93.906000000000006</c:v>
                </c:pt>
                <c:pt idx="301">
                  <c:v>-93.906000000000006</c:v>
                </c:pt>
                <c:pt idx="302">
                  <c:v>-93.906000000000006</c:v>
                </c:pt>
                <c:pt idx="303">
                  <c:v>-92.406000000000006</c:v>
                </c:pt>
                <c:pt idx="304">
                  <c:v>-92.906000000000006</c:v>
                </c:pt>
                <c:pt idx="305">
                  <c:v>-93.406000000000006</c:v>
                </c:pt>
                <c:pt idx="306">
                  <c:v>-67.938000000000002</c:v>
                </c:pt>
                <c:pt idx="307">
                  <c:v>-92.438000000000002</c:v>
                </c:pt>
                <c:pt idx="308">
                  <c:v>-94.438000000000002</c:v>
                </c:pt>
                <c:pt idx="309">
                  <c:v>-92.438000000000002</c:v>
                </c:pt>
                <c:pt idx="310">
                  <c:v>-93.438000000000002</c:v>
                </c:pt>
                <c:pt idx="311">
                  <c:v>-92.938000000000002</c:v>
                </c:pt>
                <c:pt idx="312">
                  <c:v>-93.938000000000002</c:v>
                </c:pt>
                <c:pt idx="313">
                  <c:v>-94.438000000000002</c:v>
                </c:pt>
                <c:pt idx="314">
                  <c:v>-94</c:v>
                </c:pt>
                <c:pt idx="315">
                  <c:v>-92.968999999999994</c:v>
                </c:pt>
                <c:pt idx="316">
                  <c:v>-42.469000000000001</c:v>
                </c:pt>
                <c:pt idx="317">
                  <c:v>-55.969000000000001</c:v>
                </c:pt>
                <c:pt idx="318">
                  <c:v>-93.968999999999994</c:v>
                </c:pt>
                <c:pt idx="319">
                  <c:v>-92.968999999999994</c:v>
                </c:pt>
                <c:pt idx="320">
                  <c:v>-93.468999999999994</c:v>
                </c:pt>
                <c:pt idx="321">
                  <c:v>-92.468999999999994</c:v>
                </c:pt>
                <c:pt idx="322">
                  <c:v>-92.5</c:v>
                </c:pt>
                <c:pt idx="323">
                  <c:v>-93.5</c:v>
                </c:pt>
                <c:pt idx="324">
                  <c:v>-91.5</c:v>
                </c:pt>
                <c:pt idx="325">
                  <c:v>-93</c:v>
                </c:pt>
                <c:pt idx="326">
                  <c:v>-94.5</c:v>
                </c:pt>
                <c:pt idx="327">
                  <c:v>-93.031000000000006</c:v>
                </c:pt>
                <c:pt idx="328">
                  <c:v>-93</c:v>
                </c:pt>
                <c:pt idx="329">
                  <c:v>-94.5</c:v>
                </c:pt>
                <c:pt idx="330">
                  <c:v>-93.031000000000006</c:v>
                </c:pt>
                <c:pt idx="331">
                  <c:v>-93.531000000000006</c:v>
                </c:pt>
                <c:pt idx="332">
                  <c:v>-94.031000000000006</c:v>
                </c:pt>
                <c:pt idx="333">
                  <c:v>-92.531000000000006</c:v>
                </c:pt>
                <c:pt idx="334">
                  <c:v>-94.031000000000006</c:v>
                </c:pt>
                <c:pt idx="335">
                  <c:v>-93.031000000000006</c:v>
                </c:pt>
                <c:pt idx="336">
                  <c:v>-74.531000000000006</c:v>
                </c:pt>
                <c:pt idx="337">
                  <c:v>-42.530999999999999</c:v>
                </c:pt>
                <c:pt idx="338">
                  <c:v>-92.031000000000006</c:v>
                </c:pt>
                <c:pt idx="339">
                  <c:v>-92.593999999999994</c:v>
                </c:pt>
                <c:pt idx="340">
                  <c:v>-93.063000000000002</c:v>
                </c:pt>
                <c:pt idx="341">
                  <c:v>-91.063000000000002</c:v>
                </c:pt>
                <c:pt idx="342">
                  <c:v>-93.063000000000002</c:v>
                </c:pt>
                <c:pt idx="343">
                  <c:v>-92.563000000000002</c:v>
                </c:pt>
                <c:pt idx="344">
                  <c:v>-93.093999999999994</c:v>
                </c:pt>
                <c:pt idx="345">
                  <c:v>-93.063000000000002</c:v>
                </c:pt>
                <c:pt idx="346">
                  <c:v>-92.093999999999994</c:v>
                </c:pt>
                <c:pt idx="347">
                  <c:v>-68.593999999999994</c:v>
                </c:pt>
                <c:pt idx="348">
                  <c:v>-92.593999999999994</c:v>
                </c:pt>
                <c:pt idx="349">
                  <c:v>-93.093999999999994</c:v>
                </c:pt>
                <c:pt idx="350">
                  <c:v>-93.093999999999994</c:v>
                </c:pt>
                <c:pt idx="351">
                  <c:v>-93.093999999999994</c:v>
                </c:pt>
                <c:pt idx="352">
                  <c:v>-91.593999999999994</c:v>
                </c:pt>
                <c:pt idx="353">
                  <c:v>-93.593999999999994</c:v>
                </c:pt>
                <c:pt idx="354">
                  <c:v>-93.625</c:v>
                </c:pt>
                <c:pt idx="355">
                  <c:v>-94.593999999999994</c:v>
                </c:pt>
                <c:pt idx="356">
                  <c:v>-94.625</c:v>
                </c:pt>
                <c:pt idx="357">
                  <c:v>-42.625</c:v>
                </c:pt>
                <c:pt idx="358">
                  <c:v>-92.625</c:v>
                </c:pt>
                <c:pt idx="359">
                  <c:v>-93.625</c:v>
                </c:pt>
                <c:pt idx="360">
                  <c:v>-92.656000000000006</c:v>
                </c:pt>
                <c:pt idx="361">
                  <c:v>-91.125</c:v>
                </c:pt>
                <c:pt idx="362">
                  <c:v>-93.656000000000006</c:v>
                </c:pt>
                <c:pt idx="363">
                  <c:v>-93.625</c:v>
                </c:pt>
                <c:pt idx="364">
                  <c:v>-94.156000000000006</c:v>
                </c:pt>
                <c:pt idx="365">
                  <c:v>-92.688000000000002</c:v>
                </c:pt>
                <c:pt idx="366">
                  <c:v>-94.156000000000006</c:v>
                </c:pt>
                <c:pt idx="367">
                  <c:v>-93.656000000000006</c:v>
                </c:pt>
                <c:pt idx="368">
                  <c:v>-93.688000000000002</c:v>
                </c:pt>
                <c:pt idx="369">
                  <c:v>-93.656000000000006</c:v>
                </c:pt>
                <c:pt idx="370">
                  <c:v>-93.156000000000006</c:v>
                </c:pt>
                <c:pt idx="371">
                  <c:v>-91.656000000000006</c:v>
                </c:pt>
                <c:pt idx="372">
                  <c:v>-94.688000000000002</c:v>
                </c:pt>
                <c:pt idx="373">
                  <c:v>-93.688000000000002</c:v>
                </c:pt>
                <c:pt idx="374">
                  <c:v>-92.688000000000002</c:v>
                </c:pt>
                <c:pt idx="375">
                  <c:v>-93.688000000000002</c:v>
                </c:pt>
                <c:pt idx="376">
                  <c:v>-93.688000000000002</c:v>
                </c:pt>
                <c:pt idx="377">
                  <c:v>-46.688000000000002</c:v>
                </c:pt>
                <c:pt idx="378">
                  <c:v>-42.688000000000002</c:v>
                </c:pt>
                <c:pt idx="379">
                  <c:v>-93.188000000000002</c:v>
                </c:pt>
                <c:pt idx="380">
                  <c:v>-94.218999999999994</c:v>
                </c:pt>
                <c:pt idx="381">
                  <c:v>-93.75</c:v>
                </c:pt>
                <c:pt idx="382">
                  <c:v>-92.218999999999994</c:v>
                </c:pt>
                <c:pt idx="383">
                  <c:v>-95.218999999999994</c:v>
                </c:pt>
                <c:pt idx="384">
                  <c:v>-92.218999999999994</c:v>
                </c:pt>
                <c:pt idx="385">
                  <c:v>-93.718999999999994</c:v>
                </c:pt>
                <c:pt idx="386">
                  <c:v>-93.25</c:v>
                </c:pt>
                <c:pt idx="387">
                  <c:v>-94.218999999999994</c:v>
                </c:pt>
                <c:pt idx="388">
                  <c:v>-68.718999999999994</c:v>
                </c:pt>
                <c:pt idx="389">
                  <c:v>-91.75</c:v>
                </c:pt>
                <c:pt idx="390">
                  <c:v>-93.75</c:v>
                </c:pt>
                <c:pt idx="391">
                  <c:v>-91.25</c:v>
                </c:pt>
                <c:pt idx="392">
                  <c:v>-94.25</c:v>
                </c:pt>
                <c:pt idx="393">
                  <c:v>-94.75</c:v>
                </c:pt>
                <c:pt idx="394">
                  <c:v>-93.281000000000006</c:v>
                </c:pt>
                <c:pt idx="395">
                  <c:v>-91.25</c:v>
                </c:pt>
                <c:pt idx="396">
                  <c:v>-92.281000000000006</c:v>
                </c:pt>
                <c:pt idx="397">
                  <c:v>-92.281000000000006</c:v>
                </c:pt>
                <c:pt idx="398">
                  <c:v>-43.280999999999999</c:v>
                </c:pt>
                <c:pt idx="399">
                  <c:v>-93.281000000000006</c:v>
                </c:pt>
                <c:pt idx="400">
                  <c:v>-91.781000000000006</c:v>
                </c:pt>
                <c:pt idx="401">
                  <c:v>-93.813000000000002</c:v>
                </c:pt>
                <c:pt idx="402">
                  <c:v>-93.781000000000006</c:v>
                </c:pt>
                <c:pt idx="403">
                  <c:v>-93.781000000000006</c:v>
                </c:pt>
                <c:pt idx="404">
                  <c:v>-93.781000000000006</c:v>
                </c:pt>
                <c:pt idx="405">
                  <c:v>-94.313000000000002</c:v>
                </c:pt>
                <c:pt idx="406">
                  <c:v>-93.813000000000002</c:v>
                </c:pt>
                <c:pt idx="407">
                  <c:v>-94.313000000000002</c:v>
                </c:pt>
                <c:pt idx="408">
                  <c:v>-93.313000000000002</c:v>
                </c:pt>
                <c:pt idx="409">
                  <c:v>-93.813000000000002</c:v>
                </c:pt>
                <c:pt idx="410">
                  <c:v>-94.813000000000002</c:v>
                </c:pt>
                <c:pt idx="411">
                  <c:v>-94.313000000000002</c:v>
                </c:pt>
                <c:pt idx="412">
                  <c:v>-93.843999999999994</c:v>
                </c:pt>
                <c:pt idx="413">
                  <c:v>-93.813000000000002</c:v>
                </c:pt>
                <c:pt idx="414">
                  <c:v>-92.375</c:v>
                </c:pt>
                <c:pt idx="415">
                  <c:v>-93.343999999999994</c:v>
                </c:pt>
                <c:pt idx="416">
                  <c:v>-93.343999999999994</c:v>
                </c:pt>
                <c:pt idx="417">
                  <c:v>-90.875</c:v>
                </c:pt>
                <c:pt idx="418">
                  <c:v>-43.844000000000001</c:v>
                </c:pt>
                <c:pt idx="419">
                  <c:v>-50.344000000000001</c:v>
                </c:pt>
                <c:pt idx="420">
                  <c:v>-94.843999999999994</c:v>
                </c:pt>
                <c:pt idx="421">
                  <c:v>-93.375</c:v>
                </c:pt>
                <c:pt idx="422">
                  <c:v>-93.375</c:v>
                </c:pt>
                <c:pt idx="423">
                  <c:v>-93.875</c:v>
                </c:pt>
                <c:pt idx="424">
                  <c:v>-93.875</c:v>
                </c:pt>
                <c:pt idx="425">
                  <c:v>-93.406000000000006</c:v>
                </c:pt>
                <c:pt idx="426">
                  <c:v>-91.875</c:v>
                </c:pt>
                <c:pt idx="427">
                  <c:v>-94.406000000000006</c:v>
                </c:pt>
                <c:pt idx="428">
                  <c:v>-77.375</c:v>
                </c:pt>
                <c:pt idx="429">
                  <c:v>-71.375</c:v>
                </c:pt>
                <c:pt idx="430">
                  <c:v>-93.906000000000006</c:v>
                </c:pt>
                <c:pt idx="431">
                  <c:v>-93.406000000000006</c:v>
                </c:pt>
                <c:pt idx="432">
                  <c:v>-93.406000000000006</c:v>
                </c:pt>
                <c:pt idx="433">
                  <c:v>-94.406000000000006</c:v>
                </c:pt>
                <c:pt idx="434">
                  <c:v>-93.406000000000006</c:v>
                </c:pt>
                <c:pt idx="435">
                  <c:v>-93.906000000000006</c:v>
                </c:pt>
                <c:pt idx="436">
                  <c:v>-93.406000000000006</c:v>
                </c:pt>
                <c:pt idx="437">
                  <c:v>-93.906000000000006</c:v>
                </c:pt>
                <c:pt idx="438">
                  <c:v>-93.438000000000002</c:v>
                </c:pt>
                <c:pt idx="439">
                  <c:v>-44.438000000000002</c:v>
                </c:pt>
                <c:pt idx="440">
                  <c:v>-92.938000000000002</c:v>
                </c:pt>
                <c:pt idx="441">
                  <c:v>-94.938000000000002</c:v>
                </c:pt>
                <c:pt idx="442">
                  <c:v>-94.438000000000002</c:v>
                </c:pt>
                <c:pt idx="443">
                  <c:v>-94.938000000000002</c:v>
                </c:pt>
                <c:pt idx="444">
                  <c:v>-92.938000000000002</c:v>
                </c:pt>
                <c:pt idx="445">
                  <c:v>-93.438000000000002</c:v>
                </c:pt>
                <c:pt idx="446">
                  <c:v>-94.968999999999994</c:v>
                </c:pt>
                <c:pt idx="447">
                  <c:v>-94.5</c:v>
                </c:pt>
                <c:pt idx="448">
                  <c:v>-95.468999999999994</c:v>
                </c:pt>
                <c:pt idx="449">
                  <c:v>-93.968999999999994</c:v>
                </c:pt>
              </c:numCache>
            </c:numRef>
          </c:yVal>
          <c:smooth val="0"/>
          <c:extLst>
            <c:ext xmlns:c16="http://schemas.microsoft.com/office/drawing/2014/chart" uri="{C3380CC4-5D6E-409C-BE32-E72D297353CC}">
              <c16:uniqueId val="{00000000-3C23-42B8-B389-44E8DD49A42B}"/>
            </c:ext>
          </c:extLst>
        </c:ser>
        <c:ser>
          <c:idx val="1"/>
          <c:order val="1"/>
          <c:tx>
            <c:strRef>
              <c:f>Sheet1!$B$453</c:f>
              <c:strCache>
                <c:ptCount val="1"/>
                <c:pt idx="0">
                  <c:v>Umbral</c:v>
                </c:pt>
              </c:strCache>
            </c:strRef>
          </c:tx>
          <c:spPr>
            <a:ln w="19050">
              <a:solidFill>
                <a:srgbClr val="C2410C"/>
              </a:solidFill>
              <a:prstDash val="dash"/>
            </a:ln>
          </c:spPr>
          <c:marker>
            <c:symbol val="none"/>
          </c:marker>
          <c:xVal>
            <c:numRef>
              <c:f>Sheet1!$A$454:$A$455</c:f>
              <c:numCache>
                <c:formatCode>General</c:formatCode>
                <c:ptCount val="2"/>
                <c:pt idx="0">
                  <c:v>295</c:v>
                </c:pt>
                <c:pt idx="1">
                  <c:v>515</c:v>
                </c:pt>
              </c:numCache>
            </c:numRef>
          </c:xVal>
          <c:yVal>
            <c:numRef>
              <c:f>Sheet1!$B$454:$B$455</c:f>
              <c:numCache>
                <c:formatCode>General</c:formatCode>
                <c:ptCount val="2"/>
                <c:pt idx="0">
                  <c:v>-60</c:v>
                </c:pt>
                <c:pt idx="1">
                  <c:v>-60</c:v>
                </c:pt>
              </c:numCache>
            </c:numRef>
          </c:yVal>
          <c:smooth val="0"/>
          <c:extLst>
            <c:ext xmlns:c16="http://schemas.microsoft.com/office/drawing/2014/chart" uri="{C3380CC4-5D6E-409C-BE32-E72D297353CC}">
              <c16:uniqueId val="{00000001-3C23-42B8-B389-44E8DD49A42B}"/>
            </c:ext>
          </c:extLst>
        </c:ser>
        <c:dLbls>
          <c:showLegendKey val="0"/>
          <c:showVal val="0"/>
          <c:showCatName val="0"/>
          <c:showSerName val="0"/>
          <c:showPercent val="0"/>
          <c:showBubbleSize val="0"/>
        </c:dLbls>
        <c:axId val="-2128940872"/>
        <c:axId val="-2129643912"/>
      </c:scatterChart>
      <c:valAx>
        <c:axId val="-2128940872"/>
        <c:scaling>
          <c:orientation val="minMax"/>
          <c:max val="520"/>
          <c:min val="290"/>
        </c:scaling>
        <c:delete val="0"/>
        <c:axPos val="b"/>
        <c:majorGridlines>
          <c:spPr>
            <a:ln w="9525">
              <a:solidFill>
                <a:srgbClr val="E3E7E8"/>
              </a:solidFill>
            </a:ln>
          </c:spPr>
        </c:majorGridlines>
        <c:title>
          <c:tx>
            <c:rich>
              <a:bodyPr/>
              <a:lstStyle/>
              <a:p>
                <a:r>
                  <a:rPr lang="en-US" sz="1100" b="0">
                    <a:solidFill>
                      <a:srgbClr val="666666"/>
                    </a:solidFill>
                  </a:rPr>
                  <a:t>Frecuencia (MHz)</a:t>
                </a:r>
              </a:p>
            </c:rich>
          </c:tx>
          <c:overlay val="0"/>
        </c:title>
        <c:numFmt formatCode="General" sourceLinked="1"/>
        <c:majorTickMark val="out"/>
        <c:minorTickMark val="none"/>
        <c:tickLblPos val="low"/>
        <c:spPr>
          <a:ln>
            <a:solidFill>
              <a:srgbClr val="C9D1D4"/>
            </a:solidFill>
          </a:ln>
        </c:spPr>
        <c:txPr>
          <a:bodyPr/>
          <a:lstStyle/>
          <a:p>
            <a:pPr>
              <a:defRPr sz="1100"/>
            </a:pPr>
            <a:endParaRPr lang="en-US"/>
          </a:p>
        </c:txPr>
        <c:crossAx val="-2129643912"/>
        <c:crosses val="autoZero"/>
        <c:crossBetween val="midCat"/>
        <c:majorUnit val="10"/>
      </c:valAx>
      <c:valAx>
        <c:axId val="-2129643912"/>
        <c:scaling>
          <c:orientation val="minMax"/>
          <c:max val="-30"/>
          <c:min val="-100"/>
        </c:scaling>
        <c:delete val="0"/>
        <c:axPos val="l"/>
        <c:majorGridlines>
          <c:spPr>
            <a:ln w="9525">
              <a:solidFill>
                <a:srgbClr val="E3E7E8"/>
              </a:solidFill>
            </a:ln>
          </c:spPr>
        </c:majorGridlines>
        <c:title>
          <c:tx>
            <c:rich>
              <a:bodyPr/>
              <a:lstStyle/>
              <a:p>
                <a:r>
                  <a:rPr lang="en-US" sz="1100" b="0">
                    <a:solidFill>
                      <a:srgbClr val="666666"/>
                    </a:solidFill>
                  </a:rPr>
                  <a:t>Nivel (dBm)</a:t>
                </a:r>
              </a:p>
            </c:rich>
          </c:tx>
          <c:overlay val="0"/>
        </c:title>
        <c:numFmt formatCode="General" sourceLinked="1"/>
        <c:majorTickMark val="out"/>
        <c:minorTickMark val="none"/>
        <c:tickLblPos val="low"/>
        <c:spPr>
          <a:ln>
            <a:solidFill>
              <a:srgbClr val="C9D1D4"/>
            </a:solidFill>
          </a:ln>
        </c:spPr>
        <c:txPr>
          <a:bodyPr/>
          <a:lstStyle/>
          <a:p>
            <a:pPr>
              <a:defRPr sz="1100"/>
            </a:pPr>
            <a:endParaRPr lang="en-US"/>
          </a:p>
        </c:txPr>
        <c:crossAx val="-2128940872"/>
        <c:crosses val="autoZero"/>
        <c:crossBetween val="midCat"/>
        <c:majorUnit val="10"/>
      </c:valAx>
    </c:plotArea>
    <c:plotVisOnly val="1"/>
    <c:dispBlanksAs val="gap"/>
    <c:showDLblsOverMax val="0"/>
  </c:chart>
  <c:txPr>
    <a:bodyPr/>
    <a:lstStyle/>
    <a:p>
      <a:pPr>
        <a:defRPr sz="1100">
          <a:solidFill>
            <a:srgbClr val="666666"/>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Solo los tonos</c:v>
                </c:pt>
              </c:strCache>
            </c:strRef>
          </c:tx>
          <c:spPr>
            <a:ln w="22225">
              <a:solidFill>
                <a:srgbClr val="0B5563"/>
              </a:solidFill>
            </a:ln>
          </c:spPr>
          <c:marker>
            <c:symbol val="none"/>
          </c:marker>
          <c:xVal>
            <c:numRef>
              <c:f>Sheet1!$A$2:$A$451</c:f>
              <c:numCache>
                <c:formatCode>General</c:formatCode>
                <c:ptCount val="450"/>
                <c:pt idx="0">
                  <c:v>295</c:v>
                </c:pt>
                <c:pt idx="1">
                  <c:v>295.48998999999998</c:v>
                </c:pt>
                <c:pt idx="2">
                  <c:v>295.97998100000001</c:v>
                </c:pt>
                <c:pt idx="3">
                  <c:v>296.46991000000003</c:v>
                </c:pt>
                <c:pt idx="4">
                  <c:v>296.9599</c:v>
                </c:pt>
                <c:pt idx="5">
                  <c:v>297.44988999999998</c:v>
                </c:pt>
                <c:pt idx="6">
                  <c:v>297.93988000000002</c:v>
                </c:pt>
                <c:pt idx="7">
                  <c:v>298.42987099999999</c:v>
                </c:pt>
                <c:pt idx="8">
                  <c:v>298.91980000000001</c:v>
                </c:pt>
                <c:pt idx="9">
                  <c:v>299.40978999999999</c:v>
                </c:pt>
                <c:pt idx="10">
                  <c:v>299.89978000000002</c:v>
                </c:pt>
                <c:pt idx="11">
                  <c:v>300.389771</c:v>
                </c:pt>
                <c:pt idx="12">
                  <c:v>300.87973</c:v>
                </c:pt>
                <c:pt idx="13">
                  <c:v>301.36968999999999</c:v>
                </c:pt>
                <c:pt idx="14">
                  <c:v>301.85968000000003</c:v>
                </c:pt>
                <c:pt idx="15">
                  <c:v>302.34967</c:v>
                </c:pt>
                <c:pt idx="16">
                  <c:v>302.83966099999998</c:v>
                </c:pt>
                <c:pt idx="17">
                  <c:v>303.32961999999998</c:v>
                </c:pt>
                <c:pt idx="18">
                  <c:v>303.81957999999997</c:v>
                </c:pt>
                <c:pt idx="19">
                  <c:v>304.30957000000001</c:v>
                </c:pt>
                <c:pt idx="20">
                  <c:v>304.79956099999998</c:v>
                </c:pt>
                <c:pt idx="21">
                  <c:v>305.28955100000002</c:v>
                </c:pt>
                <c:pt idx="22">
                  <c:v>305.77951100000001</c:v>
                </c:pt>
                <c:pt idx="23">
                  <c:v>306.26950099999999</c:v>
                </c:pt>
                <c:pt idx="24">
                  <c:v>306.75945999999999</c:v>
                </c:pt>
                <c:pt idx="25">
                  <c:v>307.24945100000002</c:v>
                </c:pt>
                <c:pt idx="26">
                  <c:v>307.73941000000002</c:v>
                </c:pt>
                <c:pt idx="27">
                  <c:v>308.229401</c:v>
                </c:pt>
                <c:pt idx="28">
                  <c:v>308.71935999999999</c:v>
                </c:pt>
                <c:pt idx="29">
                  <c:v>309.20935100000003</c:v>
                </c:pt>
                <c:pt idx="30">
                  <c:v>309.699341</c:v>
                </c:pt>
                <c:pt idx="31">
                  <c:v>310.189301</c:v>
                </c:pt>
                <c:pt idx="32">
                  <c:v>310.67929099999998</c:v>
                </c:pt>
                <c:pt idx="33">
                  <c:v>311.16928100000001</c:v>
                </c:pt>
                <c:pt idx="34">
                  <c:v>311.65924100000001</c:v>
                </c:pt>
                <c:pt idx="35">
                  <c:v>312.14923099999999</c:v>
                </c:pt>
                <c:pt idx="36">
                  <c:v>312.63919099999998</c:v>
                </c:pt>
                <c:pt idx="37">
                  <c:v>313.12918100000002</c:v>
                </c:pt>
                <c:pt idx="38">
                  <c:v>313.61917099999999</c:v>
                </c:pt>
                <c:pt idx="39">
                  <c:v>314.10913099999999</c:v>
                </c:pt>
                <c:pt idx="40">
                  <c:v>314.59909099999999</c:v>
                </c:pt>
                <c:pt idx="41">
                  <c:v>315.08908100000002</c:v>
                </c:pt>
                <c:pt idx="42">
                  <c:v>315.579071</c:v>
                </c:pt>
                <c:pt idx="43">
                  <c:v>316.06906099999998</c:v>
                </c:pt>
                <c:pt idx="44">
                  <c:v>316.55902099999997</c:v>
                </c:pt>
                <c:pt idx="45">
                  <c:v>317.04898100000003</c:v>
                </c:pt>
                <c:pt idx="46">
                  <c:v>317.538971</c:v>
                </c:pt>
                <c:pt idx="47">
                  <c:v>318.02896099999998</c:v>
                </c:pt>
                <c:pt idx="48">
                  <c:v>318.51895100000002</c:v>
                </c:pt>
                <c:pt idx="49">
                  <c:v>319.00891100000001</c:v>
                </c:pt>
                <c:pt idx="50">
                  <c:v>319.49887100000001</c:v>
                </c:pt>
                <c:pt idx="51">
                  <c:v>319.98886099999999</c:v>
                </c:pt>
                <c:pt idx="52">
                  <c:v>320.47885100000002</c:v>
                </c:pt>
                <c:pt idx="53">
                  <c:v>320.968842</c:v>
                </c:pt>
                <c:pt idx="54">
                  <c:v>321.45877100000001</c:v>
                </c:pt>
                <c:pt idx="55">
                  <c:v>321.94876099999999</c:v>
                </c:pt>
                <c:pt idx="56">
                  <c:v>322.43875100000002</c:v>
                </c:pt>
                <c:pt idx="57">
                  <c:v>322.928741</c:v>
                </c:pt>
                <c:pt idx="58">
                  <c:v>323.41873199999998</c:v>
                </c:pt>
                <c:pt idx="59">
                  <c:v>323.908661</c:v>
                </c:pt>
                <c:pt idx="60">
                  <c:v>324.39865099999997</c:v>
                </c:pt>
                <c:pt idx="61">
                  <c:v>324.88864100000001</c:v>
                </c:pt>
                <c:pt idx="62">
                  <c:v>325.37863199999998</c:v>
                </c:pt>
                <c:pt idx="63">
                  <c:v>325.86862200000002</c:v>
                </c:pt>
                <c:pt idx="64">
                  <c:v>326.35855099999998</c:v>
                </c:pt>
                <c:pt idx="65">
                  <c:v>326.84854100000001</c:v>
                </c:pt>
                <c:pt idx="66">
                  <c:v>327.33853199999999</c:v>
                </c:pt>
                <c:pt idx="67">
                  <c:v>327.82852200000002</c:v>
                </c:pt>
                <c:pt idx="68">
                  <c:v>328.31848100000002</c:v>
                </c:pt>
                <c:pt idx="69">
                  <c:v>328.80844100000002</c:v>
                </c:pt>
                <c:pt idx="70">
                  <c:v>329.29843099999999</c:v>
                </c:pt>
                <c:pt idx="71">
                  <c:v>329.78842200000003</c:v>
                </c:pt>
                <c:pt idx="72">
                  <c:v>330.278412</c:v>
                </c:pt>
                <c:pt idx="73">
                  <c:v>330.768372</c:v>
                </c:pt>
                <c:pt idx="74">
                  <c:v>331.25836199999998</c:v>
                </c:pt>
                <c:pt idx="75">
                  <c:v>331.74832199999997</c:v>
                </c:pt>
                <c:pt idx="76">
                  <c:v>332.23831200000001</c:v>
                </c:pt>
                <c:pt idx="77">
                  <c:v>332.72830199999999</c:v>
                </c:pt>
                <c:pt idx="78">
                  <c:v>333.21826199999998</c:v>
                </c:pt>
                <c:pt idx="79">
                  <c:v>333.70825200000002</c:v>
                </c:pt>
                <c:pt idx="80">
                  <c:v>334.19821200000001</c:v>
                </c:pt>
                <c:pt idx="81">
                  <c:v>334.68820199999999</c:v>
                </c:pt>
                <c:pt idx="82">
                  <c:v>335.17816199999999</c:v>
                </c:pt>
                <c:pt idx="83">
                  <c:v>335.66815200000002</c:v>
                </c:pt>
                <c:pt idx="84">
                  <c:v>336.158142</c:v>
                </c:pt>
                <c:pt idx="85">
                  <c:v>336.64810199999999</c:v>
                </c:pt>
                <c:pt idx="86">
                  <c:v>337.13809199999997</c:v>
                </c:pt>
                <c:pt idx="87">
                  <c:v>337.62805200000003</c:v>
                </c:pt>
                <c:pt idx="88">
                  <c:v>338.118042</c:v>
                </c:pt>
                <c:pt idx="89">
                  <c:v>338.60803199999998</c:v>
                </c:pt>
                <c:pt idx="90">
                  <c:v>339.09799199999998</c:v>
                </c:pt>
                <c:pt idx="91">
                  <c:v>339.58798200000001</c:v>
                </c:pt>
                <c:pt idx="92">
                  <c:v>340.07794200000001</c:v>
                </c:pt>
                <c:pt idx="93">
                  <c:v>340.56793199999998</c:v>
                </c:pt>
                <c:pt idx="94">
                  <c:v>341.05792200000002</c:v>
                </c:pt>
                <c:pt idx="95">
                  <c:v>341.54788200000002</c:v>
                </c:pt>
                <c:pt idx="96">
                  <c:v>342.03784200000001</c:v>
                </c:pt>
                <c:pt idx="97">
                  <c:v>342.52783199999999</c:v>
                </c:pt>
                <c:pt idx="98">
                  <c:v>343.01782200000002</c:v>
                </c:pt>
                <c:pt idx="99">
                  <c:v>343.507813</c:v>
                </c:pt>
                <c:pt idx="100">
                  <c:v>343.997772</c:v>
                </c:pt>
                <c:pt idx="101">
                  <c:v>344.48773199999999</c:v>
                </c:pt>
                <c:pt idx="102">
                  <c:v>344.97772200000003</c:v>
                </c:pt>
                <c:pt idx="103">
                  <c:v>345.46771200000001</c:v>
                </c:pt>
                <c:pt idx="104">
                  <c:v>345.95770299999998</c:v>
                </c:pt>
                <c:pt idx="105">
                  <c:v>346.44766199999998</c:v>
                </c:pt>
                <c:pt idx="106">
                  <c:v>346.93762199999998</c:v>
                </c:pt>
                <c:pt idx="107">
                  <c:v>347.42761200000001</c:v>
                </c:pt>
                <c:pt idx="108">
                  <c:v>347.91760299999999</c:v>
                </c:pt>
                <c:pt idx="109">
                  <c:v>348.40759300000002</c:v>
                </c:pt>
                <c:pt idx="110">
                  <c:v>348.89752199999998</c:v>
                </c:pt>
                <c:pt idx="111">
                  <c:v>349.38751200000002</c:v>
                </c:pt>
                <c:pt idx="112">
                  <c:v>349.87750199999999</c:v>
                </c:pt>
                <c:pt idx="113">
                  <c:v>350.36749300000002</c:v>
                </c:pt>
                <c:pt idx="114">
                  <c:v>350.857483</c:v>
                </c:pt>
                <c:pt idx="115">
                  <c:v>351.34741200000002</c:v>
                </c:pt>
                <c:pt idx="116">
                  <c:v>351.837402</c:v>
                </c:pt>
                <c:pt idx="117">
                  <c:v>352.32739299999997</c:v>
                </c:pt>
                <c:pt idx="118">
                  <c:v>352.81738300000001</c:v>
                </c:pt>
                <c:pt idx="119">
                  <c:v>353.30737299999998</c:v>
                </c:pt>
                <c:pt idx="120">
                  <c:v>353.797302</c:v>
                </c:pt>
                <c:pt idx="121">
                  <c:v>354.28729199999998</c:v>
                </c:pt>
                <c:pt idx="122">
                  <c:v>354.77728300000001</c:v>
                </c:pt>
                <c:pt idx="123">
                  <c:v>355.26727299999999</c:v>
                </c:pt>
                <c:pt idx="124">
                  <c:v>355.75726300000002</c:v>
                </c:pt>
                <c:pt idx="125">
                  <c:v>356.24722300000002</c:v>
                </c:pt>
                <c:pt idx="126">
                  <c:v>356.73718300000002</c:v>
                </c:pt>
                <c:pt idx="127">
                  <c:v>357.22717299999999</c:v>
                </c:pt>
                <c:pt idx="128">
                  <c:v>357.71716300000003</c:v>
                </c:pt>
                <c:pt idx="129">
                  <c:v>358.20712300000002</c:v>
                </c:pt>
                <c:pt idx="130">
                  <c:v>358.697113</c:v>
                </c:pt>
                <c:pt idx="131">
                  <c:v>359.187073</c:v>
                </c:pt>
                <c:pt idx="132">
                  <c:v>359.67706299999998</c:v>
                </c:pt>
                <c:pt idx="133">
                  <c:v>360.16705300000001</c:v>
                </c:pt>
                <c:pt idx="134">
                  <c:v>360.65701300000001</c:v>
                </c:pt>
                <c:pt idx="135">
                  <c:v>361.14700299999998</c:v>
                </c:pt>
                <c:pt idx="136">
                  <c:v>361.63696299999998</c:v>
                </c:pt>
                <c:pt idx="137">
                  <c:v>362.12695300000001</c:v>
                </c:pt>
                <c:pt idx="138">
                  <c:v>362.61691300000001</c:v>
                </c:pt>
                <c:pt idx="139">
                  <c:v>363.10690299999999</c:v>
                </c:pt>
                <c:pt idx="140">
                  <c:v>363.59689300000002</c:v>
                </c:pt>
                <c:pt idx="141">
                  <c:v>364.08685300000002</c:v>
                </c:pt>
                <c:pt idx="142">
                  <c:v>364.576843</c:v>
                </c:pt>
                <c:pt idx="143">
                  <c:v>365.06680299999999</c:v>
                </c:pt>
                <c:pt idx="144">
                  <c:v>365.55679300000003</c:v>
                </c:pt>
                <c:pt idx="145">
                  <c:v>366.046783</c:v>
                </c:pt>
                <c:pt idx="146">
                  <c:v>366.536743</c:v>
                </c:pt>
                <c:pt idx="147">
                  <c:v>367.02673299999998</c:v>
                </c:pt>
                <c:pt idx="148">
                  <c:v>367.51669299999998</c:v>
                </c:pt>
                <c:pt idx="149">
                  <c:v>368.00668300000001</c:v>
                </c:pt>
                <c:pt idx="150">
                  <c:v>368.49667399999998</c:v>
                </c:pt>
                <c:pt idx="151">
                  <c:v>368.98663299999998</c:v>
                </c:pt>
                <c:pt idx="152">
                  <c:v>369.47659299999998</c:v>
                </c:pt>
                <c:pt idx="153">
                  <c:v>369.96658300000001</c:v>
                </c:pt>
                <c:pt idx="154">
                  <c:v>370.45657399999999</c:v>
                </c:pt>
                <c:pt idx="155">
                  <c:v>370.94656400000002</c:v>
                </c:pt>
                <c:pt idx="156">
                  <c:v>371.43652300000002</c:v>
                </c:pt>
                <c:pt idx="157">
                  <c:v>371.92648300000002</c:v>
                </c:pt>
                <c:pt idx="158">
                  <c:v>372.416473</c:v>
                </c:pt>
                <c:pt idx="159">
                  <c:v>372.90646400000003</c:v>
                </c:pt>
                <c:pt idx="160">
                  <c:v>373.39645400000001</c:v>
                </c:pt>
                <c:pt idx="161">
                  <c:v>373.886414</c:v>
                </c:pt>
                <c:pt idx="162">
                  <c:v>374.376373</c:v>
                </c:pt>
                <c:pt idx="163">
                  <c:v>374.86636399999998</c:v>
                </c:pt>
                <c:pt idx="164">
                  <c:v>375.35635400000001</c:v>
                </c:pt>
                <c:pt idx="165">
                  <c:v>375.84634399999999</c:v>
                </c:pt>
                <c:pt idx="166">
                  <c:v>376.33627300000001</c:v>
                </c:pt>
                <c:pt idx="167">
                  <c:v>376.82626299999998</c:v>
                </c:pt>
                <c:pt idx="168">
                  <c:v>377.31625400000001</c:v>
                </c:pt>
                <c:pt idx="169">
                  <c:v>377.80624399999999</c:v>
                </c:pt>
                <c:pt idx="170">
                  <c:v>378.29623400000003</c:v>
                </c:pt>
                <c:pt idx="171">
                  <c:v>378.78616299999999</c:v>
                </c:pt>
                <c:pt idx="172">
                  <c:v>379.27615400000002</c:v>
                </c:pt>
                <c:pt idx="173">
                  <c:v>379.766144</c:v>
                </c:pt>
                <c:pt idx="174">
                  <c:v>380.25613399999997</c:v>
                </c:pt>
                <c:pt idx="175">
                  <c:v>380.74612400000001</c:v>
                </c:pt>
                <c:pt idx="176">
                  <c:v>381.23608400000001</c:v>
                </c:pt>
                <c:pt idx="177">
                  <c:v>381.726044</c:v>
                </c:pt>
                <c:pt idx="178">
                  <c:v>382.21603399999998</c:v>
                </c:pt>
                <c:pt idx="179">
                  <c:v>382.70602400000001</c:v>
                </c:pt>
                <c:pt idx="180">
                  <c:v>383.19601399999999</c:v>
                </c:pt>
                <c:pt idx="181">
                  <c:v>383.68597399999999</c:v>
                </c:pt>
                <c:pt idx="182">
                  <c:v>384.17593399999998</c:v>
                </c:pt>
                <c:pt idx="183">
                  <c:v>384.66592400000002</c:v>
                </c:pt>
                <c:pt idx="184">
                  <c:v>385.155914</c:v>
                </c:pt>
                <c:pt idx="185">
                  <c:v>385.64587399999999</c:v>
                </c:pt>
                <c:pt idx="186">
                  <c:v>386.13586400000003</c:v>
                </c:pt>
                <c:pt idx="187">
                  <c:v>386.62582400000002</c:v>
                </c:pt>
                <c:pt idx="188">
                  <c:v>387.115814</c:v>
                </c:pt>
                <c:pt idx="189">
                  <c:v>387.60580399999998</c:v>
                </c:pt>
                <c:pt idx="190">
                  <c:v>388.09576399999997</c:v>
                </c:pt>
                <c:pt idx="191">
                  <c:v>388.58575400000001</c:v>
                </c:pt>
                <c:pt idx="192">
                  <c:v>389.075714</c:v>
                </c:pt>
                <c:pt idx="193">
                  <c:v>389.56570399999998</c:v>
                </c:pt>
                <c:pt idx="194">
                  <c:v>390.05569500000001</c:v>
                </c:pt>
                <c:pt idx="195">
                  <c:v>390.54565400000001</c:v>
                </c:pt>
                <c:pt idx="196">
                  <c:v>391.03564499999999</c:v>
                </c:pt>
                <c:pt idx="197">
                  <c:v>391.52560399999999</c:v>
                </c:pt>
                <c:pt idx="198">
                  <c:v>392.01559400000002</c:v>
                </c:pt>
                <c:pt idx="199">
                  <c:v>392.50555400000002</c:v>
                </c:pt>
                <c:pt idx="200">
                  <c:v>392.995544</c:v>
                </c:pt>
                <c:pt idx="201">
                  <c:v>393.48553500000003</c:v>
                </c:pt>
                <c:pt idx="202">
                  <c:v>393.97549400000003</c:v>
                </c:pt>
                <c:pt idx="203">
                  <c:v>394.465485</c:v>
                </c:pt>
                <c:pt idx="204">
                  <c:v>394.955444</c:v>
                </c:pt>
                <c:pt idx="205">
                  <c:v>395.44543499999997</c:v>
                </c:pt>
                <c:pt idx="206">
                  <c:v>395.93542500000001</c:v>
                </c:pt>
                <c:pt idx="207">
                  <c:v>396.42538500000001</c:v>
                </c:pt>
                <c:pt idx="208">
                  <c:v>396.91537499999998</c:v>
                </c:pt>
                <c:pt idx="209">
                  <c:v>397.40533399999998</c:v>
                </c:pt>
                <c:pt idx="210">
                  <c:v>397.89532500000001</c:v>
                </c:pt>
                <c:pt idx="211">
                  <c:v>398.38531499999999</c:v>
                </c:pt>
                <c:pt idx="212">
                  <c:v>398.87527499999999</c:v>
                </c:pt>
                <c:pt idx="213">
                  <c:v>399.36523399999999</c:v>
                </c:pt>
                <c:pt idx="214">
                  <c:v>399.85522500000002</c:v>
                </c:pt>
                <c:pt idx="215">
                  <c:v>400.345215</c:v>
                </c:pt>
                <c:pt idx="216">
                  <c:v>400.83520499999997</c:v>
                </c:pt>
                <c:pt idx="217">
                  <c:v>401.32516500000003</c:v>
                </c:pt>
                <c:pt idx="218">
                  <c:v>401.81512500000002</c:v>
                </c:pt>
                <c:pt idx="219">
                  <c:v>402.305115</c:v>
                </c:pt>
                <c:pt idx="220">
                  <c:v>402.79510499999998</c:v>
                </c:pt>
                <c:pt idx="221">
                  <c:v>403.28509500000001</c:v>
                </c:pt>
                <c:pt idx="222">
                  <c:v>403.77505500000001</c:v>
                </c:pt>
                <c:pt idx="223">
                  <c:v>404.26501500000001</c:v>
                </c:pt>
                <c:pt idx="224">
                  <c:v>404.75500499999998</c:v>
                </c:pt>
                <c:pt idx="225">
                  <c:v>405.24499500000002</c:v>
                </c:pt>
                <c:pt idx="226">
                  <c:v>405.73498499999999</c:v>
                </c:pt>
                <c:pt idx="227">
                  <c:v>406.22494499999999</c:v>
                </c:pt>
                <c:pt idx="228">
                  <c:v>406.71490499999999</c:v>
                </c:pt>
                <c:pt idx="229">
                  <c:v>407.20489500000002</c:v>
                </c:pt>
                <c:pt idx="230">
                  <c:v>407.694885</c:v>
                </c:pt>
                <c:pt idx="231">
                  <c:v>408.18487499999998</c:v>
                </c:pt>
                <c:pt idx="232">
                  <c:v>408.67483499999997</c:v>
                </c:pt>
                <c:pt idx="233">
                  <c:v>409.16479500000003</c:v>
                </c:pt>
                <c:pt idx="234">
                  <c:v>409.654785</c:v>
                </c:pt>
                <c:pt idx="235">
                  <c:v>410.14477499999998</c:v>
                </c:pt>
                <c:pt idx="236">
                  <c:v>410.63476600000001</c:v>
                </c:pt>
                <c:pt idx="237">
                  <c:v>411.12472500000001</c:v>
                </c:pt>
                <c:pt idx="238">
                  <c:v>411.61468500000001</c:v>
                </c:pt>
                <c:pt idx="239">
                  <c:v>412.10467499999999</c:v>
                </c:pt>
                <c:pt idx="240">
                  <c:v>412.59466600000002</c:v>
                </c:pt>
                <c:pt idx="241">
                  <c:v>413.08462500000002</c:v>
                </c:pt>
                <c:pt idx="242">
                  <c:v>413.57461599999999</c:v>
                </c:pt>
                <c:pt idx="243">
                  <c:v>414.06457499999999</c:v>
                </c:pt>
                <c:pt idx="244">
                  <c:v>414.55456500000003</c:v>
                </c:pt>
                <c:pt idx="245">
                  <c:v>415.044556</c:v>
                </c:pt>
                <c:pt idx="246">
                  <c:v>415.534515</c:v>
                </c:pt>
                <c:pt idx="247">
                  <c:v>416.02450599999997</c:v>
                </c:pt>
                <c:pt idx="248">
                  <c:v>416.51446499999997</c:v>
                </c:pt>
                <c:pt idx="249">
                  <c:v>417.004456</c:v>
                </c:pt>
                <c:pt idx="250">
                  <c:v>417.49444599999998</c:v>
                </c:pt>
                <c:pt idx="251">
                  <c:v>417.98440599999998</c:v>
                </c:pt>
                <c:pt idx="252">
                  <c:v>418.47439600000001</c:v>
                </c:pt>
                <c:pt idx="253">
                  <c:v>418.96435600000001</c:v>
                </c:pt>
                <c:pt idx="254">
                  <c:v>419.45434599999999</c:v>
                </c:pt>
                <c:pt idx="255">
                  <c:v>419.94430499999999</c:v>
                </c:pt>
                <c:pt idx="256">
                  <c:v>420.43429600000002</c:v>
                </c:pt>
                <c:pt idx="257">
                  <c:v>420.924286</c:v>
                </c:pt>
                <c:pt idx="258">
                  <c:v>421.41424599999999</c:v>
                </c:pt>
                <c:pt idx="259">
                  <c:v>421.90423600000003</c:v>
                </c:pt>
                <c:pt idx="260">
                  <c:v>422.39419600000002</c:v>
                </c:pt>
                <c:pt idx="261">
                  <c:v>422.884186</c:v>
                </c:pt>
                <c:pt idx="262">
                  <c:v>423.37417599999998</c:v>
                </c:pt>
                <c:pt idx="263">
                  <c:v>423.86413599999997</c:v>
                </c:pt>
                <c:pt idx="264">
                  <c:v>424.35412600000001</c:v>
                </c:pt>
                <c:pt idx="265">
                  <c:v>424.844086</c:v>
                </c:pt>
                <c:pt idx="266">
                  <c:v>425.33407599999998</c:v>
                </c:pt>
                <c:pt idx="267">
                  <c:v>425.82406600000002</c:v>
                </c:pt>
                <c:pt idx="268">
                  <c:v>426.31402600000001</c:v>
                </c:pt>
                <c:pt idx="269">
                  <c:v>426.80398600000001</c:v>
                </c:pt>
                <c:pt idx="270">
                  <c:v>427.29397599999999</c:v>
                </c:pt>
                <c:pt idx="271">
                  <c:v>427.78396600000002</c:v>
                </c:pt>
                <c:pt idx="272">
                  <c:v>428.273956</c:v>
                </c:pt>
                <c:pt idx="273">
                  <c:v>428.76391599999999</c:v>
                </c:pt>
                <c:pt idx="274">
                  <c:v>429.25387599999999</c:v>
                </c:pt>
                <c:pt idx="275">
                  <c:v>429.74386600000003</c:v>
                </c:pt>
                <c:pt idx="276">
                  <c:v>430.233856</c:v>
                </c:pt>
                <c:pt idx="277">
                  <c:v>430.72384599999998</c:v>
                </c:pt>
                <c:pt idx="278">
                  <c:v>431.21383700000001</c:v>
                </c:pt>
                <c:pt idx="279">
                  <c:v>431.70376599999997</c:v>
                </c:pt>
                <c:pt idx="280">
                  <c:v>432.19375600000001</c:v>
                </c:pt>
                <c:pt idx="281">
                  <c:v>432.68374599999999</c:v>
                </c:pt>
                <c:pt idx="282">
                  <c:v>433.17373700000002</c:v>
                </c:pt>
                <c:pt idx="283">
                  <c:v>433.66372699999999</c:v>
                </c:pt>
                <c:pt idx="284">
                  <c:v>434.15365600000001</c:v>
                </c:pt>
                <c:pt idx="285">
                  <c:v>434.64364599999999</c:v>
                </c:pt>
                <c:pt idx="286">
                  <c:v>435.13363600000002</c:v>
                </c:pt>
                <c:pt idx="287">
                  <c:v>435.623627</c:v>
                </c:pt>
                <c:pt idx="288">
                  <c:v>436.113586</c:v>
                </c:pt>
                <c:pt idx="289">
                  <c:v>436.60354599999999</c:v>
                </c:pt>
                <c:pt idx="290">
                  <c:v>437.09353599999997</c:v>
                </c:pt>
                <c:pt idx="291">
                  <c:v>437.583527</c:v>
                </c:pt>
                <c:pt idx="292">
                  <c:v>438.07351699999998</c:v>
                </c:pt>
                <c:pt idx="293">
                  <c:v>438.56347699999998</c:v>
                </c:pt>
                <c:pt idx="294">
                  <c:v>439.05343599999998</c:v>
                </c:pt>
                <c:pt idx="295">
                  <c:v>439.54342700000001</c:v>
                </c:pt>
                <c:pt idx="296">
                  <c:v>440.03341699999999</c:v>
                </c:pt>
                <c:pt idx="297">
                  <c:v>440.52340700000002</c:v>
                </c:pt>
                <c:pt idx="298">
                  <c:v>441.01336700000002</c:v>
                </c:pt>
                <c:pt idx="299">
                  <c:v>441.50332600000002</c:v>
                </c:pt>
                <c:pt idx="300">
                  <c:v>441.99331699999999</c:v>
                </c:pt>
                <c:pt idx="301">
                  <c:v>442.48330700000002</c:v>
                </c:pt>
                <c:pt idx="302">
                  <c:v>442.97326700000002</c:v>
                </c:pt>
                <c:pt idx="303">
                  <c:v>443.463257</c:v>
                </c:pt>
                <c:pt idx="304">
                  <c:v>443.953217</c:v>
                </c:pt>
                <c:pt idx="305">
                  <c:v>444.44320699999997</c:v>
                </c:pt>
                <c:pt idx="306">
                  <c:v>444.93319700000001</c:v>
                </c:pt>
                <c:pt idx="307">
                  <c:v>445.423157</c:v>
                </c:pt>
                <c:pt idx="308">
                  <c:v>445.91314699999998</c:v>
                </c:pt>
                <c:pt idx="309">
                  <c:v>446.40310699999998</c:v>
                </c:pt>
                <c:pt idx="310">
                  <c:v>446.89309700000001</c:v>
                </c:pt>
                <c:pt idx="311">
                  <c:v>447.38308699999999</c:v>
                </c:pt>
                <c:pt idx="312">
                  <c:v>447.87304699999999</c:v>
                </c:pt>
                <c:pt idx="313">
                  <c:v>448.36303700000002</c:v>
                </c:pt>
                <c:pt idx="314">
                  <c:v>448.85299700000002</c:v>
                </c:pt>
                <c:pt idx="315">
                  <c:v>449.34298699999999</c:v>
                </c:pt>
                <c:pt idx="316">
                  <c:v>449.83294699999999</c:v>
                </c:pt>
                <c:pt idx="317">
                  <c:v>450.32293700000002</c:v>
                </c:pt>
                <c:pt idx="318">
                  <c:v>450.812927</c:v>
                </c:pt>
                <c:pt idx="319">
                  <c:v>451.302887</c:v>
                </c:pt>
                <c:pt idx="320">
                  <c:v>451.79287699999998</c:v>
                </c:pt>
                <c:pt idx="321">
                  <c:v>452.28283699999997</c:v>
                </c:pt>
                <c:pt idx="322">
                  <c:v>452.77282700000001</c:v>
                </c:pt>
                <c:pt idx="323">
                  <c:v>453.26281699999998</c:v>
                </c:pt>
                <c:pt idx="324">
                  <c:v>453.75277699999998</c:v>
                </c:pt>
                <c:pt idx="325">
                  <c:v>454.24273699999998</c:v>
                </c:pt>
                <c:pt idx="326">
                  <c:v>454.73272700000001</c:v>
                </c:pt>
                <c:pt idx="327">
                  <c:v>455.22271699999999</c:v>
                </c:pt>
                <c:pt idx="328">
                  <c:v>455.71270800000002</c:v>
                </c:pt>
                <c:pt idx="329">
                  <c:v>456.202698</c:v>
                </c:pt>
                <c:pt idx="330">
                  <c:v>456.69262700000002</c:v>
                </c:pt>
                <c:pt idx="331">
                  <c:v>457.18261699999999</c:v>
                </c:pt>
                <c:pt idx="332">
                  <c:v>457.67260700000003</c:v>
                </c:pt>
                <c:pt idx="333">
                  <c:v>458.162598</c:v>
                </c:pt>
                <c:pt idx="334">
                  <c:v>458.65258799999998</c:v>
                </c:pt>
                <c:pt idx="335">
                  <c:v>459.142517</c:v>
                </c:pt>
                <c:pt idx="336">
                  <c:v>459.63250699999998</c:v>
                </c:pt>
                <c:pt idx="337">
                  <c:v>460.12249800000001</c:v>
                </c:pt>
                <c:pt idx="338">
                  <c:v>460.61248799999998</c:v>
                </c:pt>
                <c:pt idx="339">
                  <c:v>461.10247800000002</c:v>
                </c:pt>
                <c:pt idx="340">
                  <c:v>461.59240699999998</c:v>
                </c:pt>
                <c:pt idx="341">
                  <c:v>462.08239700000001</c:v>
                </c:pt>
                <c:pt idx="342">
                  <c:v>462.57238799999999</c:v>
                </c:pt>
                <c:pt idx="343">
                  <c:v>463.06237800000002</c:v>
                </c:pt>
                <c:pt idx="344">
                  <c:v>463.55233800000002</c:v>
                </c:pt>
                <c:pt idx="345">
                  <c:v>464.04229700000002</c:v>
                </c:pt>
                <c:pt idx="346">
                  <c:v>464.53228799999999</c:v>
                </c:pt>
                <c:pt idx="347">
                  <c:v>465.02227800000003</c:v>
                </c:pt>
                <c:pt idx="348">
                  <c:v>465.51226800000001</c:v>
                </c:pt>
                <c:pt idx="349">
                  <c:v>466.002228</c:v>
                </c:pt>
                <c:pt idx="350">
                  <c:v>466.492188</c:v>
                </c:pt>
                <c:pt idx="351">
                  <c:v>466.98217799999998</c:v>
                </c:pt>
                <c:pt idx="352">
                  <c:v>467.47216800000001</c:v>
                </c:pt>
                <c:pt idx="353">
                  <c:v>467.96215799999999</c:v>
                </c:pt>
                <c:pt idx="354">
                  <c:v>468.45211799999998</c:v>
                </c:pt>
                <c:pt idx="355">
                  <c:v>468.94207799999998</c:v>
                </c:pt>
                <c:pt idx="356">
                  <c:v>469.43206800000002</c:v>
                </c:pt>
                <c:pt idx="357">
                  <c:v>469.92205799999999</c:v>
                </c:pt>
                <c:pt idx="358">
                  <c:v>470.41201799999999</c:v>
                </c:pt>
                <c:pt idx="359">
                  <c:v>470.90200800000002</c:v>
                </c:pt>
                <c:pt idx="360">
                  <c:v>471.39196800000002</c:v>
                </c:pt>
                <c:pt idx="361">
                  <c:v>471.881958</c:v>
                </c:pt>
                <c:pt idx="362">
                  <c:v>472.37194799999997</c:v>
                </c:pt>
                <c:pt idx="363">
                  <c:v>472.86190800000003</c:v>
                </c:pt>
                <c:pt idx="364">
                  <c:v>473.35189800000001</c:v>
                </c:pt>
                <c:pt idx="365">
                  <c:v>473.841858</c:v>
                </c:pt>
                <c:pt idx="366">
                  <c:v>474.33184799999998</c:v>
                </c:pt>
                <c:pt idx="367">
                  <c:v>474.82183800000001</c:v>
                </c:pt>
                <c:pt idx="368">
                  <c:v>475.31179800000001</c:v>
                </c:pt>
                <c:pt idx="369">
                  <c:v>475.80178799999999</c:v>
                </c:pt>
                <c:pt idx="370">
                  <c:v>476.29174799999998</c:v>
                </c:pt>
                <c:pt idx="371">
                  <c:v>476.78173800000002</c:v>
                </c:pt>
                <c:pt idx="372">
                  <c:v>477.27169800000001</c:v>
                </c:pt>
                <c:pt idx="373">
                  <c:v>477.76168799999999</c:v>
                </c:pt>
                <c:pt idx="374">
                  <c:v>478.25167800000003</c:v>
                </c:pt>
                <c:pt idx="375">
                  <c:v>478.74163800000002</c:v>
                </c:pt>
                <c:pt idx="376">
                  <c:v>479.231628</c:v>
                </c:pt>
                <c:pt idx="377">
                  <c:v>479.721588</c:v>
                </c:pt>
                <c:pt idx="378">
                  <c:v>480.21157799999997</c:v>
                </c:pt>
                <c:pt idx="379">
                  <c:v>480.70156900000001</c:v>
                </c:pt>
                <c:pt idx="380">
                  <c:v>481.19155899999998</c:v>
                </c:pt>
                <c:pt idx="381">
                  <c:v>481.68151899999998</c:v>
                </c:pt>
                <c:pt idx="382">
                  <c:v>482.17147799999998</c:v>
                </c:pt>
                <c:pt idx="383">
                  <c:v>482.66146900000001</c:v>
                </c:pt>
                <c:pt idx="384">
                  <c:v>483.15145899999999</c:v>
                </c:pt>
                <c:pt idx="385">
                  <c:v>483.64144900000002</c:v>
                </c:pt>
                <c:pt idx="386">
                  <c:v>484.13137799999998</c:v>
                </c:pt>
                <c:pt idx="387">
                  <c:v>484.62136800000002</c:v>
                </c:pt>
                <c:pt idx="388">
                  <c:v>485.11135899999999</c:v>
                </c:pt>
                <c:pt idx="389">
                  <c:v>485.60134900000003</c:v>
                </c:pt>
                <c:pt idx="390">
                  <c:v>486.091339</c:v>
                </c:pt>
                <c:pt idx="391">
                  <c:v>486.58126800000002</c:v>
                </c:pt>
                <c:pt idx="392">
                  <c:v>487.071259</c:v>
                </c:pt>
                <c:pt idx="393">
                  <c:v>487.56124899999998</c:v>
                </c:pt>
                <c:pt idx="394">
                  <c:v>488.05123900000001</c:v>
                </c:pt>
                <c:pt idx="395">
                  <c:v>488.54122899999999</c:v>
                </c:pt>
                <c:pt idx="396">
                  <c:v>489.031158</c:v>
                </c:pt>
                <c:pt idx="397">
                  <c:v>489.52114899999998</c:v>
                </c:pt>
                <c:pt idx="398">
                  <c:v>490.01113900000001</c:v>
                </c:pt>
                <c:pt idx="399">
                  <c:v>490.50112899999999</c:v>
                </c:pt>
                <c:pt idx="400">
                  <c:v>490.99108899999999</c:v>
                </c:pt>
                <c:pt idx="401">
                  <c:v>491.48104899999998</c:v>
                </c:pt>
                <c:pt idx="402">
                  <c:v>491.97103900000002</c:v>
                </c:pt>
                <c:pt idx="403">
                  <c:v>492.461029</c:v>
                </c:pt>
                <c:pt idx="404">
                  <c:v>492.95101899999997</c:v>
                </c:pt>
                <c:pt idx="405">
                  <c:v>493.44097900000003</c:v>
                </c:pt>
                <c:pt idx="406">
                  <c:v>493.93093900000002</c:v>
                </c:pt>
                <c:pt idx="407">
                  <c:v>494.420929</c:v>
                </c:pt>
                <c:pt idx="408">
                  <c:v>494.91091899999998</c:v>
                </c:pt>
                <c:pt idx="409">
                  <c:v>495.40090900000001</c:v>
                </c:pt>
                <c:pt idx="410">
                  <c:v>495.89086900000001</c:v>
                </c:pt>
                <c:pt idx="411">
                  <c:v>496.38082900000001</c:v>
                </c:pt>
                <c:pt idx="412">
                  <c:v>496.87081899999998</c:v>
                </c:pt>
                <c:pt idx="413">
                  <c:v>497.36080900000002</c:v>
                </c:pt>
                <c:pt idx="414">
                  <c:v>497.85076900000001</c:v>
                </c:pt>
                <c:pt idx="415">
                  <c:v>498.34075899999999</c:v>
                </c:pt>
                <c:pt idx="416">
                  <c:v>498.83071899999999</c:v>
                </c:pt>
                <c:pt idx="417">
                  <c:v>499.32070900000002</c:v>
                </c:pt>
                <c:pt idx="418">
                  <c:v>499.810699</c:v>
                </c:pt>
                <c:pt idx="419">
                  <c:v>500.300659</c:v>
                </c:pt>
                <c:pt idx="420">
                  <c:v>500.79064899999997</c:v>
                </c:pt>
                <c:pt idx="421">
                  <c:v>501.28064000000001</c:v>
                </c:pt>
                <c:pt idx="422">
                  <c:v>501.770599</c:v>
                </c:pt>
                <c:pt idx="423">
                  <c:v>502.26058999999998</c:v>
                </c:pt>
                <c:pt idx="424">
                  <c:v>502.75054899999998</c:v>
                </c:pt>
                <c:pt idx="425">
                  <c:v>503.24054000000001</c:v>
                </c:pt>
                <c:pt idx="426">
                  <c:v>503.73049900000001</c:v>
                </c:pt>
                <c:pt idx="427">
                  <c:v>504.22048999999998</c:v>
                </c:pt>
                <c:pt idx="428">
                  <c:v>504.71044899999998</c:v>
                </c:pt>
                <c:pt idx="429">
                  <c:v>505.20043900000002</c:v>
                </c:pt>
                <c:pt idx="430">
                  <c:v>505.69042999999999</c:v>
                </c:pt>
                <c:pt idx="431">
                  <c:v>506.18042000000003</c:v>
                </c:pt>
                <c:pt idx="432">
                  <c:v>506.67038000000002</c:v>
                </c:pt>
                <c:pt idx="433">
                  <c:v>507.16033900000002</c:v>
                </c:pt>
                <c:pt idx="434">
                  <c:v>507.65033</c:v>
                </c:pt>
                <c:pt idx="435">
                  <c:v>508.14031999999997</c:v>
                </c:pt>
                <c:pt idx="436">
                  <c:v>508.63031000000001</c:v>
                </c:pt>
                <c:pt idx="437">
                  <c:v>509.12027</c:v>
                </c:pt>
                <c:pt idx="438">
                  <c:v>509.61023</c:v>
                </c:pt>
                <c:pt idx="439">
                  <c:v>510.10021999999998</c:v>
                </c:pt>
                <c:pt idx="440">
                  <c:v>510.59021000000001</c:v>
                </c:pt>
                <c:pt idx="441">
                  <c:v>511.08019999999999</c:v>
                </c:pt>
                <c:pt idx="442">
                  <c:v>511.57012900000001</c:v>
                </c:pt>
                <c:pt idx="443">
                  <c:v>512.06011999999998</c:v>
                </c:pt>
                <c:pt idx="444">
                  <c:v>512.55011000000002</c:v>
                </c:pt>
                <c:pt idx="445">
                  <c:v>513.04010000000005</c:v>
                </c:pt>
                <c:pt idx="446">
                  <c:v>513.53008999999997</c:v>
                </c:pt>
                <c:pt idx="447">
                  <c:v>514.02002000000005</c:v>
                </c:pt>
                <c:pt idx="448">
                  <c:v>514.51000999999997</c:v>
                </c:pt>
                <c:pt idx="449">
                  <c:v>515</c:v>
                </c:pt>
              </c:numCache>
            </c:numRef>
          </c:xVal>
          <c:yVal>
            <c:numRef>
              <c:f>Sheet1!$B$2:$B$451</c:f>
              <c:numCache>
                <c:formatCode>General</c:formatCode>
                <c:ptCount val="450"/>
                <c:pt idx="0">
                  <c:v>-100</c:v>
                </c:pt>
                <c:pt idx="1">
                  <c:v>-100</c:v>
                </c:pt>
                <c:pt idx="2">
                  <c:v>-100</c:v>
                </c:pt>
                <c:pt idx="3">
                  <c:v>-100</c:v>
                </c:pt>
                <c:pt idx="4">
                  <c:v>-100</c:v>
                </c:pt>
                <c:pt idx="5">
                  <c:v>-100</c:v>
                </c:pt>
                <c:pt idx="6">
                  <c:v>-100</c:v>
                </c:pt>
                <c:pt idx="7">
                  <c:v>-100</c:v>
                </c:pt>
                <c:pt idx="8">
                  <c:v>-100</c:v>
                </c:pt>
                <c:pt idx="9">
                  <c:v>-100</c:v>
                </c:pt>
                <c:pt idx="10">
                  <c:v>-41.969000000000001</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-48.530999999999999</c:v>
                </c:pt>
                <c:pt idx="31">
                  <c:v>-41.5</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-42</c:v>
                </c:pt>
                <c:pt idx="52">
                  <c:v>-100</c:v>
                </c:pt>
                <c:pt idx="53">
                  <c:v>-100</c:v>
                </c:pt>
                <c:pt idx="54">
                  <c:v>-100</c:v>
                </c:pt>
                <c:pt idx="55">
                  <c:v>-100</c:v>
                </c:pt>
                <c:pt idx="56">
                  <c:v>-100</c:v>
                </c:pt>
                <c:pt idx="57">
                  <c:v>-100</c:v>
                </c:pt>
                <c:pt idx="58">
                  <c:v>-100</c:v>
                </c:pt>
                <c:pt idx="59">
                  <c:v>-100</c:v>
                </c:pt>
                <c:pt idx="60">
                  <c:v>-100</c:v>
                </c:pt>
                <c:pt idx="61">
                  <c:v>-100</c:v>
                </c:pt>
                <c:pt idx="62">
                  <c:v>-100</c:v>
                </c:pt>
                <c:pt idx="63">
                  <c:v>-100</c:v>
                </c:pt>
                <c:pt idx="64">
                  <c:v>-100</c:v>
                </c:pt>
                <c:pt idx="65">
                  <c:v>-100</c:v>
                </c:pt>
                <c:pt idx="66">
                  <c:v>-100</c:v>
                </c:pt>
                <c:pt idx="67">
                  <c:v>-100</c:v>
                </c:pt>
                <c:pt idx="68">
                  <c:v>-100</c:v>
                </c:pt>
                <c:pt idx="69">
                  <c:v>-100</c:v>
                </c:pt>
                <c:pt idx="70">
                  <c:v>-100</c:v>
                </c:pt>
                <c:pt idx="71">
                  <c:v>-42</c:v>
                </c:pt>
                <c:pt idx="72">
                  <c:v>-46</c:v>
                </c:pt>
                <c:pt idx="73">
                  <c:v>-100</c:v>
                </c:pt>
                <c:pt idx="74">
                  <c:v>-100</c:v>
                </c:pt>
                <c:pt idx="75">
                  <c:v>-100</c:v>
                </c:pt>
                <c:pt idx="76">
                  <c:v>-100</c:v>
                </c:pt>
                <c:pt idx="77">
                  <c:v>-100</c:v>
                </c:pt>
                <c:pt idx="78">
                  <c:v>-100</c:v>
                </c:pt>
                <c:pt idx="79">
                  <c:v>-100</c:v>
                </c:pt>
                <c:pt idx="80">
                  <c:v>-100</c:v>
                </c:pt>
                <c:pt idx="81">
                  <c:v>-100</c:v>
                </c:pt>
                <c:pt idx="82">
                  <c:v>-100</c:v>
                </c:pt>
                <c:pt idx="83">
                  <c:v>-100</c:v>
                </c:pt>
                <c:pt idx="84">
                  <c:v>-100</c:v>
                </c:pt>
                <c:pt idx="85">
                  <c:v>-100</c:v>
                </c:pt>
                <c:pt idx="86">
                  <c:v>-100</c:v>
                </c:pt>
                <c:pt idx="87">
                  <c:v>-100</c:v>
                </c:pt>
                <c:pt idx="88">
                  <c:v>-100</c:v>
                </c:pt>
                <c:pt idx="89">
                  <c:v>-100</c:v>
                </c:pt>
                <c:pt idx="90">
                  <c:v>-100</c:v>
                </c:pt>
                <c:pt idx="91">
                  <c:v>-100</c:v>
                </c:pt>
                <c:pt idx="92">
                  <c:v>-42.530999999999999</c:v>
                </c:pt>
                <c:pt idx="93">
                  <c:v>-100</c:v>
                </c:pt>
                <c:pt idx="94">
                  <c:v>-100</c:v>
                </c:pt>
                <c:pt idx="95">
                  <c:v>-100</c:v>
                </c:pt>
                <c:pt idx="96">
                  <c:v>-100</c:v>
                </c:pt>
                <c:pt idx="97">
                  <c:v>-100</c:v>
                </c:pt>
                <c:pt idx="98">
                  <c:v>-100</c:v>
                </c:pt>
                <c:pt idx="99">
                  <c:v>-100</c:v>
                </c:pt>
                <c:pt idx="100">
                  <c:v>-100</c:v>
                </c:pt>
                <c:pt idx="101">
                  <c:v>-100</c:v>
                </c:pt>
                <c:pt idx="102">
                  <c:v>-100</c:v>
                </c:pt>
                <c:pt idx="103">
                  <c:v>-100</c:v>
                </c:pt>
                <c:pt idx="104">
                  <c:v>-100</c:v>
                </c:pt>
                <c:pt idx="105">
                  <c:v>-100</c:v>
                </c:pt>
                <c:pt idx="106">
                  <c:v>-100</c:v>
                </c:pt>
                <c:pt idx="107">
                  <c:v>-100</c:v>
                </c:pt>
                <c:pt idx="108">
                  <c:v>-100</c:v>
                </c:pt>
                <c:pt idx="109">
                  <c:v>-100</c:v>
                </c:pt>
                <c:pt idx="110">
                  <c:v>-100</c:v>
                </c:pt>
                <c:pt idx="111">
                  <c:v>-100</c:v>
                </c:pt>
                <c:pt idx="112">
                  <c:v>-42.563000000000002</c:v>
                </c:pt>
                <c:pt idx="113">
                  <c:v>-100</c:v>
                </c:pt>
                <c:pt idx="114">
                  <c:v>-100</c:v>
                </c:pt>
                <c:pt idx="115">
                  <c:v>-100</c:v>
                </c:pt>
                <c:pt idx="116">
                  <c:v>-100</c:v>
                </c:pt>
                <c:pt idx="117">
                  <c:v>-100</c:v>
                </c:pt>
                <c:pt idx="118">
                  <c:v>-100</c:v>
                </c:pt>
                <c:pt idx="119">
                  <c:v>-100</c:v>
                </c:pt>
                <c:pt idx="120">
                  <c:v>-100</c:v>
                </c:pt>
                <c:pt idx="121">
                  <c:v>-100</c:v>
                </c:pt>
                <c:pt idx="122">
                  <c:v>-100</c:v>
                </c:pt>
                <c:pt idx="123">
                  <c:v>-100</c:v>
                </c:pt>
                <c:pt idx="124">
                  <c:v>-100</c:v>
                </c:pt>
                <c:pt idx="125">
                  <c:v>-100</c:v>
                </c:pt>
                <c:pt idx="126">
                  <c:v>-100</c:v>
                </c:pt>
                <c:pt idx="127">
                  <c:v>-100</c:v>
                </c:pt>
                <c:pt idx="128">
                  <c:v>-100</c:v>
                </c:pt>
                <c:pt idx="129">
                  <c:v>-100</c:v>
                </c:pt>
                <c:pt idx="130">
                  <c:v>-100</c:v>
                </c:pt>
                <c:pt idx="131">
                  <c:v>-100</c:v>
                </c:pt>
                <c:pt idx="132">
                  <c:v>-56.563000000000002</c:v>
                </c:pt>
                <c:pt idx="133">
                  <c:v>-43.063000000000002</c:v>
                </c:pt>
                <c:pt idx="134">
                  <c:v>-100</c:v>
                </c:pt>
                <c:pt idx="135">
                  <c:v>-100</c:v>
                </c:pt>
                <c:pt idx="136">
                  <c:v>-100</c:v>
                </c:pt>
                <c:pt idx="137">
                  <c:v>-100</c:v>
                </c:pt>
                <c:pt idx="138">
                  <c:v>-100</c:v>
                </c:pt>
                <c:pt idx="139">
                  <c:v>-100</c:v>
                </c:pt>
                <c:pt idx="140">
                  <c:v>-100</c:v>
                </c:pt>
                <c:pt idx="141">
                  <c:v>-100</c:v>
                </c:pt>
                <c:pt idx="142">
                  <c:v>-100</c:v>
                </c:pt>
                <c:pt idx="143">
                  <c:v>-100</c:v>
                </c:pt>
                <c:pt idx="144">
                  <c:v>-100</c:v>
                </c:pt>
                <c:pt idx="145">
                  <c:v>-100</c:v>
                </c:pt>
                <c:pt idx="146">
                  <c:v>-100</c:v>
                </c:pt>
                <c:pt idx="147">
                  <c:v>-100</c:v>
                </c:pt>
                <c:pt idx="148">
                  <c:v>-100</c:v>
                </c:pt>
                <c:pt idx="149">
                  <c:v>-100</c:v>
                </c:pt>
                <c:pt idx="150">
                  <c:v>-100</c:v>
                </c:pt>
                <c:pt idx="151">
                  <c:v>-100</c:v>
                </c:pt>
                <c:pt idx="152">
                  <c:v>-100</c:v>
                </c:pt>
                <c:pt idx="153">
                  <c:v>-43.094000000000001</c:v>
                </c:pt>
                <c:pt idx="154">
                  <c:v>-100</c:v>
                </c:pt>
                <c:pt idx="155">
                  <c:v>-100</c:v>
                </c:pt>
                <c:pt idx="156">
                  <c:v>-100</c:v>
                </c:pt>
                <c:pt idx="157">
                  <c:v>-100</c:v>
                </c:pt>
                <c:pt idx="158">
                  <c:v>-100</c:v>
                </c:pt>
                <c:pt idx="159">
                  <c:v>-100</c:v>
                </c:pt>
                <c:pt idx="160">
                  <c:v>-100</c:v>
                </c:pt>
                <c:pt idx="161">
                  <c:v>-100</c:v>
                </c:pt>
                <c:pt idx="162">
                  <c:v>-100</c:v>
                </c:pt>
                <c:pt idx="163">
                  <c:v>-100</c:v>
                </c:pt>
                <c:pt idx="164">
                  <c:v>-100</c:v>
                </c:pt>
                <c:pt idx="165">
                  <c:v>-100</c:v>
                </c:pt>
                <c:pt idx="166">
                  <c:v>-100</c:v>
                </c:pt>
                <c:pt idx="167">
                  <c:v>-100</c:v>
                </c:pt>
                <c:pt idx="168">
                  <c:v>-100</c:v>
                </c:pt>
                <c:pt idx="169">
                  <c:v>-100</c:v>
                </c:pt>
                <c:pt idx="170">
                  <c:v>-100</c:v>
                </c:pt>
                <c:pt idx="171">
                  <c:v>-100</c:v>
                </c:pt>
                <c:pt idx="172">
                  <c:v>-100</c:v>
                </c:pt>
                <c:pt idx="173">
                  <c:v>-43.063000000000002</c:v>
                </c:pt>
                <c:pt idx="174">
                  <c:v>-44.563000000000002</c:v>
                </c:pt>
                <c:pt idx="175">
                  <c:v>-100</c:v>
                </c:pt>
                <c:pt idx="176">
                  <c:v>-100</c:v>
                </c:pt>
                <c:pt idx="177">
                  <c:v>-100</c:v>
                </c:pt>
                <c:pt idx="178">
                  <c:v>-100</c:v>
                </c:pt>
                <c:pt idx="179">
                  <c:v>-100</c:v>
                </c:pt>
                <c:pt idx="180">
                  <c:v>-100</c:v>
                </c:pt>
                <c:pt idx="181">
                  <c:v>-100</c:v>
                </c:pt>
                <c:pt idx="182">
                  <c:v>-100</c:v>
                </c:pt>
                <c:pt idx="183">
                  <c:v>-100</c:v>
                </c:pt>
                <c:pt idx="184">
                  <c:v>-100</c:v>
                </c:pt>
                <c:pt idx="185">
                  <c:v>-100</c:v>
                </c:pt>
                <c:pt idx="186">
                  <c:v>-100</c:v>
                </c:pt>
                <c:pt idx="187">
                  <c:v>-100</c:v>
                </c:pt>
                <c:pt idx="188">
                  <c:v>-100</c:v>
                </c:pt>
                <c:pt idx="189">
                  <c:v>-100</c:v>
                </c:pt>
                <c:pt idx="190">
                  <c:v>-100</c:v>
                </c:pt>
                <c:pt idx="191">
                  <c:v>-100</c:v>
                </c:pt>
                <c:pt idx="192">
                  <c:v>-100</c:v>
                </c:pt>
                <c:pt idx="193">
                  <c:v>-100</c:v>
                </c:pt>
                <c:pt idx="194">
                  <c:v>-43.563000000000002</c:v>
                </c:pt>
                <c:pt idx="195">
                  <c:v>-100</c:v>
                </c:pt>
                <c:pt idx="196">
                  <c:v>-100</c:v>
                </c:pt>
                <c:pt idx="197">
                  <c:v>-100</c:v>
                </c:pt>
                <c:pt idx="198">
                  <c:v>-100</c:v>
                </c:pt>
                <c:pt idx="199">
                  <c:v>-100</c:v>
                </c:pt>
                <c:pt idx="200">
                  <c:v>-100</c:v>
                </c:pt>
                <c:pt idx="201">
                  <c:v>-100</c:v>
                </c:pt>
                <c:pt idx="202">
                  <c:v>-100</c:v>
                </c:pt>
                <c:pt idx="203">
                  <c:v>-100</c:v>
                </c:pt>
                <c:pt idx="204">
                  <c:v>-100</c:v>
                </c:pt>
                <c:pt idx="205">
                  <c:v>-100</c:v>
                </c:pt>
                <c:pt idx="206">
                  <c:v>-100</c:v>
                </c:pt>
                <c:pt idx="207">
                  <c:v>-100</c:v>
                </c:pt>
                <c:pt idx="208">
                  <c:v>-100</c:v>
                </c:pt>
                <c:pt idx="209">
                  <c:v>-100</c:v>
                </c:pt>
                <c:pt idx="210">
                  <c:v>-100</c:v>
                </c:pt>
                <c:pt idx="211">
                  <c:v>-100</c:v>
                </c:pt>
                <c:pt idx="212">
                  <c:v>-100</c:v>
                </c:pt>
                <c:pt idx="213">
                  <c:v>-100</c:v>
                </c:pt>
                <c:pt idx="214">
                  <c:v>-43.563000000000002</c:v>
                </c:pt>
                <c:pt idx="215">
                  <c:v>-100</c:v>
                </c:pt>
                <c:pt idx="216">
                  <c:v>-100</c:v>
                </c:pt>
                <c:pt idx="217">
                  <c:v>-100</c:v>
                </c:pt>
                <c:pt idx="218">
                  <c:v>-100</c:v>
                </c:pt>
                <c:pt idx="219">
                  <c:v>-100</c:v>
                </c:pt>
                <c:pt idx="220">
                  <c:v>-100</c:v>
                </c:pt>
                <c:pt idx="221">
                  <c:v>-100</c:v>
                </c:pt>
                <c:pt idx="222">
                  <c:v>-100</c:v>
                </c:pt>
                <c:pt idx="223">
                  <c:v>-100</c:v>
                </c:pt>
                <c:pt idx="224">
                  <c:v>-100</c:v>
                </c:pt>
                <c:pt idx="225">
                  <c:v>-100</c:v>
                </c:pt>
                <c:pt idx="226">
                  <c:v>-100</c:v>
                </c:pt>
                <c:pt idx="227">
                  <c:v>-100</c:v>
                </c:pt>
                <c:pt idx="228">
                  <c:v>-100</c:v>
                </c:pt>
                <c:pt idx="229">
                  <c:v>-100</c:v>
                </c:pt>
                <c:pt idx="230">
                  <c:v>-100</c:v>
                </c:pt>
                <c:pt idx="231">
                  <c:v>-100</c:v>
                </c:pt>
                <c:pt idx="232">
                  <c:v>-100</c:v>
                </c:pt>
                <c:pt idx="233">
                  <c:v>-100</c:v>
                </c:pt>
                <c:pt idx="234">
                  <c:v>-100</c:v>
                </c:pt>
                <c:pt idx="235">
                  <c:v>-43.655999999999999</c:v>
                </c:pt>
                <c:pt idx="236">
                  <c:v>-100</c:v>
                </c:pt>
                <c:pt idx="237">
                  <c:v>-100</c:v>
                </c:pt>
                <c:pt idx="238">
                  <c:v>-100</c:v>
                </c:pt>
                <c:pt idx="239">
                  <c:v>-100</c:v>
                </c:pt>
                <c:pt idx="240">
                  <c:v>-100</c:v>
                </c:pt>
                <c:pt idx="241">
                  <c:v>-100</c:v>
                </c:pt>
                <c:pt idx="242">
                  <c:v>-100</c:v>
                </c:pt>
                <c:pt idx="243">
                  <c:v>-100</c:v>
                </c:pt>
                <c:pt idx="244">
                  <c:v>-100</c:v>
                </c:pt>
                <c:pt idx="245">
                  <c:v>-100</c:v>
                </c:pt>
                <c:pt idx="246">
                  <c:v>-100</c:v>
                </c:pt>
                <c:pt idx="247">
                  <c:v>-100</c:v>
                </c:pt>
                <c:pt idx="248">
                  <c:v>-100</c:v>
                </c:pt>
                <c:pt idx="249">
                  <c:v>-100</c:v>
                </c:pt>
                <c:pt idx="250">
                  <c:v>-100</c:v>
                </c:pt>
                <c:pt idx="251">
                  <c:v>-100</c:v>
                </c:pt>
                <c:pt idx="252">
                  <c:v>-100</c:v>
                </c:pt>
                <c:pt idx="253">
                  <c:v>-100</c:v>
                </c:pt>
                <c:pt idx="254">
                  <c:v>-100</c:v>
                </c:pt>
                <c:pt idx="255">
                  <c:v>-43.219000000000001</c:v>
                </c:pt>
                <c:pt idx="256">
                  <c:v>-100</c:v>
                </c:pt>
                <c:pt idx="257">
                  <c:v>-100</c:v>
                </c:pt>
                <c:pt idx="258">
                  <c:v>-100</c:v>
                </c:pt>
                <c:pt idx="259">
                  <c:v>-100</c:v>
                </c:pt>
                <c:pt idx="260">
                  <c:v>-100</c:v>
                </c:pt>
                <c:pt idx="261">
                  <c:v>-100</c:v>
                </c:pt>
                <c:pt idx="262">
                  <c:v>-100</c:v>
                </c:pt>
                <c:pt idx="263">
                  <c:v>-100</c:v>
                </c:pt>
                <c:pt idx="264">
                  <c:v>-100</c:v>
                </c:pt>
                <c:pt idx="265">
                  <c:v>-100</c:v>
                </c:pt>
                <c:pt idx="266">
                  <c:v>-100</c:v>
                </c:pt>
                <c:pt idx="267">
                  <c:v>-100</c:v>
                </c:pt>
                <c:pt idx="268">
                  <c:v>-100</c:v>
                </c:pt>
                <c:pt idx="269">
                  <c:v>-100</c:v>
                </c:pt>
                <c:pt idx="270">
                  <c:v>-100</c:v>
                </c:pt>
                <c:pt idx="271">
                  <c:v>-100</c:v>
                </c:pt>
                <c:pt idx="272">
                  <c:v>-100</c:v>
                </c:pt>
                <c:pt idx="273">
                  <c:v>-100</c:v>
                </c:pt>
                <c:pt idx="274">
                  <c:v>-100</c:v>
                </c:pt>
                <c:pt idx="275">
                  <c:v>-44.813000000000002</c:v>
                </c:pt>
                <c:pt idx="276">
                  <c:v>-43.313000000000002</c:v>
                </c:pt>
                <c:pt idx="277">
                  <c:v>-100</c:v>
                </c:pt>
                <c:pt idx="278">
                  <c:v>-100</c:v>
                </c:pt>
                <c:pt idx="279">
                  <c:v>-100</c:v>
                </c:pt>
                <c:pt idx="280">
                  <c:v>-100</c:v>
                </c:pt>
                <c:pt idx="281">
                  <c:v>-100</c:v>
                </c:pt>
                <c:pt idx="282">
                  <c:v>-100</c:v>
                </c:pt>
                <c:pt idx="283">
                  <c:v>-100</c:v>
                </c:pt>
                <c:pt idx="284">
                  <c:v>-100</c:v>
                </c:pt>
                <c:pt idx="285">
                  <c:v>-100</c:v>
                </c:pt>
                <c:pt idx="286">
                  <c:v>-100</c:v>
                </c:pt>
                <c:pt idx="287">
                  <c:v>-100</c:v>
                </c:pt>
                <c:pt idx="288">
                  <c:v>-100</c:v>
                </c:pt>
                <c:pt idx="289">
                  <c:v>-100</c:v>
                </c:pt>
                <c:pt idx="290">
                  <c:v>-100</c:v>
                </c:pt>
                <c:pt idx="291">
                  <c:v>-100</c:v>
                </c:pt>
                <c:pt idx="292">
                  <c:v>-100</c:v>
                </c:pt>
                <c:pt idx="293">
                  <c:v>-100</c:v>
                </c:pt>
                <c:pt idx="294">
                  <c:v>-100</c:v>
                </c:pt>
                <c:pt idx="295">
                  <c:v>-100</c:v>
                </c:pt>
                <c:pt idx="296">
                  <c:v>-42.875</c:v>
                </c:pt>
                <c:pt idx="297">
                  <c:v>-100</c:v>
                </c:pt>
                <c:pt idx="298">
                  <c:v>-100</c:v>
                </c:pt>
                <c:pt idx="299">
                  <c:v>-100</c:v>
                </c:pt>
                <c:pt idx="300">
                  <c:v>-100</c:v>
                </c:pt>
                <c:pt idx="301">
                  <c:v>-100</c:v>
                </c:pt>
                <c:pt idx="302">
                  <c:v>-100</c:v>
                </c:pt>
                <c:pt idx="303">
                  <c:v>-100</c:v>
                </c:pt>
                <c:pt idx="304">
                  <c:v>-100</c:v>
                </c:pt>
                <c:pt idx="305">
                  <c:v>-100</c:v>
                </c:pt>
                <c:pt idx="306">
                  <c:v>-100</c:v>
                </c:pt>
                <c:pt idx="307">
                  <c:v>-100</c:v>
                </c:pt>
                <c:pt idx="308">
                  <c:v>-100</c:v>
                </c:pt>
                <c:pt idx="309">
                  <c:v>-100</c:v>
                </c:pt>
                <c:pt idx="310">
                  <c:v>-100</c:v>
                </c:pt>
                <c:pt idx="311">
                  <c:v>-100</c:v>
                </c:pt>
                <c:pt idx="312">
                  <c:v>-100</c:v>
                </c:pt>
                <c:pt idx="313">
                  <c:v>-100</c:v>
                </c:pt>
                <c:pt idx="314">
                  <c:v>-100</c:v>
                </c:pt>
                <c:pt idx="315">
                  <c:v>-100</c:v>
                </c:pt>
                <c:pt idx="316">
                  <c:v>-42.469000000000001</c:v>
                </c:pt>
                <c:pt idx="317">
                  <c:v>-55.969000000000001</c:v>
                </c:pt>
                <c:pt idx="318">
                  <c:v>-100</c:v>
                </c:pt>
                <c:pt idx="319">
                  <c:v>-100</c:v>
                </c:pt>
                <c:pt idx="320">
                  <c:v>-100</c:v>
                </c:pt>
                <c:pt idx="321">
                  <c:v>-100</c:v>
                </c:pt>
                <c:pt idx="322">
                  <c:v>-100</c:v>
                </c:pt>
                <c:pt idx="323">
                  <c:v>-100</c:v>
                </c:pt>
                <c:pt idx="324">
                  <c:v>-100</c:v>
                </c:pt>
                <c:pt idx="325">
                  <c:v>-100</c:v>
                </c:pt>
                <c:pt idx="326">
                  <c:v>-100</c:v>
                </c:pt>
                <c:pt idx="327">
                  <c:v>-100</c:v>
                </c:pt>
                <c:pt idx="328">
                  <c:v>-100</c:v>
                </c:pt>
                <c:pt idx="329">
                  <c:v>-100</c:v>
                </c:pt>
                <c:pt idx="330">
                  <c:v>-100</c:v>
                </c:pt>
                <c:pt idx="331">
                  <c:v>-100</c:v>
                </c:pt>
                <c:pt idx="332">
                  <c:v>-100</c:v>
                </c:pt>
                <c:pt idx="333">
                  <c:v>-100</c:v>
                </c:pt>
                <c:pt idx="334">
                  <c:v>-100</c:v>
                </c:pt>
                <c:pt idx="335">
                  <c:v>-100</c:v>
                </c:pt>
                <c:pt idx="336">
                  <c:v>-100</c:v>
                </c:pt>
                <c:pt idx="337">
                  <c:v>-42.530999999999999</c:v>
                </c:pt>
                <c:pt idx="338">
                  <c:v>-100</c:v>
                </c:pt>
                <c:pt idx="339">
                  <c:v>-100</c:v>
                </c:pt>
                <c:pt idx="340">
                  <c:v>-100</c:v>
                </c:pt>
                <c:pt idx="341">
                  <c:v>-100</c:v>
                </c:pt>
                <c:pt idx="342">
                  <c:v>-100</c:v>
                </c:pt>
                <c:pt idx="343">
                  <c:v>-100</c:v>
                </c:pt>
                <c:pt idx="344">
                  <c:v>-100</c:v>
                </c:pt>
                <c:pt idx="345">
                  <c:v>-100</c:v>
                </c:pt>
                <c:pt idx="346">
                  <c:v>-100</c:v>
                </c:pt>
                <c:pt idx="347">
                  <c:v>-100</c:v>
                </c:pt>
                <c:pt idx="348">
                  <c:v>-100</c:v>
                </c:pt>
                <c:pt idx="349">
                  <c:v>-100</c:v>
                </c:pt>
                <c:pt idx="350">
                  <c:v>-100</c:v>
                </c:pt>
                <c:pt idx="351">
                  <c:v>-100</c:v>
                </c:pt>
                <c:pt idx="352">
                  <c:v>-100</c:v>
                </c:pt>
                <c:pt idx="353">
                  <c:v>-100</c:v>
                </c:pt>
                <c:pt idx="354">
                  <c:v>-100</c:v>
                </c:pt>
                <c:pt idx="355">
                  <c:v>-100</c:v>
                </c:pt>
                <c:pt idx="356">
                  <c:v>-100</c:v>
                </c:pt>
                <c:pt idx="357">
                  <c:v>-42.625</c:v>
                </c:pt>
                <c:pt idx="358">
                  <c:v>-100</c:v>
                </c:pt>
                <c:pt idx="359">
                  <c:v>-100</c:v>
                </c:pt>
                <c:pt idx="360">
                  <c:v>-100</c:v>
                </c:pt>
                <c:pt idx="361">
                  <c:v>-100</c:v>
                </c:pt>
                <c:pt idx="362">
                  <c:v>-100</c:v>
                </c:pt>
                <c:pt idx="363">
                  <c:v>-100</c:v>
                </c:pt>
                <c:pt idx="364">
                  <c:v>-100</c:v>
                </c:pt>
                <c:pt idx="365">
                  <c:v>-100</c:v>
                </c:pt>
                <c:pt idx="366">
                  <c:v>-100</c:v>
                </c:pt>
                <c:pt idx="367">
                  <c:v>-100</c:v>
                </c:pt>
                <c:pt idx="368">
                  <c:v>-100</c:v>
                </c:pt>
                <c:pt idx="369">
                  <c:v>-100</c:v>
                </c:pt>
                <c:pt idx="370">
                  <c:v>-100</c:v>
                </c:pt>
                <c:pt idx="371">
                  <c:v>-100</c:v>
                </c:pt>
                <c:pt idx="372">
                  <c:v>-100</c:v>
                </c:pt>
                <c:pt idx="373">
                  <c:v>-100</c:v>
                </c:pt>
                <c:pt idx="374">
                  <c:v>-100</c:v>
                </c:pt>
                <c:pt idx="375">
                  <c:v>-100</c:v>
                </c:pt>
                <c:pt idx="376">
                  <c:v>-100</c:v>
                </c:pt>
                <c:pt idx="377">
                  <c:v>-46.688000000000002</c:v>
                </c:pt>
                <c:pt idx="378">
                  <c:v>-42.688000000000002</c:v>
                </c:pt>
                <c:pt idx="379">
                  <c:v>-100</c:v>
                </c:pt>
                <c:pt idx="380">
                  <c:v>-100</c:v>
                </c:pt>
                <c:pt idx="381">
                  <c:v>-100</c:v>
                </c:pt>
                <c:pt idx="382">
                  <c:v>-100</c:v>
                </c:pt>
                <c:pt idx="383">
                  <c:v>-100</c:v>
                </c:pt>
                <c:pt idx="384">
                  <c:v>-100</c:v>
                </c:pt>
                <c:pt idx="385">
                  <c:v>-100</c:v>
                </c:pt>
                <c:pt idx="386">
                  <c:v>-100</c:v>
                </c:pt>
                <c:pt idx="387">
                  <c:v>-100</c:v>
                </c:pt>
                <c:pt idx="388">
                  <c:v>-100</c:v>
                </c:pt>
                <c:pt idx="389">
                  <c:v>-100</c:v>
                </c:pt>
                <c:pt idx="390">
                  <c:v>-100</c:v>
                </c:pt>
                <c:pt idx="391">
                  <c:v>-100</c:v>
                </c:pt>
                <c:pt idx="392">
                  <c:v>-100</c:v>
                </c:pt>
                <c:pt idx="393">
                  <c:v>-100</c:v>
                </c:pt>
                <c:pt idx="394">
                  <c:v>-100</c:v>
                </c:pt>
                <c:pt idx="395">
                  <c:v>-100</c:v>
                </c:pt>
                <c:pt idx="396">
                  <c:v>-100</c:v>
                </c:pt>
                <c:pt idx="397">
                  <c:v>-100</c:v>
                </c:pt>
                <c:pt idx="398">
                  <c:v>-43.280999999999999</c:v>
                </c:pt>
                <c:pt idx="399">
                  <c:v>-100</c:v>
                </c:pt>
                <c:pt idx="400">
                  <c:v>-100</c:v>
                </c:pt>
                <c:pt idx="401">
                  <c:v>-100</c:v>
                </c:pt>
                <c:pt idx="402">
                  <c:v>-100</c:v>
                </c:pt>
                <c:pt idx="403">
                  <c:v>-100</c:v>
                </c:pt>
                <c:pt idx="404">
                  <c:v>-100</c:v>
                </c:pt>
                <c:pt idx="405">
                  <c:v>-100</c:v>
                </c:pt>
                <c:pt idx="406">
                  <c:v>-100</c:v>
                </c:pt>
                <c:pt idx="407">
                  <c:v>-100</c:v>
                </c:pt>
                <c:pt idx="408">
                  <c:v>-100</c:v>
                </c:pt>
                <c:pt idx="409">
                  <c:v>-100</c:v>
                </c:pt>
                <c:pt idx="410">
                  <c:v>-100</c:v>
                </c:pt>
                <c:pt idx="411">
                  <c:v>-100</c:v>
                </c:pt>
                <c:pt idx="412">
                  <c:v>-100</c:v>
                </c:pt>
                <c:pt idx="413">
                  <c:v>-100</c:v>
                </c:pt>
                <c:pt idx="414">
                  <c:v>-100</c:v>
                </c:pt>
                <c:pt idx="415">
                  <c:v>-100</c:v>
                </c:pt>
                <c:pt idx="416">
                  <c:v>-100</c:v>
                </c:pt>
                <c:pt idx="417">
                  <c:v>-100</c:v>
                </c:pt>
                <c:pt idx="418">
                  <c:v>-43.844000000000001</c:v>
                </c:pt>
                <c:pt idx="419">
                  <c:v>-50.344000000000001</c:v>
                </c:pt>
                <c:pt idx="420">
                  <c:v>-100</c:v>
                </c:pt>
                <c:pt idx="421">
                  <c:v>-100</c:v>
                </c:pt>
                <c:pt idx="422">
                  <c:v>-100</c:v>
                </c:pt>
                <c:pt idx="423">
                  <c:v>-100</c:v>
                </c:pt>
                <c:pt idx="424">
                  <c:v>-100</c:v>
                </c:pt>
                <c:pt idx="425">
                  <c:v>-100</c:v>
                </c:pt>
                <c:pt idx="426">
                  <c:v>-100</c:v>
                </c:pt>
                <c:pt idx="427">
                  <c:v>-100</c:v>
                </c:pt>
                <c:pt idx="428">
                  <c:v>-100</c:v>
                </c:pt>
                <c:pt idx="429">
                  <c:v>-100</c:v>
                </c:pt>
                <c:pt idx="430">
                  <c:v>-100</c:v>
                </c:pt>
                <c:pt idx="431">
                  <c:v>-100</c:v>
                </c:pt>
                <c:pt idx="432">
                  <c:v>-100</c:v>
                </c:pt>
                <c:pt idx="433">
                  <c:v>-100</c:v>
                </c:pt>
                <c:pt idx="434">
                  <c:v>-100</c:v>
                </c:pt>
                <c:pt idx="435">
                  <c:v>-100</c:v>
                </c:pt>
                <c:pt idx="436">
                  <c:v>-100</c:v>
                </c:pt>
                <c:pt idx="437">
                  <c:v>-100</c:v>
                </c:pt>
                <c:pt idx="438">
                  <c:v>-100</c:v>
                </c:pt>
                <c:pt idx="439">
                  <c:v>-44.438000000000002</c:v>
                </c:pt>
                <c:pt idx="440">
                  <c:v>-100</c:v>
                </c:pt>
                <c:pt idx="441">
                  <c:v>-100</c:v>
                </c:pt>
                <c:pt idx="442">
                  <c:v>-100</c:v>
                </c:pt>
                <c:pt idx="443">
                  <c:v>-100</c:v>
                </c:pt>
                <c:pt idx="444">
                  <c:v>-100</c:v>
                </c:pt>
                <c:pt idx="445">
                  <c:v>-100</c:v>
                </c:pt>
                <c:pt idx="446">
                  <c:v>-100</c:v>
                </c:pt>
                <c:pt idx="447">
                  <c:v>-100</c:v>
                </c:pt>
                <c:pt idx="448">
                  <c:v>-100</c:v>
                </c:pt>
                <c:pt idx="449">
                  <c:v>-100</c:v>
                </c:pt>
              </c:numCache>
            </c:numRef>
          </c:yVal>
          <c:smooth val="0"/>
          <c:extLst>
            <c:ext xmlns:c16="http://schemas.microsoft.com/office/drawing/2014/chart" uri="{C3380CC4-5D6E-409C-BE32-E72D297353CC}">
              <c16:uniqueId val="{00000000-7130-4EDA-A977-507187AF811D}"/>
            </c:ext>
          </c:extLst>
        </c:ser>
        <c:dLbls>
          <c:showLegendKey val="0"/>
          <c:showVal val="0"/>
          <c:showCatName val="0"/>
          <c:showSerName val="0"/>
          <c:showPercent val="0"/>
          <c:showBubbleSize val="0"/>
        </c:dLbls>
        <c:axId val="-2128940872"/>
        <c:axId val="-2129643912"/>
      </c:scatterChart>
      <c:valAx>
        <c:axId val="-2128940872"/>
        <c:scaling>
          <c:orientation val="minMax"/>
          <c:max val="520"/>
          <c:min val="290"/>
        </c:scaling>
        <c:delete val="0"/>
        <c:axPos val="b"/>
        <c:majorGridlines>
          <c:spPr>
            <a:ln w="9525">
              <a:solidFill>
                <a:srgbClr val="E3E7E8"/>
              </a:solidFill>
            </a:ln>
          </c:spPr>
        </c:majorGridlines>
        <c:title>
          <c:tx>
            <c:rich>
              <a:bodyPr/>
              <a:lstStyle/>
              <a:p>
                <a:r>
                  <a:rPr lang="en-US" sz="1100" b="0">
                    <a:solidFill>
                      <a:srgbClr val="666666"/>
                    </a:solidFill>
                  </a:rPr>
                  <a:t>Frecuencia (MHz)</a:t>
                </a:r>
              </a:p>
            </c:rich>
          </c:tx>
          <c:overlay val="0"/>
        </c:title>
        <c:numFmt formatCode="General" sourceLinked="1"/>
        <c:majorTickMark val="out"/>
        <c:minorTickMark val="none"/>
        <c:tickLblPos val="low"/>
        <c:spPr>
          <a:ln>
            <a:solidFill>
              <a:srgbClr val="C9D1D4"/>
            </a:solidFill>
          </a:ln>
        </c:spPr>
        <c:txPr>
          <a:bodyPr/>
          <a:lstStyle/>
          <a:p>
            <a:pPr>
              <a:defRPr sz="1100"/>
            </a:pPr>
            <a:endParaRPr lang="en-US"/>
          </a:p>
        </c:txPr>
        <c:crossAx val="-2129643912"/>
        <c:crosses val="autoZero"/>
        <c:crossBetween val="midCat"/>
        <c:majorUnit val="10"/>
      </c:valAx>
      <c:valAx>
        <c:axId val="-2129643912"/>
        <c:scaling>
          <c:orientation val="minMax"/>
          <c:max val="-30"/>
          <c:min val="-100"/>
        </c:scaling>
        <c:delete val="0"/>
        <c:axPos val="l"/>
        <c:majorGridlines>
          <c:spPr>
            <a:ln w="9525">
              <a:solidFill>
                <a:srgbClr val="E3E7E8"/>
              </a:solidFill>
            </a:ln>
          </c:spPr>
        </c:majorGridlines>
        <c:title>
          <c:tx>
            <c:rich>
              <a:bodyPr/>
              <a:lstStyle/>
              <a:p>
                <a:r>
                  <a:rPr lang="en-US" sz="1100" b="0">
                    <a:solidFill>
                      <a:srgbClr val="666666"/>
                    </a:solidFill>
                  </a:rPr>
                  <a:t>Nivel (dBm)</a:t>
                </a:r>
              </a:p>
            </c:rich>
          </c:tx>
          <c:overlay val="0"/>
        </c:title>
        <c:numFmt formatCode="General" sourceLinked="1"/>
        <c:majorTickMark val="out"/>
        <c:minorTickMark val="none"/>
        <c:tickLblPos val="low"/>
        <c:spPr>
          <a:ln>
            <a:solidFill>
              <a:srgbClr val="C9D1D4"/>
            </a:solidFill>
          </a:ln>
        </c:spPr>
        <c:txPr>
          <a:bodyPr/>
          <a:lstStyle/>
          <a:p>
            <a:pPr>
              <a:defRPr sz="1100"/>
            </a:pPr>
            <a:endParaRPr lang="en-US"/>
          </a:p>
        </c:txPr>
        <c:crossAx val="-2128940872"/>
        <c:crosses val="autoZero"/>
        <c:crossBetween val="midCat"/>
        <c:majorUnit val="10"/>
      </c:valAx>
    </c:plotArea>
    <c:plotVisOnly val="1"/>
    <c:dispBlanksAs val="gap"/>
    <c:showDLblsOverMax val="0"/>
  </c:chart>
  <c:txPr>
    <a:bodyPr/>
    <a:lstStyle/>
    <a:p>
      <a:pPr>
        <a:defRPr sz="1100">
          <a:solidFill>
            <a:srgbClr val="666666"/>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Nivel de cada tono</c:v>
                </c:pt>
              </c:strCache>
            </c:strRef>
          </c:tx>
          <c:spPr>
            <a:ln w="47625">
              <a:noFill/>
            </a:ln>
          </c:spPr>
          <c:marker>
            <c:symbol val="circle"/>
            <c:size val="9"/>
            <c:spPr>
              <a:solidFill>
                <a:srgbClr val="0B5563"/>
              </a:solidFill>
              <a:ln>
                <a:solidFill>
                  <a:srgbClr val="FFFFFF"/>
                </a:solidFill>
              </a:ln>
            </c:spPr>
          </c:marker>
          <c:xVal>
            <c:numRef>
              <c:f>Sheet1!$A$2:$A$23</c:f>
              <c:numCache>
                <c:formatCode>General</c:formatCode>
                <c:ptCount val="22"/>
                <c:pt idx="0">
                  <c:v>300</c:v>
                </c:pt>
                <c:pt idx="1">
                  <c:v>310</c:v>
                </c:pt>
                <c:pt idx="2">
                  <c:v>320</c:v>
                </c:pt>
                <c:pt idx="3">
                  <c:v>330</c:v>
                </c:pt>
                <c:pt idx="4">
                  <c:v>340</c:v>
                </c:pt>
                <c:pt idx="5">
                  <c:v>350</c:v>
                </c:pt>
                <c:pt idx="6">
                  <c:v>360</c:v>
                </c:pt>
                <c:pt idx="7">
                  <c:v>370</c:v>
                </c:pt>
                <c:pt idx="8">
                  <c:v>380</c:v>
                </c:pt>
                <c:pt idx="9">
                  <c:v>390</c:v>
                </c:pt>
                <c:pt idx="10">
                  <c:v>400</c:v>
                </c:pt>
                <c:pt idx="11">
                  <c:v>410</c:v>
                </c:pt>
                <c:pt idx="12">
                  <c:v>420</c:v>
                </c:pt>
                <c:pt idx="13">
                  <c:v>430</c:v>
                </c:pt>
                <c:pt idx="14">
                  <c:v>440</c:v>
                </c:pt>
                <c:pt idx="15">
                  <c:v>450</c:v>
                </c:pt>
                <c:pt idx="16">
                  <c:v>460</c:v>
                </c:pt>
                <c:pt idx="17">
                  <c:v>470</c:v>
                </c:pt>
                <c:pt idx="18">
                  <c:v>480</c:v>
                </c:pt>
                <c:pt idx="19">
                  <c:v>490</c:v>
                </c:pt>
                <c:pt idx="20">
                  <c:v>500</c:v>
                </c:pt>
                <c:pt idx="21">
                  <c:v>510</c:v>
                </c:pt>
              </c:numCache>
            </c:numRef>
          </c:xVal>
          <c:yVal>
            <c:numRef>
              <c:f>Sheet1!$B$2:$B$23</c:f>
              <c:numCache>
                <c:formatCode>General</c:formatCode>
                <c:ptCount val="22"/>
                <c:pt idx="0">
                  <c:v>-42</c:v>
                </c:pt>
                <c:pt idx="1">
                  <c:v>-41.5</c:v>
                </c:pt>
                <c:pt idx="2">
                  <c:v>-42</c:v>
                </c:pt>
                <c:pt idx="3">
                  <c:v>-42</c:v>
                </c:pt>
                <c:pt idx="4">
                  <c:v>-42.5</c:v>
                </c:pt>
                <c:pt idx="5">
                  <c:v>-42.6</c:v>
                </c:pt>
                <c:pt idx="6">
                  <c:v>-43.1</c:v>
                </c:pt>
                <c:pt idx="7">
                  <c:v>-43.1</c:v>
                </c:pt>
                <c:pt idx="8">
                  <c:v>-43.1</c:v>
                </c:pt>
                <c:pt idx="9">
                  <c:v>-43.6</c:v>
                </c:pt>
                <c:pt idx="10">
                  <c:v>-43.6</c:v>
                </c:pt>
                <c:pt idx="11">
                  <c:v>-43.7</c:v>
                </c:pt>
                <c:pt idx="12">
                  <c:v>-43.2</c:v>
                </c:pt>
                <c:pt idx="13">
                  <c:v>-43.3</c:v>
                </c:pt>
                <c:pt idx="14">
                  <c:v>-42.9</c:v>
                </c:pt>
                <c:pt idx="15">
                  <c:v>-42.5</c:v>
                </c:pt>
                <c:pt idx="16">
                  <c:v>-42.5</c:v>
                </c:pt>
                <c:pt idx="17">
                  <c:v>-42.6</c:v>
                </c:pt>
                <c:pt idx="18">
                  <c:v>-42.7</c:v>
                </c:pt>
                <c:pt idx="19">
                  <c:v>-43.3</c:v>
                </c:pt>
                <c:pt idx="20">
                  <c:v>-43.8</c:v>
                </c:pt>
                <c:pt idx="21">
                  <c:v>-44.4</c:v>
                </c:pt>
              </c:numCache>
            </c:numRef>
          </c:yVal>
          <c:smooth val="0"/>
          <c:extLst>
            <c:ext xmlns:c16="http://schemas.microsoft.com/office/drawing/2014/chart" uri="{C3380CC4-5D6E-409C-BE32-E72D297353CC}">
              <c16:uniqueId val="{00000000-B0F2-4418-86B7-F84F9AC7D2F6}"/>
            </c:ext>
          </c:extLst>
        </c:ser>
        <c:dLbls>
          <c:showLegendKey val="0"/>
          <c:showVal val="0"/>
          <c:showCatName val="0"/>
          <c:showSerName val="0"/>
          <c:showPercent val="0"/>
          <c:showBubbleSize val="0"/>
        </c:dLbls>
        <c:axId val="-2128940872"/>
        <c:axId val="-2129643912"/>
      </c:scatterChart>
      <c:valAx>
        <c:axId val="-2128940872"/>
        <c:scaling>
          <c:orientation val="minMax"/>
          <c:max val="520"/>
          <c:min val="290"/>
        </c:scaling>
        <c:delete val="0"/>
        <c:axPos val="b"/>
        <c:majorGridlines>
          <c:spPr>
            <a:ln w="9525">
              <a:solidFill>
                <a:srgbClr val="E3E7E8"/>
              </a:solidFill>
            </a:ln>
          </c:spPr>
        </c:majorGridlines>
        <c:title>
          <c:tx>
            <c:rich>
              <a:bodyPr/>
              <a:lstStyle/>
              <a:p>
                <a:r>
                  <a:rPr lang="en-US" sz="1100" b="0">
                    <a:solidFill>
                      <a:srgbClr val="666666"/>
                    </a:solidFill>
                  </a:rPr>
                  <a:t>Frecuencia (MHz)</a:t>
                </a:r>
              </a:p>
            </c:rich>
          </c:tx>
          <c:overlay val="0"/>
        </c:title>
        <c:numFmt formatCode="General" sourceLinked="1"/>
        <c:majorTickMark val="out"/>
        <c:minorTickMark val="none"/>
        <c:tickLblPos val="low"/>
        <c:spPr>
          <a:ln>
            <a:solidFill>
              <a:srgbClr val="C9D1D4"/>
            </a:solidFill>
          </a:ln>
        </c:spPr>
        <c:txPr>
          <a:bodyPr/>
          <a:lstStyle/>
          <a:p>
            <a:pPr>
              <a:defRPr sz="1100"/>
            </a:pPr>
            <a:endParaRPr lang="en-US"/>
          </a:p>
        </c:txPr>
        <c:crossAx val="-2129643912"/>
        <c:crosses val="autoZero"/>
        <c:crossBetween val="midCat"/>
        <c:majorUnit val="20"/>
      </c:valAx>
      <c:valAx>
        <c:axId val="-2129643912"/>
        <c:scaling>
          <c:orientation val="minMax"/>
          <c:max val="-40"/>
          <c:min val="-46"/>
        </c:scaling>
        <c:delete val="0"/>
        <c:axPos val="l"/>
        <c:majorGridlines>
          <c:spPr>
            <a:ln w="9525">
              <a:solidFill>
                <a:srgbClr val="E3E7E8"/>
              </a:solidFill>
            </a:ln>
          </c:spPr>
        </c:majorGridlines>
        <c:title>
          <c:tx>
            <c:rich>
              <a:bodyPr/>
              <a:lstStyle/>
              <a:p>
                <a:r>
                  <a:rPr lang="en-US" sz="1100" b="0">
                    <a:solidFill>
                      <a:srgbClr val="666666"/>
                    </a:solidFill>
                  </a:rPr>
                  <a:t>Nivel (dBm)</a:t>
                </a:r>
              </a:p>
            </c:rich>
          </c:tx>
          <c:overlay val="0"/>
        </c:title>
        <c:numFmt formatCode="General" sourceLinked="1"/>
        <c:majorTickMark val="out"/>
        <c:minorTickMark val="none"/>
        <c:tickLblPos val="low"/>
        <c:spPr>
          <a:ln>
            <a:solidFill>
              <a:srgbClr val="C9D1D4"/>
            </a:solidFill>
          </a:ln>
        </c:spPr>
        <c:txPr>
          <a:bodyPr/>
          <a:lstStyle/>
          <a:p>
            <a:pPr>
              <a:defRPr sz="1100"/>
            </a:pPr>
            <a:endParaRPr lang="en-US"/>
          </a:p>
        </c:txPr>
        <c:crossAx val="-2128940872"/>
        <c:crosses val="autoZero"/>
        <c:crossBetween val="midCat"/>
        <c:majorUnit val="1"/>
      </c:valAx>
    </c:plotArea>
    <c:plotVisOnly val="1"/>
    <c:dispBlanksAs val="gap"/>
    <c:showDLblsOverMax val="0"/>
  </c:chart>
  <c:txPr>
    <a:bodyPr/>
    <a:lstStyle/>
    <a:p>
      <a:pPr>
        <a:defRPr sz="1100">
          <a:solidFill>
            <a:srgbClr val="666666"/>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1485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x40 es la placa de desarrollo: todo lo medido hasta ahora es con ella. La xA9 es la que iría a la cámara; su chip AD9361 calibra solo la cuadratura y la fuga, así que la caracterización hay que repetirla.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Medición conducida, por cable, para no depender de antenas ni del ambiente. Hay más de 40 dB de margen entre lo que se transmite y lo que tolera el analizador.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Además del tono aparecen la fuga de portadora, la imagen espejada respecto del oscilador, la espuria y la réplica del tono. La fuga no depende de la señal: es tan grande como el tono.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Matriz de 18 mediciones (EXP-08). La curva tiene la misma forma con portadora de 400 o 600 MHz y con tono de 200 o 600 kHz. No hay compresión hasta amplitud 0,7.</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 final de cada tanda se repitió un punto ya medido. La fuga de portadora varió 0,1 dB a lo largo de siete amplitudes distintas. Esto fija el umbral de detección del sistema.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espuria que parecía fija es la réplica de la fuga de portadora. Se verificó en seis trazas del EXP-08: la fuga y cada tono tienen su copia a -937,2 kHz, entre -50 y -53 dBc. Existe aun sin muestras.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desbalance IQ hace que el transmisor entregue a·x + b·conj(x). Si antes se suma c·conj(x) con c = -b/a, la imagen se anula. Se barrió la fase de c y después se ajustó fino: -34,5 dB y 15 grados.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Dentro de una misma portadora el coeficiente sirve para distintos tonos. Al pasar a 600 MHz rinde solo 7,5 dB; corriendo la fase de 15 a 35 grados vuelve a rendir 16,5 dB. El módulo no cambió.</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el módulo de c fijo, la potencia de la imagen sigue P = |b|² + |g|² + 2|b||g|cos(fase - t). Tres lecturas lejos del nulo, donde son estables, más la lectura sin corrección, alcanzan para despejar fase y nivel.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calibrate lms show devolvía 31 en los diez registros: el chip nunca se había calibrado. Los valores sobreviven al cierre y la reapertura de la placa mientras siga alimentada. No se toca la memoria flash.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Mismo peine, misma ventana de 295 a 515 MHz en MAX HOLD. Sin tabla la fuga queda por encima de los tonos. Con la tabla baja entre 20 y 30 dB y los tonos no cambian.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simultáneo tiene que caber en el ancho de banda de la placa, así que el peine se arma moviendo la portadora. La simetría hace que la imagen de cada tono caiga sobre el otro: no quedan líneas sueltas.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la frecuencia de la portadora ya está la fuga, que es del tamaño de la señal. Dos fasores parecidos pueden sumarse o anularse según la fase. Con un tono, lo único que se le suma es una imagen 34 dB menor.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cadena de señal genera los dos tonos a partir de uno solo y su conjugado. El barrido está hecho solo con bloques estándar: una escalera con el número de portadora que un Function Probe lee dos veces por segundo.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promediado diluiría cada línea, porque solo está presente una fracción del tiempo. MAX HOLD guarda el máximo de cada punto y no necesita sincronismo. La ventana ancha limita la exactitud de la lectura.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Captura del EXP-14 con la tabla de fuga activa. Entre cada par de tonos se ve la fuga residual de esa portadora. A 1,5 MHz de cada línea ya se lee el piso de ruido.</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22 tonos quedan dentro de 2,9 dB, con tendencia a bajar al subir la frecuencia. La ventana del flujo permite fijar la amplitud digital de cada tono para emparejarlos; todavía no se ajustó en forma sistemática.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que todavía separa este prototipo de una herramienta para el CETEM.</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placa transmite y recibe a la vez y tiene lazos internos entre transmisor y receptor. La idea es que antes de cada uso recorra las portadoras, mida sus propios tonos y los lleve a una ventana de tolerancia. Punto a discutir: el receptor de la placa necesita una referencia para que el lazo no copie sus propios errores.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782435334"/>
              </p:ext>
            </p:extLst>
          </p:nvPr>
        </p:nvGraphicFramePr>
        <p:xfrm>
          <a:off x="548640" y="1463040"/>
          <a:ext cx="11064240" cy="297180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594360">
                <a:tc>
                  <a:txBody>
                    <a:bodyPr/>
                    <a:lstStyle/>
                    <a:p>
                      <a:endParaRPr/>
                    </a:p>
                  </a:txBody>
                  <a:tcPr marL="109728" marR="109728" anchor="ctr">
                    <a:solidFill>
                      <a:srgbClr val="0B5563"/>
                    </a:solidFill>
                  </a:tcPr>
                </a:tc>
                <a:tc>
                  <a:txBody>
                    <a:bodyPr/>
                    <a:lstStyle/>
                    <a:p>
                      <a:r>
                        <a:rPr sz="1700" b="1">
                          <a:solidFill>
                            <a:srgbClr val="FFFFFF"/>
                          </a:solidFill>
                          <a:latin typeface="Calibri"/>
                        </a:rPr>
                        <a:t>bladeRF x40</a:t>
                      </a:r>
                    </a:p>
                  </a:txBody>
                  <a:tcPr marL="109728" marR="109728" anchor="ctr">
                    <a:solidFill>
                      <a:srgbClr val="0B5563"/>
                    </a:solidFill>
                  </a:tcPr>
                </a:tc>
                <a:tc>
                  <a:txBody>
                    <a:bodyPr/>
                    <a:lstStyle/>
                    <a:p>
                      <a:r>
                        <a:rPr sz="1700" b="1">
                          <a:solidFill>
                            <a:srgbClr val="FFFFFF"/>
                          </a:solidFill>
                          <a:latin typeface="Calibri"/>
                        </a:rPr>
                        <a:t>bladeRF 2.0 micro xA9</a:t>
                      </a:r>
                    </a:p>
                  </a:txBody>
                  <a:tcPr marL="109728" marR="109728" anchor="ctr">
                    <a:solidFill>
                      <a:srgbClr val="0B5563"/>
                    </a:solidFill>
                  </a:tcPr>
                </a:tc>
                <a:extLst>
                  <a:ext uri="{0D108BD9-81ED-4DB2-BD59-A6C34878D82A}">
                    <a16:rowId xmlns:a16="http://schemas.microsoft.com/office/drawing/2014/main" val="10000"/>
                  </a:ext>
                </a:extLst>
              </a:tr>
              <a:tr h="594360">
                <a:tc>
                  <a:txBody>
                    <a:bodyPr/>
                    <a:lstStyle/>
                    <a:p>
                      <a:r>
                        <a:rPr sz="1700" b="1">
                          <a:solidFill>
                            <a:srgbClr val="222222"/>
                          </a:solidFill>
                          <a:latin typeface="Calibri"/>
                        </a:rPr>
                        <a:t>Transceptor</a:t>
                      </a:r>
                    </a:p>
                  </a:txBody>
                  <a:tcPr marL="109728" marR="109728" anchor="ctr">
                    <a:solidFill>
                      <a:srgbClr val="FFFFFF"/>
                    </a:solidFill>
                  </a:tcPr>
                </a:tc>
                <a:tc>
                  <a:txBody>
                    <a:bodyPr/>
                    <a:lstStyle/>
                    <a:p>
                      <a:r>
                        <a:rPr sz="1700" b="0">
                          <a:solidFill>
                            <a:srgbClr val="222222"/>
                          </a:solidFill>
                          <a:latin typeface="Calibri"/>
                        </a:rPr>
                        <a:t>LMS6002D</a:t>
                      </a:r>
                    </a:p>
                  </a:txBody>
                  <a:tcPr marL="109728" marR="109728" anchor="ctr">
                    <a:solidFill>
                      <a:srgbClr val="FFFFFF"/>
                    </a:solidFill>
                  </a:tcPr>
                </a:tc>
                <a:tc>
                  <a:txBody>
                    <a:bodyPr/>
                    <a:lstStyle/>
                    <a:p>
                      <a:r>
                        <a:rPr sz="1700" b="0">
                          <a:solidFill>
                            <a:srgbClr val="222222"/>
                          </a:solidFill>
                          <a:latin typeface="Calibri"/>
                        </a:rPr>
                        <a:t>AD9361</a:t>
                      </a:r>
                    </a:p>
                  </a:txBody>
                  <a:tcPr marL="109728" marR="109728" anchor="ctr">
                    <a:solidFill>
                      <a:srgbClr val="FFFFFF"/>
                    </a:solidFill>
                  </a:tcPr>
                </a:tc>
                <a:extLst>
                  <a:ext uri="{0D108BD9-81ED-4DB2-BD59-A6C34878D82A}">
                    <a16:rowId xmlns:a16="http://schemas.microsoft.com/office/drawing/2014/main" val="10001"/>
                  </a:ext>
                </a:extLst>
              </a:tr>
              <a:tr h="594360">
                <a:tc>
                  <a:txBody>
                    <a:bodyPr/>
                    <a:lstStyle/>
                    <a:p>
                      <a:r>
                        <a:rPr sz="1700" b="1">
                          <a:solidFill>
                            <a:srgbClr val="222222"/>
                          </a:solidFill>
                          <a:latin typeface="Calibri"/>
                        </a:rPr>
                        <a:t>Rango de frecuencia</a:t>
                      </a:r>
                    </a:p>
                  </a:txBody>
                  <a:tcPr marL="109728" marR="109728" anchor="ctr">
                    <a:solidFill>
                      <a:srgbClr val="F1F5F6"/>
                    </a:solidFill>
                  </a:tcPr>
                </a:tc>
                <a:tc>
                  <a:txBody>
                    <a:bodyPr/>
                    <a:lstStyle/>
                    <a:p>
                      <a:r>
                        <a:rPr sz="1700" b="0" dirty="0">
                          <a:solidFill>
                            <a:srgbClr val="222222"/>
                          </a:solidFill>
                          <a:latin typeface="Calibri"/>
                        </a:rPr>
                        <a:t>237 MHz a 3,8 GHz</a:t>
                      </a:r>
                    </a:p>
                  </a:txBody>
                  <a:tcPr marL="109728" marR="109728" anchor="ctr">
                    <a:solidFill>
                      <a:srgbClr val="F1F5F6"/>
                    </a:solidFill>
                  </a:tcPr>
                </a:tc>
                <a:tc>
                  <a:txBody>
                    <a:bodyPr/>
                    <a:lstStyle/>
                    <a:p>
                      <a:r>
                        <a:rPr sz="1700" b="0">
                          <a:solidFill>
                            <a:srgbClr val="222222"/>
                          </a:solidFill>
                          <a:latin typeface="Calibri"/>
                        </a:rPr>
                        <a:t>47 MHz a 6 GHz</a:t>
                      </a:r>
                    </a:p>
                  </a:txBody>
                  <a:tcPr marL="109728" marR="109728" anchor="ctr">
                    <a:solidFill>
                      <a:srgbClr val="F1F5F6"/>
                    </a:solidFill>
                  </a:tcPr>
                </a:tc>
                <a:extLst>
                  <a:ext uri="{0D108BD9-81ED-4DB2-BD59-A6C34878D82A}">
                    <a16:rowId xmlns:a16="http://schemas.microsoft.com/office/drawing/2014/main" val="10002"/>
                  </a:ext>
                </a:extLst>
              </a:tr>
              <a:tr h="594360">
                <a:tc>
                  <a:txBody>
                    <a:bodyPr/>
                    <a:lstStyle/>
                    <a:p>
                      <a:r>
                        <a:rPr sz="1700" b="1">
                          <a:solidFill>
                            <a:srgbClr val="222222"/>
                          </a:solidFill>
                          <a:latin typeface="Calibri"/>
                        </a:rPr>
                        <a:t>Ancho de banda</a:t>
                      </a:r>
                    </a:p>
                  </a:txBody>
                  <a:tcPr marL="109728" marR="109728" anchor="ctr">
                    <a:solidFill>
                      <a:srgbClr val="FFFFFF"/>
                    </a:solidFill>
                  </a:tcPr>
                </a:tc>
                <a:tc>
                  <a:txBody>
                    <a:bodyPr/>
                    <a:lstStyle/>
                    <a:p>
                      <a:r>
                        <a:rPr sz="1700" b="0" dirty="0">
                          <a:solidFill>
                            <a:srgbClr val="222222"/>
                          </a:solidFill>
                          <a:latin typeface="Calibri"/>
                        </a:rPr>
                        <a:t>28 MHz</a:t>
                      </a:r>
                    </a:p>
                  </a:txBody>
                  <a:tcPr marL="109728" marR="109728" anchor="ctr">
                    <a:solidFill>
                      <a:srgbClr val="FFFFFF"/>
                    </a:solidFill>
                  </a:tcPr>
                </a:tc>
                <a:tc>
                  <a:txBody>
                    <a:bodyPr/>
                    <a:lstStyle/>
                    <a:p>
                      <a:r>
                        <a:rPr sz="1700" b="0">
                          <a:solidFill>
                            <a:srgbClr val="222222"/>
                          </a:solidFill>
                          <a:latin typeface="Calibri"/>
                        </a:rPr>
                        <a:t>56 MHz</a:t>
                      </a:r>
                    </a:p>
                  </a:txBody>
                  <a:tcPr marL="109728" marR="109728" anchor="ctr">
                    <a:solidFill>
                      <a:srgbClr val="FFFFFF"/>
                    </a:solidFill>
                  </a:tcPr>
                </a:tc>
                <a:extLst>
                  <a:ext uri="{0D108BD9-81ED-4DB2-BD59-A6C34878D82A}">
                    <a16:rowId xmlns:a16="http://schemas.microsoft.com/office/drawing/2014/main" val="10003"/>
                  </a:ext>
                </a:extLst>
              </a:tr>
              <a:tr h="594360">
                <a:tc>
                  <a:txBody>
                    <a:bodyPr/>
                    <a:lstStyle/>
                    <a:p>
                      <a:r>
                        <a:rPr sz="1700" b="1" dirty="0">
                          <a:solidFill>
                            <a:srgbClr val="222222"/>
                          </a:solidFill>
                          <a:latin typeface="Calibri"/>
                        </a:rPr>
                        <a:t>Papel </a:t>
                      </a:r>
                      <a:r>
                        <a:rPr sz="1700" b="1" dirty="0" err="1">
                          <a:solidFill>
                            <a:srgbClr val="222222"/>
                          </a:solidFill>
                          <a:latin typeface="Calibri"/>
                        </a:rPr>
                        <a:t>en</a:t>
                      </a:r>
                      <a:r>
                        <a:rPr sz="1700" b="1" dirty="0">
                          <a:solidFill>
                            <a:srgbClr val="222222"/>
                          </a:solidFill>
                          <a:latin typeface="Calibri"/>
                        </a:rPr>
                        <a:t> el </a:t>
                      </a:r>
                      <a:r>
                        <a:rPr sz="1700" b="1" dirty="0" err="1">
                          <a:solidFill>
                            <a:srgbClr val="222222"/>
                          </a:solidFill>
                          <a:latin typeface="Calibri"/>
                        </a:rPr>
                        <a:t>proyecto</a:t>
                      </a:r>
                      <a:endParaRPr sz="1700" b="1" dirty="0">
                        <a:solidFill>
                          <a:srgbClr val="222222"/>
                        </a:solidFill>
                        <a:latin typeface="Calibri"/>
                      </a:endParaRPr>
                    </a:p>
                  </a:txBody>
                  <a:tcPr marL="109728" marR="109728" anchor="ctr">
                    <a:solidFill>
                      <a:srgbClr val="FFFFFF"/>
                    </a:solidFill>
                  </a:tcPr>
                </a:tc>
                <a:tc>
                  <a:txBody>
                    <a:bodyPr/>
                    <a:lstStyle/>
                    <a:p>
                      <a:r>
                        <a:rPr sz="1700" b="0" dirty="0">
                          <a:solidFill>
                            <a:srgbClr val="222222"/>
                          </a:solidFill>
                          <a:latin typeface="Calibri"/>
                        </a:rPr>
                        <a:t>Desarrollo y </a:t>
                      </a:r>
                      <a:r>
                        <a:rPr sz="1700" b="0" dirty="0" err="1">
                          <a:solidFill>
                            <a:srgbClr val="222222"/>
                          </a:solidFill>
                          <a:latin typeface="Calibri"/>
                        </a:rPr>
                        <a:t>pruebas</a:t>
                      </a:r>
                      <a:endParaRPr sz="1700" b="0" dirty="0">
                        <a:solidFill>
                          <a:srgbClr val="222222"/>
                        </a:solidFill>
                        <a:latin typeface="Calibri"/>
                      </a:endParaRPr>
                    </a:p>
                  </a:txBody>
                  <a:tcPr marL="109728" marR="109728" anchor="ctr">
                    <a:solidFill>
                      <a:srgbClr val="FFFFFF"/>
                    </a:solidFill>
                  </a:tcPr>
                </a:tc>
                <a:tc>
                  <a:txBody>
                    <a:bodyPr/>
                    <a:lstStyle/>
                    <a:p>
                      <a:r>
                        <a:rPr lang="en-US" sz="1700" b="0" dirty="0">
                          <a:solidFill>
                            <a:srgbClr val="222222"/>
                          </a:solidFill>
                          <a:latin typeface="Calibri"/>
                        </a:rPr>
                        <a:t>Desarrollo final</a:t>
                      </a:r>
                      <a:endParaRPr sz="1700" b="0" dirty="0">
                        <a:solidFill>
                          <a:srgbClr val="222222"/>
                        </a:solidFill>
                        <a:latin typeface="Calibri"/>
                      </a:endParaRPr>
                    </a:p>
                  </a:txBody>
                  <a:tcPr marL="109728" marR="109728"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Banco de pruebas</a:t>
            </a:r>
          </a:p>
        </p:txBody>
      </p:sp>
      <p:sp>
        <p:nvSpPr>
          <p:cNvPr id="3" name="Rounded Rectangle 2"/>
          <p:cNvSpPr/>
          <p:nvPr/>
        </p:nvSpPr>
        <p:spPr>
          <a:xfrm>
            <a:off x="914400" y="1828800"/>
            <a:ext cx="3291840" cy="1280160"/>
          </a:xfrm>
          <a:prstGeom prst="roundRect">
            <a:avLst>
              <a:gd name="adj" fmla="val 6000"/>
            </a:avLst>
          </a:prstGeom>
          <a:solidFill>
            <a:srgbClr val="FFFFFF"/>
          </a:solidFill>
          <a:ln w="12700">
            <a:solidFill>
              <a:srgbClr val="0B5563"/>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222222"/>
                </a:solidFill>
                <a:latin typeface="Calibri"/>
              </a:rPr>
              <a:t>bladeRF x40</a:t>
            </a:r>
          </a:p>
          <a:p>
            <a:pPr algn="ctr"/>
            <a:r>
              <a:rPr sz="2000" b="0">
                <a:solidFill>
                  <a:srgbClr val="666666"/>
                </a:solidFill>
                <a:latin typeface="Calibri"/>
              </a:rPr>
              <a:t>GNU Radio · osmocom Sink</a:t>
            </a:r>
          </a:p>
        </p:txBody>
      </p:sp>
      <p:sp>
        <p:nvSpPr>
          <p:cNvPr id="4" name="Rounded Rectangle 3"/>
          <p:cNvSpPr/>
          <p:nvPr/>
        </p:nvSpPr>
        <p:spPr>
          <a:xfrm>
            <a:off x="7955279" y="1828800"/>
            <a:ext cx="3291840" cy="128016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222222"/>
                </a:solidFill>
                <a:latin typeface="Calibri"/>
              </a:rPr>
              <a:t>tinySA Ultra+ ZS-406</a:t>
            </a:r>
          </a:p>
          <a:p>
            <a:pPr algn="ctr"/>
            <a:r>
              <a:rPr sz="2000" b="0">
                <a:solidFill>
                  <a:srgbClr val="666666"/>
                </a:solidFill>
                <a:latin typeface="Calibri"/>
              </a:rPr>
              <a:t>100 kHz a 5 GHz</a:t>
            </a:r>
          </a:p>
        </p:txBody>
      </p:sp>
      <p:cxnSp>
        <p:nvCxnSpPr>
          <p:cNvPr id="5" name="Connector 4"/>
          <p:cNvCxnSpPr/>
          <p:nvPr/>
        </p:nvCxnSpPr>
        <p:spPr>
          <a:xfrm>
            <a:off x="4297680" y="2468880"/>
            <a:ext cx="3566160" cy="0"/>
          </a:xfrm>
          <a:prstGeom prst="line">
            <a:avLst/>
          </a:prstGeom>
          <a:ln w="25400">
            <a:solidFill>
              <a:srgbClr val="22222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97680" y="2011680"/>
            <a:ext cx="3566160" cy="215444"/>
          </a:xfrm>
          <a:prstGeom prst="rect">
            <a:avLst/>
          </a:prstGeom>
          <a:noFill/>
        </p:spPr>
        <p:txBody>
          <a:bodyPr wrap="square" lIns="0" tIns="0" rIns="0" bIns="0" anchor="t">
            <a:spAutoFit/>
          </a:bodyPr>
          <a:lstStyle/>
          <a:p>
            <a:pPr algn="ctr"/>
            <a:r>
              <a:rPr sz="1400" b="0" i="0" dirty="0">
                <a:solidFill>
                  <a:srgbClr val="666666"/>
                </a:solidFill>
                <a:latin typeface="Calibri"/>
              </a:rPr>
              <a:t>cable coaxial </a:t>
            </a:r>
            <a:r>
              <a:rPr sz="1400" b="0" i="0" dirty="0" err="1">
                <a:solidFill>
                  <a:srgbClr val="666666"/>
                </a:solidFill>
                <a:latin typeface="Calibri"/>
              </a:rPr>
              <a:t>directo</a:t>
            </a:r>
            <a:endParaRPr sz="1400" b="0" i="0" dirty="0">
              <a:solidFill>
                <a:srgbClr val="666666"/>
              </a:solidFill>
              <a:latin typeface="Calibri"/>
            </a:endParaRPr>
          </a:p>
        </p:txBody>
      </p:sp>
      <p:sp>
        <p:nvSpPr>
          <p:cNvPr id="7" name="TextBox 6"/>
          <p:cNvSpPr txBox="1"/>
          <p:nvPr/>
        </p:nvSpPr>
        <p:spPr>
          <a:xfrm>
            <a:off x="914400" y="4023360"/>
            <a:ext cx="3291840" cy="822960"/>
          </a:xfrm>
          <a:prstGeom prst="rect">
            <a:avLst/>
          </a:prstGeom>
          <a:noFill/>
        </p:spPr>
        <p:txBody>
          <a:bodyPr wrap="square" lIns="0" tIns="0" rIns="0" bIns="0" anchor="t">
            <a:spAutoFit/>
          </a:bodyPr>
          <a:lstStyle/>
          <a:p>
            <a:pPr algn="l"/>
            <a:r>
              <a:rPr sz="4400" b="1" i="0">
                <a:solidFill>
                  <a:srgbClr val="222222"/>
                </a:solidFill>
                <a:latin typeface="Calibri"/>
              </a:rPr>
              <a:t>−38 dBm</a:t>
            </a:r>
          </a:p>
        </p:txBody>
      </p:sp>
      <p:sp>
        <p:nvSpPr>
          <p:cNvPr id="9" name="TextBox 8"/>
          <p:cNvSpPr txBox="1"/>
          <p:nvPr/>
        </p:nvSpPr>
        <p:spPr>
          <a:xfrm>
            <a:off x="4480560" y="4023360"/>
            <a:ext cx="3291840" cy="822960"/>
          </a:xfrm>
          <a:prstGeom prst="rect">
            <a:avLst/>
          </a:prstGeom>
          <a:noFill/>
        </p:spPr>
        <p:txBody>
          <a:bodyPr wrap="square" lIns="0" tIns="0" rIns="0" bIns="0" anchor="t">
            <a:spAutoFit/>
          </a:bodyPr>
          <a:lstStyle/>
          <a:p>
            <a:pPr algn="l"/>
            <a:r>
              <a:rPr sz="4400" b="1" i="0">
                <a:solidFill>
                  <a:srgbClr val="222222"/>
                </a:solidFill>
                <a:latin typeface="Calibri"/>
              </a:rPr>
              <a:t>+6 dBm</a:t>
            </a:r>
          </a:p>
        </p:txBody>
      </p:sp>
      <p:sp>
        <p:nvSpPr>
          <p:cNvPr id="10" name="TextBox 9"/>
          <p:cNvSpPr txBox="1"/>
          <p:nvPr/>
        </p:nvSpPr>
        <p:spPr>
          <a:xfrm>
            <a:off x="4480560" y="4783328"/>
            <a:ext cx="3291840" cy="822960"/>
          </a:xfrm>
          <a:prstGeom prst="rect">
            <a:avLst/>
          </a:prstGeom>
          <a:noFill/>
        </p:spPr>
        <p:txBody>
          <a:bodyPr wrap="square" lIns="0" tIns="0" rIns="0" bIns="0" anchor="t">
            <a:spAutoFit/>
          </a:bodyPr>
          <a:lstStyle/>
          <a:p>
            <a:pPr algn="l"/>
            <a:r>
              <a:rPr sz="1500" b="0" i="0">
                <a:solidFill>
                  <a:srgbClr val="666666"/>
                </a:solidFill>
                <a:latin typeface="Calibri"/>
              </a:rPr>
              <a:t>máximo que tolera la tinySA</a:t>
            </a:r>
          </a:p>
        </p:txBody>
      </p:sp>
      <p:sp>
        <p:nvSpPr>
          <p:cNvPr id="11" name="TextBox 10"/>
          <p:cNvSpPr txBox="1"/>
          <p:nvPr/>
        </p:nvSpPr>
        <p:spPr>
          <a:xfrm>
            <a:off x="7955279" y="4023360"/>
            <a:ext cx="3566160" cy="822960"/>
          </a:xfrm>
          <a:prstGeom prst="rect">
            <a:avLst/>
          </a:prstGeom>
          <a:noFill/>
        </p:spPr>
        <p:txBody>
          <a:bodyPr wrap="square" lIns="0" tIns="0" rIns="0" bIns="0" anchor="t">
            <a:spAutoFit/>
          </a:bodyPr>
          <a:lstStyle/>
          <a:p>
            <a:pPr algn="l"/>
            <a:r>
              <a:rPr sz="4400" b="1" i="0">
                <a:solidFill>
                  <a:srgbClr val="0B5563"/>
                </a:solidFill>
                <a:latin typeface="Calibri"/>
              </a:rPr>
              <a:t>−116 dBm</a:t>
            </a:r>
          </a:p>
        </p:txBody>
      </p:sp>
      <p:sp>
        <p:nvSpPr>
          <p:cNvPr id="12" name="TextBox 11"/>
          <p:cNvSpPr txBox="1"/>
          <p:nvPr/>
        </p:nvSpPr>
        <p:spPr>
          <a:xfrm>
            <a:off x="7955279" y="4783328"/>
            <a:ext cx="3566160" cy="822960"/>
          </a:xfrm>
          <a:prstGeom prst="rect">
            <a:avLst/>
          </a:prstGeom>
          <a:noFill/>
        </p:spPr>
        <p:txBody>
          <a:bodyPr wrap="square" lIns="0" tIns="0" rIns="0" bIns="0" anchor="t">
            <a:spAutoFit/>
          </a:bodyPr>
          <a:lstStyle/>
          <a:p>
            <a:pPr algn="l"/>
            <a:r>
              <a:rPr sz="1500" b="0" i="0">
                <a:solidFill>
                  <a:srgbClr val="666666"/>
                </a:solidFill>
                <a:latin typeface="Calibri"/>
              </a:rPr>
              <a:t>piso con ventana de 20 kHz y promediado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Un tono, cinco líneas</a:t>
            </a:r>
          </a:p>
        </p:txBody>
      </p:sp>
      <p:pic>
        <p:nvPicPr>
          <p:cNvPr id="3" name="Picture 2" descr="anatomia.png"/>
          <p:cNvPicPr>
            <a:picLocks noChangeAspect="1"/>
          </p:cNvPicPr>
          <p:nvPr/>
        </p:nvPicPr>
        <p:blipFill>
          <a:blip r:embed="rId3"/>
          <a:stretch>
            <a:fillRect/>
          </a:stretch>
        </p:blipFill>
        <p:spPr>
          <a:xfrm>
            <a:off x="548640" y="1234440"/>
            <a:ext cx="11064240" cy="4407705"/>
          </a:xfrm>
          <a:prstGeom prst="rect">
            <a:avLst/>
          </a:prstGeom>
        </p:spPr>
      </p:pic>
      <p:sp>
        <p:nvSpPr>
          <p:cNvPr id="4" name="TextBox 3"/>
          <p:cNvSpPr txBox="1"/>
          <p:nvPr/>
        </p:nvSpPr>
        <p:spPr>
          <a:xfrm>
            <a:off x="2679192" y="5989320"/>
            <a:ext cx="6995160" cy="200055"/>
          </a:xfrm>
          <a:prstGeom prst="rect">
            <a:avLst/>
          </a:prstGeom>
          <a:noFill/>
        </p:spPr>
        <p:txBody>
          <a:bodyPr wrap="square" lIns="0" tIns="0" rIns="0" bIns="0" anchor="t">
            <a:spAutoFit/>
          </a:bodyPr>
          <a:lstStyle/>
          <a:p>
            <a:pPr algn="l"/>
            <a:r>
              <a:rPr sz="1300" b="0" i="0" dirty="0" err="1">
                <a:solidFill>
                  <a:srgbClr val="666666"/>
                </a:solidFill>
                <a:latin typeface="Calibri"/>
              </a:rPr>
              <a:t>Portadora</a:t>
            </a:r>
            <a:r>
              <a:rPr sz="1300" b="0" i="0" dirty="0">
                <a:solidFill>
                  <a:srgbClr val="666666"/>
                </a:solidFill>
                <a:latin typeface="Calibri"/>
              </a:rPr>
              <a:t> </a:t>
            </a:r>
            <a:r>
              <a:rPr sz="1300" b="0" i="0" dirty="0" err="1">
                <a:solidFill>
                  <a:srgbClr val="666666"/>
                </a:solidFill>
                <a:latin typeface="Calibri"/>
              </a:rPr>
              <a:t>en</a:t>
            </a:r>
            <a:r>
              <a:rPr sz="1300" b="0" i="0" dirty="0">
                <a:solidFill>
                  <a:srgbClr val="666666"/>
                </a:solidFill>
                <a:latin typeface="Calibri"/>
              </a:rPr>
              <a:t> 400 MHz, tono de 200 kHz, </a:t>
            </a:r>
            <a:r>
              <a:rPr sz="1300" b="0" i="0" dirty="0" err="1">
                <a:solidFill>
                  <a:srgbClr val="666666"/>
                </a:solidFill>
                <a:latin typeface="Calibri"/>
              </a:rPr>
              <a:t>ganancia</a:t>
            </a:r>
            <a:r>
              <a:rPr sz="1300" b="0" i="0" dirty="0">
                <a:solidFill>
                  <a:srgbClr val="666666"/>
                </a:solidFill>
                <a:latin typeface="Calibri"/>
              </a:rPr>
              <a:t> 30, </a:t>
            </a:r>
            <a:r>
              <a:rPr sz="1300" b="0" i="0" dirty="0" err="1">
                <a:solidFill>
                  <a:srgbClr val="666666"/>
                </a:solidFill>
                <a:latin typeface="Calibri"/>
              </a:rPr>
              <a:t>amplitud</a:t>
            </a:r>
            <a:r>
              <a:rPr sz="1300" b="0" i="0" dirty="0">
                <a:solidFill>
                  <a:srgbClr val="666666"/>
                </a:solidFill>
                <a:latin typeface="Calibri"/>
              </a:rPr>
              <a:t> 0,5. </a:t>
            </a:r>
            <a:r>
              <a:rPr sz="1300" b="0" i="0" dirty="0" err="1">
                <a:solidFill>
                  <a:srgbClr val="666666"/>
                </a:solidFill>
                <a:latin typeface="Calibri"/>
              </a:rPr>
              <a:t>Filtro</a:t>
            </a:r>
            <a:r>
              <a:rPr sz="1300" b="0" i="0" dirty="0">
                <a:solidFill>
                  <a:srgbClr val="666666"/>
                </a:solidFill>
                <a:latin typeface="Calibri"/>
              </a:rPr>
              <a:t> de 3 kHz, </a:t>
            </a:r>
            <a:r>
              <a:rPr sz="1300" b="0" i="0" dirty="0" err="1">
                <a:solidFill>
                  <a:srgbClr val="666666"/>
                </a:solidFill>
                <a:latin typeface="Calibri"/>
              </a:rPr>
              <a:t>promediado</a:t>
            </a:r>
            <a:r>
              <a:rPr sz="1300" b="0" i="0" dirty="0">
                <a:solidFill>
                  <a:srgbClr val="666666"/>
                </a:solidFill>
                <a:latin typeface="Calibri"/>
              </a:rPr>
              <a:t> 16.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dirty="0">
                <a:solidFill>
                  <a:srgbClr val="222222"/>
                </a:solidFill>
                <a:latin typeface="Calibri"/>
              </a:rPr>
              <a:t>La </a:t>
            </a:r>
            <a:r>
              <a:rPr sz="3000" b="1" i="0" dirty="0" err="1">
                <a:solidFill>
                  <a:srgbClr val="222222"/>
                </a:solidFill>
                <a:latin typeface="Calibri"/>
              </a:rPr>
              <a:t>amplitud</a:t>
            </a:r>
            <a:r>
              <a:rPr sz="3000" b="1" i="0" dirty="0">
                <a:solidFill>
                  <a:srgbClr val="222222"/>
                </a:solidFill>
                <a:latin typeface="Calibri"/>
              </a:rPr>
              <a:t> </a:t>
            </a:r>
            <a:r>
              <a:rPr sz="3000" b="1" i="0" dirty="0" err="1">
                <a:solidFill>
                  <a:srgbClr val="222222"/>
                </a:solidFill>
                <a:latin typeface="Calibri"/>
              </a:rPr>
              <a:t>responde</a:t>
            </a:r>
            <a:r>
              <a:rPr sz="3000" b="1" i="0" dirty="0">
                <a:solidFill>
                  <a:srgbClr val="222222"/>
                </a:solidFill>
                <a:latin typeface="Calibri"/>
              </a:rPr>
              <a:t> </a:t>
            </a:r>
            <a:r>
              <a:rPr sz="3000" b="1" i="0" dirty="0" err="1">
                <a:solidFill>
                  <a:srgbClr val="222222"/>
                </a:solidFill>
                <a:latin typeface="Calibri"/>
              </a:rPr>
              <a:t>en</a:t>
            </a:r>
            <a:r>
              <a:rPr sz="3000" b="1" i="0" dirty="0">
                <a:solidFill>
                  <a:srgbClr val="222222"/>
                </a:solidFill>
                <a:latin typeface="Calibri"/>
              </a:rPr>
              <a:t> forma lineal</a:t>
            </a:r>
          </a:p>
        </p:txBody>
      </p:sp>
      <p:graphicFrame>
        <p:nvGraphicFramePr>
          <p:cNvPr id="3" name="Chart 2"/>
          <p:cNvGraphicFramePr>
            <a:graphicFrameLocks noGrp="1"/>
          </p:cNvGraphicFramePr>
          <p:nvPr/>
        </p:nvGraphicFramePr>
        <p:xfrm>
          <a:off x="548640" y="1280160"/>
          <a:ext cx="7315200" cy="51206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8220456" y="3163824"/>
            <a:ext cx="3291840" cy="1097280"/>
          </a:xfrm>
          <a:prstGeom prst="rect">
            <a:avLst/>
          </a:prstGeom>
          <a:noFill/>
        </p:spPr>
        <p:txBody>
          <a:bodyPr wrap="square" lIns="0" tIns="0" rIns="0" bIns="0" anchor="t">
            <a:spAutoFit/>
          </a:bodyPr>
          <a:lstStyle/>
          <a:p>
            <a:pPr algn="l"/>
            <a:r>
              <a:rPr sz="1600" b="0" i="0" dirty="0">
                <a:solidFill>
                  <a:srgbClr val="222222"/>
                </a:solidFill>
                <a:latin typeface="Calibri"/>
              </a:rPr>
              <a:t>La forma de la curva no </a:t>
            </a:r>
            <a:r>
              <a:rPr sz="1600" b="0" i="0" dirty="0" err="1">
                <a:solidFill>
                  <a:srgbClr val="222222"/>
                </a:solidFill>
                <a:latin typeface="Calibri"/>
              </a:rPr>
              <a:t>depende</a:t>
            </a:r>
            <a:r>
              <a:rPr sz="1600" b="0" i="0" dirty="0">
                <a:solidFill>
                  <a:srgbClr val="222222"/>
                </a:solidFill>
                <a:latin typeface="Calibri"/>
              </a:rPr>
              <a:t> de la </a:t>
            </a:r>
            <a:r>
              <a:rPr sz="1600" b="0" i="0" dirty="0" err="1">
                <a:solidFill>
                  <a:srgbClr val="222222"/>
                </a:solidFill>
                <a:latin typeface="Calibri"/>
              </a:rPr>
              <a:t>portadora</a:t>
            </a:r>
            <a:r>
              <a:rPr sz="1600" b="0" i="0" dirty="0">
                <a:solidFill>
                  <a:srgbClr val="222222"/>
                </a:solidFill>
                <a:latin typeface="Calibri"/>
              </a:rPr>
              <a:t> </a:t>
            </a:r>
            <a:r>
              <a:rPr sz="1600" b="0" i="0" dirty="0" err="1">
                <a:solidFill>
                  <a:srgbClr val="222222"/>
                </a:solidFill>
                <a:latin typeface="Calibri"/>
              </a:rPr>
              <a:t>ni</a:t>
            </a:r>
            <a:r>
              <a:rPr sz="1600" b="0" i="0" dirty="0">
                <a:solidFill>
                  <a:srgbClr val="222222"/>
                </a:solidFill>
                <a:latin typeface="Calibri"/>
              </a:rPr>
              <a:t> del tono.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Repetibilidad dentro de una sesión</a:t>
            </a:r>
          </a:p>
        </p:txBody>
      </p:sp>
      <p:sp>
        <p:nvSpPr>
          <p:cNvPr id="3" name="Rounded Rectangle 2"/>
          <p:cNvSpPr/>
          <p:nvPr/>
        </p:nvSpPr>
        <p:spPr>
          <a:xfrm>
            <a:off x="548640" y="2487168"/>
            <a:ext cx="3474720" cy="246888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59" y="2761488"/>
            <a:ext cx="2926080" cy="822960"/>
          </a:xfrm>
          <a:prstGeom prst="rect">
            <a:avLst/>
          </a:prstGeom>
          <a:noFill/>
        </p:spPr>
        <p:txBody>
          <a:bodyPr wrap="square" lIns="0" tIns="0" rIns="0" bIns="0" anchor="t">
            <a:spAutoFit/>
          </a:bodyPr>
          <a:lstStyle/>
          <a:p>
            <a:pPr algn="l"/>
            <a:r>
              <a:rPr sz="4800" b="1" i="0" dirty="0">
                <a:solidFill>
                  <a:srgbClr val="0B5563"/>
                </a:solidFill>
                <a:latin typeface="Calibri"/>
              </a:rPr>
              <a:t>0,3 dB</a:t>
            </a:r>
          </a:p>
        </p:txBody>
      </p:sp>
      <p:sp>
        <p:nvSpPr>
          <p:cNvPr id="5" name="TextBox 4"/>
          <p:cNvSpPr txBox="1"/>
          <p:nvPr/>
        </p:nvSpPr>
        <p:spPr>
          <a:xfrm>
            <a:off x="822959" y="3813048"/>
            <a:ext cx="2926080" cy="914400"/>
          </a:xfrm>
          <a:prstGeom prst="rect">
            <a:avLst/>
          </a:prstGeom>
          <a:noFill/>
        </p:spPr>
        <p:txBody>
          <a:bodyPr wrap="square" lIns="0" tIns="0" rIns="0" bIns="0" anchor="t">
            <a:spAutoFit/>
          </a:bodyPr>
          <a:lstStyle/>
          <a:p>
            <a:pPr algn="l"/>
            <a:r>
              <a:rPr sz="1600" b="0" i="0">
                <a:solidFill>
                  <a:srgbClr val="222222"/>
                </a:solidFill>
                <a:latin typeface="Calibri"/>
              </a:rPr>
              <a:t>Tono repetido</a:t>
            </a:r>
          </a:p>
          <a:p>
            <a:pPr algn="l">
              <a:spcBef>
                <a:spcPts val="720"/>
              </a:spcBef>
            </a:pPr>
            <a:r>
              <a:rPr sz="1600" b="0" i="0">
                <a:solidFill>
                  <a:srgbClr val="222222"/>
                </a:solidFill>
                <a:latin typeface="Calibri"/>
              </a:rPr>
              <a:t>tanda de 400 MHz</a:t>
            </a:r>
          </a:p>
        </p:txBody>
      </p:sp>
      <p:sp>
        <p:nvSpPr>
          <p:cNvPr id="6" name="Rounded Rectangle 5"/>
          <p:cNvSpPr/>
          <p:nvPr/>
        </p:nvSpPr>
        <p:spPr>
          <a:xfrm>
            <a:off x="4343400" y="2487168"/>
            <a:ext cx="3474720" cy="246888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17720" y="2761488"/>
            <a:ext cx="2926080" cy="822960"/>
          </a:xfrm>
          <a:prstGeom prst="rect">
            <a:avLst/>
          </a:prstGeom>
          <a:noFill/>
        </p:spPr>
        <p:txBody>
          <a:bodyPr wrap="square" lIns="0" tIns="0" rIns="0" bIns="0" anchor="t">
            <a:spAutoFit/>
          </a:bodyPr>
          <a:lstStyle/>
          <a:p>
            <a:pPr algn="l"/>
            <a:r>
              <a:rPr sz="4800" b="1" i="0" dirty="0">
                <a:solidFill>
                  <a:srgbClr val="0B5563"/>
                </a:solidFill>
                <a:latin typeface="Calibri"/>
              </a:rPr>
              <a:t>0,1 dB</a:t>
            </a:r>
          </a:p>
        </p:txBody>
      </p:sp>
      <p:sp>
        <p:nvSpPr>
          <p:cNvPr id="8" name="TextBox 7"/>
          <p:cNvSpPr txBox="1"/>
          <p:nvPr/>
        </p:nvSpPr>
        <p:spPr>
          <a:xfrm>
            <a:off x="4617720" y="3813048"/>
            <a:ext cx="2926080" cy="914400"/>
          </a:xfrm>
          <a:prstGeom prst="rect">
            <a:avLst/>
          </a:prstGeom>
          <a:noFill/>
        </p:spPr>
        <p:txBody>
          <a:bodyPr wrap="square" lIns="0" tIns="0" rIns="0" bIns="0" anchor="t">
            <a:spAutoFit/>
          </a:bodyPr>
          <a:lstStyle/>
          <a:p>
            <a:pPr algn="l"/>
            <a:r>
              <a:rPr sz="1600" b="0" i="0">
                <a:solidFill>
                  <a:srgbClr val="222222"/>
                </a:solidFill>
                <a:latin typeface="Calibri"/>
              </a:rPr>
              <a:t>Tono repetido</a:t>
            </a:r>
          </a:p>
          <a:p>
            <a:pPr algn="l">
              <a:spcBef>
                <a:spcPts val="720"/>
              </a:spcBef>
            </a:pPr>
            <a:r>
              <a:rPr sz="1600" b="0" i="0">
                <a:solidFill>
                  <a:srgbClr val="222222"/>
                </a:solidFill>
                <a:latin typeface="Calibri"/>
              </a:rPr>
              <a:t>tanda de 600 MHz</a:t>
            </a:r>
          </a:p>
        </p:txBody>
      </p:sp>
      <p:sp>
        <p:nvSpPr>
          <p:cNvPr id="9" name="Rounded Rectangle 8"/>
          <p:cNvSpPr/>
          <p:nvPr/>
        </p:nvSpPr>
        <p:spPr>
          <a:xfrm>
            <a:off x="8138160" y="2487168"/>
            <a:ext cx="3474720" cy="246888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0" y="2761488"/>
            <a:ext cx="2926080" cy="822960"/>
          </a:xfrm>
          <a:prstGeom prst="rect">
            <a:avLst/>
          </a:prstGeom>
          <a:noFill/>
        </p:spPr>
        <p:txBody>
          <a:bodyPr wrap="square" lIns="0" tIns="0" rIns="0" bIns="0" anchor="t">
            <a:spAutoFit/>
          </a:bodyPr>
          <a:lstStyle/>
          <a:p>
            <a:pPr algn="l"/>
            <a:r>
              <a:rPr sz="4800" b="1" i="0" dirty="0">
                <a:solidFill>
                  <a:srgbClr val="0B5563"/>
                </a:solidFill>
                <a:latin typeface="Calibri"/>
              </a:rPr>
              <a:t>0,1 dB</a:t>
            </a:r>
          </a:p>
        </p:txBody>
      </p:sp>
      <p:sp>
        <p:nvSpPr>
          <p:cNvPr id="11" name="TextBox 10"/>
          <p:cNvSpPr txBox="1"/>
          <p:nvPr/>
        </p:nvSpPr>
        <p:spPr>
          <a:xfrm>
            <a:off x="8412480" y="3813048"/>
            <a:ext cx="2926080" cy="914400"/>
          </a:xfrm>
          <a:prstGeom prst="rect">
            <a:avLst/>
          </a:prstGeom>
          <a:noFill/>
        </p:spPr>
        <p:txBody>
          <a:bodyPr wrap="square" lIns="0" tIns="0" rIns="0" bIns="0" anchor="t">
            <a:spAutoFit/>
          </a:bodyPr>
          <a:lstStyle/>
          <a:p>
            <a:pPr algn="l"/>
            <a:r>
              <a:rPr sz="1600" b="0" i="0">
                <a:solidFill>
                  <a:srgbClr val="222222"/>
                </a:solidFill>
                <a:latin typeface="Calibri"/>
              </a:rPr>
              <a:t>Fuga de portadora</a:t>
            </a:r>
          </a:p>
          <a:p>
            <a:pPr algn="l">
              <a:spcBef>
                <a:spcPts val="720"/>
              </a:spcBef>
            </a:pPr>
            <a:r>
              <a:rPr sz="1600" b="0" i="0">
                <a:solidFill>
                  <a:srgbClr val="222222"/>
                </a:solidFill>
                <a:latin typeface="Calibri"/>
              </a:rPr>
              <a:t>en siete amplitudes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La espuria es una línea del oscilador local</a:t>
            </a:r>
          </a:p>
        </p:txBody>
      </p:sp>
      <p:pic>
        <p:nvPicPr>
          <p:cNvPr id="3" name="Picture 2" descr="replica.png"/>
          <p:cNvPicPr>
            <a:picLocks noChangeAspect="1"/>
          </p:cNvPicPr>
          <p:nvPr/>
        </p:nvPicPr>
        <p:blipFill>
          <a:blip r:embed="rId3"/>
          <a:stretch>
            <a:fillRect/>
          </a:stretch>
        </p:blipFill>
        <p:spPr>
          <a:xfrm>
            <a:off x="548640" y="1188720"/>
            <a:ext cx="10241280" cy="4079860"/>
          </a:xfrm>
          <a:prstGeom prst="rect">
            <a:avLst/>
          </a:prstGeom>
        </p:spPr>
      </p:pic>
      <p:sp>
        <p:nvSpPr>
          <p:cNvPr id="4" name="TextBox 3"/>
          <p:cNvSpPr txBox="1"/>
          <p:nvPr/>
        </p:nvSpPr>
        <p:spPr>
          <a:xfrm>
            <a:off x="548640" y="5669280"/>
            <a:ext cx="11064240" cy="457200"/>
          </a:xfrm>
          <a:prstGeom prst="rect">
            <a:avLst/>
          </a:prstGeom>
          <a:noFill/>
        </p:spPr>
        <p:txBody>
          <a:bodyPr wrap="square" lIns="0" tIns="0" rIns="0" bIns="0" anchor="t">
            <a:spAutoFit/>
          </a:bodyPr>
          <a:lstStyle/>
          <a:p>
            <a:pPr algn="l"/>
            <a:r>
              <a:rPr sz="2000" b="0" i="0">
                <a:solidFill>
                  <a:srgbClr val="222222"/>
                </a:solidFill>
                <a:latin typeface="Calibri"/>
              </a:rPr>
              <a:t>Cada línea que sale de la placa lleva su copia a −937,2 kHz y unos −52 dBc.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La imagen se puede cancelar</a:t>
            </a:r>
          </a:p>
        </p:txBody>
      </p:sp>
      <p:graphicFrame>
        <p:nvGraphicFramePr>
          <p:cNvPr id="3" name="Chart 2"/>
          <p:cNvGraphicFramePr>
            <a:graphicFrameLocks noGrp="1"/>
          </p:cNvGraphicFramePr>
          <p:nvPr/>
        </p:nvGraphicFramePr>
        <p:xfrm>
          <a:off x="548640" y="1280160"/>
          <a:ext cx="7315200" cy="51206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8321040" y="2011680"/>
            <a:ext cx="3474720" cy="822960"/>
          </a:xfrm>
          <a:prstGeom prst="rect">
            <a:avLst/>
          </a:prstGeom>
          <a:noFill/>
        </p:spPr>
        <p:txBody>
          <a:bodyPr wrap="square" lIns="0" tIns="0" rIns="0" bIns="0" anchor="t">
            <a:spAutoFit/>
          </a:bodyPr>
          <a:lstStyle/>
          <a:p>
            <a:pPr algn="l"/>
            <a:r>
              <a:rPr sz="4000" b="1" i="0" dirty="0">
                <a:solidFill>
                  <a:srgbClr val="0B5563"/>
                </a:solidFill>
                <a:latin typeface="Calibri"/>
              </a:rPr>
              <a:t>34 → 52 dB</a:t>
            </a:r>
          </a:p>
        </p:txBody>
      </p:sp>
      <p:sp>
        <p:nvSpPr>
          <p:cNvPr id="5" name="TextBox 4"/>
          <p:cNvSpPr txBox="1"/>
          <p:nvPr/>
        </p:nvSpPr>
        <p:spPr>
          <a:xfrm>
            <a:off x="8321040" y="2720848"/>
            <a:ext cx="3474720" cy="822960"/>
          </a:xfrm>
          <a:prstGeom prst="rect">
            <a:avLst/>
          </a:prstGeom>
          <a:noFill/>
        </p:spPr>
        <p:txBody>
          <a:bodyPr wrap="square" lIns="0" tIns="0" rIns="0" bIns="0" anchor="t">
            <a:spAutoFit/>
          </a:bodyPr>
          <a:lstStyle/>
          <a:p>
            <a:pPr algn="l"/>
            <a:r>
              <a:rPr sz="1500" b="0" i="0">
                <a:solidFill>
                  <a:srgbClr val="666666"/>
                </a:solidFill>
                <a:latin typeface="Calibri"/>
              </a:rPr>
              <a:t>de rechazo de imagen</a:t>
            </a:r>
          </a:p>
        </p:txBody>
      </p:sp>
      <p:sp>
        <p:nvSpPr>
          <p:cNvPr id="6" name="TextBox 5"/>
          <p:cNvSpPr txBox="1"/>
          <p:nvPr/>
        </p:nvSpPr>
        <p:spPr>
          <a:xfrm>
            <a:off x="8321040" y="3840480"/>
            <a:ext cx="3291840" cy="1097280"/>
          </a:xfrm>
          <a:prstGeom prst="rect">
            <a:avLst/>
          </a:prstGeom>
          <a:noFill/>
        </p:spPr>
        <p:txBody>
          <a:bodyPr wrap="square" lIns="0" tIns="0" rIns="0" bIns="0" anchor="t">
            <a:spAutoFit/>
          </a:bodyPr>
          <a:lstStyle/>
          <a:p>
            <a:pPr algn="l"/>
            <a:r>
              <a:rPr sz="1600" b="0" i="0" dirty="0" err="1">
                <a:solidFill>
                  <a:srgbClr val="222222"/>
                </a:solidFill>
                <a:latin typeface="Calibri"/>
              </a:rPr>
              <a:t>Sumando</a:t>
            </a:r>
            <a:r>
              <a:rPr sz="1600" b="0" i="0" dirty="0">
                <a:solidFill>
                  <a:srgbClr val="222222"/>
                </a:solidFill>
                <a:latin typeface="Calibri"/>
              </a:rPr>
              <a:t> </a:t>
            </a:r>
            <a:r>
              <a:rPr sz="1600" b="0" i="0" dirty="0" err="1">
                <a:solidFill>
                  <a:srgbClr val="222222"/>
                </a:solidFill>
                <a:latin typeface="Calibri"/>
              </a:rPr>
              <a:t>c·conj</a:t>
            </a:r>
            <a:r>
              <a:rPr sz="1600" b="0" i="0" dirty="0">
                <a:solidFill>
                  <a:srgbClr val="222222"/>
                </a:solidFill>
                <a:latin typeface="Calibri"/>
              </a:rPr>
              <a:t>(x) </a:t>
            </a:r>
            <a:r>
              <a:rPr sz="1600" b="0" i="0" dirty="0" err="1">
                <a:solidFill>
                  <a:srgbClr val="222222"/>
                </a:solidFill>
                <a:latin typeface="Calibri"/>
              </a:rPr>
              <a:t>en</a:t>
            </a:r>
            <a:r>
              <a:rPr sz="1600" b="0" i="0" dirty="0">
                <a:solidFill>
                  <a:srgbClr val="222222"/>
                </a:solidFill>
                <a:latin typeface="Calibri"/>
              </a:rPr>
              <a:t> el </a:t>
            </a:r>
            <a:r>
              <a:rPr sz="1600" b="0" i="0" dirty="0" err="1">
                <a:solidFill>
                  <a:srgbClr val="222222"/>
                </a:solidFill>
                <a:latin typeface="Calibri"/>
              </a:rPr>
              <a:t>flujo</a:t>
            </a:r>
            <a:r>
              <a:rPr sz="1600" b="0" i="0" dirty="0">
                <a:solidFill>
                  <a:srgbClr val="222222"/>
                </a:solidFill>
                <a:latin typeface="Calibri"/>
              </a:rPr>
              <a:t> de GNU Radio, sin </a:t>
            </a:r>
            <a:r>
              <a:rPr sz="1600" b="0" i="0" dirty="0" err="1">
                <a:solidFill>
                  <a:srgbClr val="222222"/>
                </a:solidFill>
                <a:latin typeface="Calibri"/>
              </a:rPr>
              <a:t>tocar</a:t>
            </a:r>
            <a:r>
              <a:rPr sz="1600" b="0" i="0" dirty="0">
                <a:solidFill>
                  <a:srgbClr val="222222"/>
                </a:solidFill>
                <a:latin typeface="Calibri"/>
              </a:rPr>
              <a:t> el hardware.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La corrección de imagen depende de la portadora</a:t>
            </a:r>
          </a:p>
        </p:txBody>
      </p:sp>
      <p:graphicFrame>
        <p:nvGraphicFramePr>
          <p:cNvPr id="3" name="Chart 2"/>
          <p:cNvGraphicFramePr>
            <a:graphicFrameLocks noGrp="1"/>
          </p:cNvGraphicFramePr>
          <p:nvPr/>
        </p:nvGraphicFramePr>
        <p:xfrm>
          <a:off x="548640" y="1280160"/>
          <a:ext cx="7315200" cy="51206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8321040" y="2011680"/>
            <a:ext cx="3383280" cy="822960"/>
          </a:xfrm>
          <a:prstGeom prst="rect">
            <a:avLst/>
          </a:prstGeom>
          <a:noFill/>
        </p:spPr>
        <p:txBody>
          <a:bodyPr wrap="square" lIns="0" tIns="0" rIns="0" bIns="0" anchor="t">
            <a:spAutoFit/>
          </a:bodyPr>
          <a:lstStyle/>
          <a:p>
            <a:pPr algn="l"/>
            <a:r>
              <a:rPr sz="4400" b="1" i="0">
                <a:solidFill>
                  <a:srgbClr val="C2410C"/>
                </a:solidFill>
                <a:latin typeface="Calibri"/>
              </a:rPr>
              <a:t>20°</a:t>
            </a:r>
          </a:p>
        </p:txBody>
      </p:sp>
      <p:sp>
        <p:nvSpPr>
          <p:cNvPr id="5" name="TextBox 4"/>
          <p:cNvSpPr txBox="1"/>
          <p:nvPr/>
        </p:nvSpPr>
        <p:spPr>
          <a:xfrm>
            <a:off x="8321040" y="2771648"/>
            <a:ext cx="3383280" cy="822960"/>
          </a:xfrm>
          <a:prstGeom prst="rect">
            <a:avLst/>
          </a:prstGeom>
          <a:noFill/>
        </p:spPr>
        <p:txBody>
          <a:bodyPr wrap="square" lIns="0" tIns="0" rIns="0" bIns="0" anchor="t">
            <a:spAutoFit/>
          </a:bodyPr>
          <a:lstStyle/>
          <a:p>
            <a:pPr algn="l"/>
            <a:r>
              <a:rPr sz="1500" b="0" i="0">
                <a:solidFill>
                  <a:srgbClr val="666666"/>
                </a:solidFill>
                <a:latin typeface="Calibri"/>
              </a:rPr>
              <a:t>se corre la fase óptima entre 400 y 600 MHz</a:t>
            </a:r>
          </a:p>
        </p:txBody>
      </p:sp>
      <p:sp>
        <p:nvSpPr>
          <p:cNvPr id="6" name="TextBox 5"/>
          <p:cNvSpPr txBox="1"/>
          <p:nvPr/>
        </p:nvSpPr>
        <p:spPr>
          <a:xfrm>
            <a:off x="8321040" y="3931920"/>
            <a:ext cx="3291840" cy="1097280"/>
          </a:xfrm>
          <a:prstGeom prst="rect">
            <a:avLst/>
          </a:prstGeom>
          <a:noFill/>
        </p:spPr>
        <p:txBody>
          <a:bodyPr wrap="square" lIns="0" tIns="0" rIns="0" bIns="0" anchor="t">
            <a:spAutoFit/>
          </a:bodyPr>
          <a:lstStyle/>
          <a:p>
            <a:pPr algn="l"/>
            <a:r>
              <a:rPr sz="1600" b="0" i="0">
                <a:solidFill>
                  <a:srgbClr val="222222"/>
                </a:solidFill>
                <a:latin typeface="Calibri"/>
              </a:rPr>
              <a:t>Hace falta un coeficiente por cada sintonía del oscilador.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Método de tres lecturas</a:t>
            </a:r>
          </a:p>
        </p:txBody>
      </p:sp>
      <p:graphicFrame>
        <p:nvGraphicFramePr>
          <p:cNvPr id="3" name="Chart 2"/>
          <p:cNvGraphicFramePr>
            <a:graphicFrameLocks noGrp="1"/>
          </p:cNvGraphicFramePr>
          <p:nvPr/>
        </p:nvGraphicFramePr>
        <p:xfrm>
          <a:off x="548640" y="1280160"/>
          <a:ext cx="6766560" cy="5120640"/>
        </p:xfrm>
        <a:graphic>
          <a:graphicData uri="http://schemas.openxmlformats.org/drawingml/2006/chart">
            <c:chart xmlns:c="http://schemas.openxmlformats.org/drawingml/2006/chart" xmlns:r="http://schemas.openxmlformats.org/officeDocument/2006/relationships" r:id="rId3"/>
          </a:graphicData>
        </a:graphic>
      </p:graphicFrame>
      <p:sp>
        <p:nvSpPr>
          <p:cNvPr id="4" name="Oval 3"/>
          <p:cNvSpPr/>
          <p:nvPr/>
        </p:nvSpPr>
        <p:spPr>
          <a:xfrm>
            <a:off x="7772400" y="1554480"/>
            <a:ext cx="502920" cy="502920"/>
          </a:xfrm>
          <a:prstGeom prst="ellipse">
            <a:avLst/>
          </a:prstGeom>
          <a:solidFill>
            <a:srgbClr val="0B5563"/>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1</a:t>
            </a:r>
          </a:p>
        </p:txBody>
      </p:sp>
      <p:sp>
        <p:nvSpPr>
          <p:cNvPr id="5" name="TextBox 4"/>
          <p:cNvSpPr txBox="1"/>
          <p:nvPr/>
        </p:nvSpPr>
        <p:spPr>
          <a:xfrm>
            <a:off x="8458200" y="1581912"/>
            <a:ext cx="3200400" cy="731520"/>
          </a:xfrm>
          <a:prstGeom prst="rect">
            <a:avLst/>
          </a:prstGeom>
          <a:noFill/>
        </p:spPr>
        <p:txBody>
          <a:bodyPr wrap="square" lIns="0" tIns="0" rIns="0" bIns="0" anchor="t">
            <a:spAutoFit/>
          </a:bodyPr>
          <a:lstStyle/>
          <a:p>
            <a:pPr algn="l"/>
            <a:r>
              <a:rPr sz="1600" b="0" i="0">
                <a:solidFill>
                  <a:srgbClr val="222222"/>
                </a:solidFill>
                <a:latin typeface="Calibri"/>
              </a:rPr>
              <a:t>Medir la imagen sin corrección</a:t>
            </a:r>
          </a:p>
        </p:txBody>
      </p:sp>
      <p:sp>
        <p:nvSpPr>
          <p:cNvPr id="6" name="Oval 5"/>
          <p:cNvSpPr/>
          <p:nvPr/>
        </p:nvSpPr>
        <p:spPr>
          <a:xfrm>
            <a:off x="7772400" y="2514600"/>
            <a:ext cx="502920" cy="502920"/>
          </a:xfrm>
          <a:prstGeom prst="ellipse">
            <a:avLst/>
          </a:prstGeom>
          <a:solidFill>
            <a:srgbClr val="0B5563"/>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2</a:t>
            </a:r>
          </a:p>
        </p:txBody>
      </p:sp>
      <p:sp>
        <p:nvSpPr>
          <p:cNvPr id="7" name="TextBox 6"/>
          <p:cNvSpPr txBox="1"/>
          <p:nvPr/>
        </p:nvSpPr>
        <p:spPr>
          <a:xfrm>
            <a:off x="8458200" y="2542032"/>
            <a:ext cx="3200400" cy="731520"/>
          </a:xfrm>
          <a:prstGeom prst="rect">
            <a:avLst/>
          </a:prstGeom>
          <a:noFill/>
        </p:spPr>
        <p:txBody>
          <a:bodyPr wrap="square" lIns="0" tIns="0" rIns="0" bIns="0" anchor="t">
            <a:spAutoFit/>
          </a:bodyPr>
          <a:lstStyle/>
          <a:p>
            <a:pPr algn="l"/>
            <a:r>
              <a:rPr sz="1600" b="0" i="0">
                <a:solidFill>
                  <a:srgbClr val="222222"/>
                </a:solidFill>
                <a:latin typeface="Calibri"/>
              </a:rPr>
              <a:t>Tres lecturas con la corrección en 0°, 120° y 240°</a:t>
            </a:r>
          </a:p>
        </p:txBody>
      </p:sp>
      <p:sp>
        <p:nvSpPr>
          <p:cNvPr id="8" name="Oval 7"/>
          <p:cNvSpPr/>
          <p:nvPr/>
        </p:nvSpPr>
        <p:spPr>
          <a:xfrm>
            <a:off x="7772400" y="3474720"/>
            <a:ext cx="502920" cy="502920"/>
          </a:xfrm>
          <a:prstGeom prst="ellipse">
            <a:avLst/>
          </a:prstGeom>
          <a:solidFill>
            <a:srgbClr val="0B5563"/>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3</a:t>
            </a:r>
          </a:p>
        </p:txBody>
      </p:sp>
      <p:sp>
        <p:nvSpPr>
          <p:cNvPr id="9" name="TextBox 8"/>
          <p:cNvSpPr txBox="1"/>
          <p:nvPr/>
        </p:nvSpPr>
        <p:spPr>
          <a:xfrm>
            <a:off x="8458200" y="3502151"/>
            <a:ext cx="3200400" cy="731520"/>
          </a:xfrm>
          <a:prstGeom prst="rect">
            <a:avLst/>
          </a:prstGeom>
          <a:noFill/>
        </p:spPr>
        <p:txBody>
          <a:bodyPr wrap="square" lIns="0" tIns="0" rIns="0" bIns="0" anchor="t">
            <a:spAutoFit/>
          </a:bodyPr>
          <a:lstStyle/>
          <a:p>
            <a:pPr algn="l"/>
            <a:r>
              <a:rPr sz="1600" b="0" i="0">
                <a:solidFill>
                  <a:srgbClr val="222222"/>
                </a:solidFill>
                <a:latin typeface="Calibri"/>
              </a:rPr>
              <a:t>Calcular la fase y el nivel óptimos</a:t>
            </a:r>
          </a:p>
        </p:txBody>
      </p:sp>
      <p:sp>
        <p:nvSpPr>
          <p:cNvPr id="10" name="Rounded Rectangle 9"/>
          <p:cNvSpPr/>
          <p:nvPr/>
        </p:nvSpPr>
        <p:spPr>
          <a:xfrm>
            <a:off x="7772400" y="4572000"/>
            <a:ext cx="3886200" cy="146304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01000" y="4800600"/>
            <a:ext cx="3474720" cy="1097280"/>
          </a:xfrm>
          <a:prstGeom prst="rect">
            <a:avLst/>
          </a:prstGeom>
          <a:noFill/>
        </p:spPr>
        <p:txBody>
          <a:bodyPr wrap="square" lIns="0" tIns="0" rIns="0" bIns="0" anchor="t">
            <a:spAutoFit/>
          </a:bodyPr>
          <a:lstStyle/>
          <a:p>
            <a:pPr algn="l"/>
            <a:r>
              <a:rPr sz="1800" b="1" i="0">
                <a:solidFill>
                  <a:srgbClr val="0B5563"/>
                </a:solidFill>
                <a:latin typeface="Calibri"/>
              </a:rPr>
              <a:t>Calculado: 12,6°</a:t>
            </a:r>
          </a:p>
          <a:p>
            <a:pPr algn="l">
              <a:spcBef>
                <a:spcPts val="810"/>
              </a:spcBef>
            </a:pPr>
            <a:r>
              <a:rPr sz="1800" b="1" i="0">
                <a:solidFill>
                  <a:srgbClr val="0B5563"/>
                </a:solidFill>
                <a:latin typeface="Calibri"/>
              </a:rPr>
              <a:t>Encontrado a mano: 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Calibración de la placa</a:t>
            </a:r>
          </a:p>
        </p:txBody>
      </p:sp>
      <p:sp>
        <p:nvSpPr>
          <p:cNvPr id="3" name="Rounded Rectangle 2"/>
          <p:cNvSpPr/>
          <p:nvPr/>
        </p:nvSpPr>
        <p:spPr>
          <a:xfrm>
            <a:off x="548640" y="1554480"/>
            <a:ext cx="4754880" cy="1005840"/>
          </a:xfrm>
          <a:prstGeom prst="roundRect">
            <a:avLst>
              <a:gd name="adj" fmla="val 6000"/>
            </a:avLst>
          </a:prstGeom>
          <a:solidFill>
            <a:srgbClr val="FFFFFF"/>
          </a:solidFill>
          <a:ln w="12700">
            <a:solidFill>
              <a:srgbClr val="0B5563"/>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800" b="1">
                <a:solidFill>
                  <a:srgbClr val="222222"/>
                </a:solidFill>
                <a:latin typeface="Calibri"/>
              </a:rPr>
              <a:t>calibrate lms</a:t>
            </a:r>
          </a:p>
          <a:p>
            <a:pPr algn="ctr"/>
            <a:r>
              <a:rPr sz="1600" b="0">
                <a:solidFill>
                  <a:srgbClr val="666666"/>
                </a:solidFill>
                <a:latin typeface="Calibri"/>
              </a:rPr>
              <a:t>calibración interna del LMS6002D</a:t>
            </a:r>
          </a:p>
        </p:txBody>
      </p:sp>
      <p:cxnSp>
        <p:nvCxnSpPr>
          <p:cNvPr id="4" name="Connector 3"/>
          <p:cNvCxnSpPr/>
          <p:nvPr/>
        </p:nvCxnSpPr>
        <p:spPr>
          <a:xfrm>
            <a:off x="2926080" y="2578608"/>
            <a:ext cx="0" cy="36576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2971800"/>
            <a:ext cx="4754880" cy="1005840"/>
          </a:xfrm>
          <a:prstGeom prst="roundRect">
            <a:avLst>
              <a:gd name="adj" fmla="val 6000"/>
            </a:avLst>
          </a:prstGeom>
          <a:solidFill>
            <a:srgbClr val="FFFFFF"/>
          </a:solidFill>
          <a:ln w="12700">
            <a:solidFill>
              <a:srgbClr val="0B5563"/>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800" b="1">
                <a:solidFill>
                  <a:srgbClr val="222222"/>
                </a:solidFill>
                <a:latin typeface="Calibri"/>
              </a:rPr>
              <a:t>calibrate table dc tx</a:t>
            </a:r>
          </a:p>
          <a:p>
            <a:pPr algn="ctr"/>
            <a:r>
              <a:rPr sz="1600" b="0">
                <a:solidFill>
                  <a:srgbClr val="666666"/>
                </a:solidFill>
                <a:latin typeface="Calibri"/>
              </a:rPr>
              <a:t>fuga medida en cada portadora</a:t>
            </a:r>
          </a:p>
        </p:txBody>
      </p:sp>
      <p:cxnSp>
        <p:nvCxnSpPr>
          <p:cNvPr id="6" name="Connector 5"/>
          <p:cNvCxnSpPr/>
          <p:nvPr/>
        </p:nvCxnSpPr>
        <p:spPr>
          <a:xfrm>
            <a:off x="2926080" y="3995928"/>
            <a:ext cx="0" cy="36576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48640" y="4389120"/>
            <a:ext cx="4754880" cy="100584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800" b="1">
                <a:solidFill>
                  <a:srgbClr val="222222"/>
                </a:solidFill>
                <a:latin typeface="Calibri"/>
              </a:rPr>
              <a:t>La biblioteca aplica la tabla</a:t>
            </a:r>
          </a:p>
          <a:p>
            <a:pPr algn="ctr"/>
            <a:r>
              <a:rPr sz="1600" b="0">
                <a:solidFill>
                  <a:srgbClr val="666666"/>
                </a:solidFill>
                <a:latin typeface="Calibri"/>
              </a:rPr>
              <a:t>sola, en cada sintonía</a:t>
            </a:r>
          </a:p>
        </p:txBody>
      </p:sp>
      <p:graphicFrame>
        <p:nvGraphicFramePr>
          <p:cNvPr id="8" name="Table 7"/>
          <p:cNvGraphicFramePr>
            <a:graphicFrameLocks noGrp="1"/>
          </p:cNvGraphicFramePr>
          <p:nvPr/>
        </p:nvGraphicFramePr>
        <p:xfrm>
          <a:off x="6035040" y="1554480"/>
          <a:ext cx="5577840" cy="338328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63880">
                <a:tc>
                  <a:txBody>
                    <a:bodyPr/>
                    <a:lstStyle/>
                    <a:p>
                      <a:r>
                        <a:rPr sz="1500" b="1">
                          <a:solidFill>
                            <a:srgbClr val="FFFFFF"/>
                          </a:solidFill>
                          <a:latin typeface="Calibri"/>
                        </a:rPr>
                        <a:t>Registro</a:t>
                      </a:r>
                    </a:p>
                  </a:txBody>
                  <a:tcPr marL="109728" marR="109728" anchor="ctr">
                    <a:solidFill>
                      <a:srgbClr val="0B5563"/>
                    </a:solidFill>
                  </a:tcPr>
                </a:tc>
                <a:tc>
                  <a:txBody>
                    <a:bodyPr/>
                    <a:lstStyle/>
                    <a:p>
                      <a:r>
                        <a:rPr sz="1500" b="1">
                          <a:solidFill>
                            <a:srgbClr val="FFFFFF"/>
                          </a:solidFill>
                          <a:latin typeface="Calibri"/>
                        </a:rPr>
                        <a:t>Antes</a:t>
                      </a:r>
                    </a:p>
                  </a:txBody>
                  <a:tcPr marL="109728" marR="109728" anchor="ctr">
                    <a:solidFill>
                      <a:srgbClr val="0B5563"/>
                    </a:solidFill>
                  </a:tcPr>
                </a:tc>
                <a:tc>
                  <a:txBody>
                    <a:bodyPr/>
                    <a:lstStyle/>
                    <a:p>
                      <a:r>
                        <a:rPr sz="1500" b="1">
                          <a:solidFill>
                            <a:srgbClr val="FFFFFF"/>
                          </a:solidFill>
                          <a:latin typeface="Calibri"/>
                        </a:rPr>
                        <a:t>Después</a:t>
                      </a:r>
                    </a:p>
                  </a:txBody>
                  <a:tcPr marL="109728" marR="109728" anchor="ctr">
                    <a:solidFill>
                      <a:srgbClr val="0B5563"/>
                    </a:solidFill>
                  </a:tcPr>
                </a:tc>
                <a:extLst>
                  <a:ext uri="{0D108BD9-81ED-4DB2-BD59-A6C34878D82A}">
                    <a16:rowId xmlns:a16="http://schemas.microsoft.com/office/drawing/2014/main" val="10000"/>
                  </a:ext>
                </a:extLst>
              </a:tr>
              <a:tr h="563880">
                <a:tc>
                  <a:txBody>
                    <a:bodyPr/>
                    <a:lstStyle/>
                    <a:p>
                      <a:r>
                        <a:rPr sz="1500" b="1">
                          <a:solidFill>
                            <a:srgbClr val="222222"/>
                          </a:solidFill>
                          <a:latin typeface="Calibri"/>
                        </a:rPr>
                        <a:t>Sintonía de filtros</a:t>
                      </a:r>
                    </a:p>
                  </a:txBody>
                  <a:tcPr marL="109728" marR="109728" anchor="ctr">
                    <a:solidFill>
                      <a:srgbClr val="FFFFFF"/>
                    </a:solidFill>
                  </a:tcPr>
                </a:tc>
                <a:tc>
                  <a:txBody>
                    <a:bodyPr/>
                    <a:lstStyle/>
                    <a:p>
                      <a:r>
                        <a:rPr sz="1500" b="0">
                          <a:solidFill>
                            <a:srgbClr val="222222"/>
                          </a:solidFill>
                          <a:latin typeface="Calibri"/>
                        </a:rPr>
                        <a:t>31</a:t>
                      </a:r>
                    </a:p>
                  </a:txBody>
                  <a:tcPr marL="109728" marR="109728" anchor="ctr">
                    <a:solidFill>
                      <a:srgbClr val="FFFFFF"/>
                    </a:solidFill>
                  </a:tcPr>
                </a:tc>
                <a:tc>
                  <a:txBody>
                    <a:bodyPr/>
                    <a:lstStyle/>
                    <a:p>
                      <a:r>
                        <a:rPr sz="1500" b="0">
                          <a:solidFill>
                            <a:srgbClr val="222222"/>
                          </a:solidFill>
                          <a:latin typeface="Calibri"/>
                        </a:rPr>
                        <a:t>23</a:t>
                      </a:r>
                    </a:p>
                  </a:txBody>
                  <a:tcPr marL="109728" marR="109728" anchor="ctr">
                    <a:solidFill>
                      <a:srgbClr val="FFFFFF"/>
                    </a:solidFill>
                  </a:tcPr>
                </a:tc>
                <a:extLst>
                  <a:ext uri="{0D108BD9-81ED-4DB2-BD59-A6C34878D82A}">
                    <a16:rowId xmlns:a16="http://schemas.microsoft.com/office/drawing/2014/main" val="10001"/>
                  </a:ext>
                </a:extLst>
              </a:tr>
              <a:tr h="563880">
                <a:tc>
                  <a:txBody>
                    <a:bodyPr/>
                    <a:lstStyle/>
                    <a:p>
                      <a:r>
                        <a:rPr sz="1500" b="1">
                          <a:solidFill>
                            <a:srgbClr val="222222"/>
                          </a:solidFill>
                          <a:latin typeface="Calibri"/>
                        </a:rPr>
                        <a:t>Filtro TX, I y Q</a:t>
                      </a:r>
                    </a:p>
                  </a:txBody>
                  <a:tcPr marL="109728" marR="109728" anchor="ctr">
                    <a:solidFill>
                      <a:srgbClr val="F1F5F6"/>
                    </a:solidFill>
                  </a:tcPr>
                </a:tc>
                <a:tc>
                  <a:txBody>
                    <a:bodyPr/>
                    <a:lstStyle/>
                    <a:p>
                      <a:r>
                        <a:rPr sz="1500" b="0">
                          <a:solidFill>
                            <a:srgbClr val="222222"/>
                          </a:solidFill>
                          <a:latin typeface="Calibri"/>
                        </a:rPr>
                        <a:t>31 · 31</a:t>
                      </a:r>
                    </a:p>
                  </a:txBody>
                  <a:tcPr marL="109728" marR="109728" anchor="ctr">
                    <a:solidFill>
                      <a:srgbClr val="F1F5F6"/>
                    </a:solidFill>
                  </a:tcPr>
                </a:tc>
                <a:tc>
                  <a:txBody>
                    <a:bodyPr/>
                    <a:lstStyle/>
                    <a:p>
                      <a:r>
                        <a:rPr sz="1500" b="0">
                          <a:solidFill>
                            <a:srgbClr val="222222"/>
                          </a:solidFill>
                          <a:latin typeface="Calibri"/>
                        </a:rPr>
                        <a:t>30 · 33</a:t>
                      </a:r>
                    </a:p>
                  </a:txBody>
                  <a:tcPr marL="109728" marR="109728" anchor="ctr">
                    <a:solidFill>
                      <a:srgbClr val="F1F5F6"/>
                    </a:solidFill>
                  </a:tcPr>
                </a:tc>
                <a:extLst>
                  <a:ext uri="{0D108BD9-81ED-4DB2-BD59-A6C34878D82A}">
                    <a16:rowId xmlns:a16="http://schemas.microsoft.com/office/drawing/2014/main" val="10002"/>
                  </a:ext>
                </a:extLst>
              </a:tr>
              <a:tr h="563880">
                <a:tc>
                  <a:txBody>
                    <a:bodyPr/>
                    <a:lstStyle/>
                    <a:p>
                      <a:r>
                        <a:rPr sz="1500" b="1">
                          <a:solidFill>
                            <a:srgbClr val="222222"/>
                          </a:solidFill>
                          <a:latin typeface="Calibri"/>
                        </a:rPr>
                        <a:t>Filtro RX, I y Q</a:t>
                      </a:r>
                    </a:p>
                  </a:txBody>
                  <a:tcPr marL="109728" marR="109728" anchor="ctr">
                    <a:solidFill>
                      <a:srgbClr val="FFFFFF"/>
                    </a:solidFill>
                  </a:tcPr>
                </a:tc>
                <a:tc>
                  <a:txBody>
                    <a:bodyPr/>
                    <a:lstStyle/>
                    <a:p>
                      <a:r>
                        <a:rPr sz="1500" b="0">
                          <a:solidFill>
                            <a:srgbClr val="222222"/>
                          </a:solidFill>
                          <a:latin typeface="Calibri"/>
                        </a:rPr>
                        <a:t>31 · 31</a:t>
                      </a:r>
                    </a:p>
                  </a:txBody>
                  <a:tcPr marL="109728" marR="109728" anchor="ctr">
                    <a:solidFill>
                      <a:srgbClr val="FFFFFF"/>
                    </a:solidFill>
                  </a:tcPr>
                </a:tc>
                <a:tc>
                  <a:txBody>
                    <a:bodyPr/>
                    <a:lstStyle/>
                    <a:p>
                      <a:r>
                        <a:rPr sz="1500" b="0">
                          <a:solidFill>
                            <a:srgbClr val="222222"/>
                          </a:solidFill>
                          <a:latin typeface="Calibri"/>
                        </a:rPr>
                        <a:t>33 · 33</a:t>
                      </a:r>
                    </a:p>
                  </a:txBody>
                  <a:tcPr marL="109728" marR="109728" anchor="ctr">
                    <a:solidFill>
                      <a:srgbClr val="FFFFFF"/>
                    </a:solidFill>
                  </a:tcPr>
                </a:tc>
                <a:extLst>
                  <a:ext uri="{0D108BD9-81ED-4DB2-BD59-A6C34878D82A}">
                    <a16:rowId xmlns:a16="http://schemas.microsoft.com/office/drawing/2014/main" val="10003"/>
                  </a:ext>
                </a:extLst>
              </a:tr>
              <a:tr h="563880">
                <a:tc>
                  <a:txBody>
                    <a:bodyPr/>
                    <a:lstStyle/>
                    <a:p>
                      <a:r>
                        <a:rPr sz="1500" b="1">
                          <a:solidFill>
                            <a:srgbClr val="222222"/>
                          </a:solidFill>
                          <a:latin typeface="Calibri"/>
                        </a:rPr>
                        <a:t>RX VGA2, etapa 1</a:t>
                      </a:r>
                    </a:p>
                  </a:txBody>
                  <a:tcPr marL="109728" marR="109728" anchor="ctr">
                    <a:solidFill>
                      <a:srgbClr val="F1F5F6"/>
                    </a:solidFill>
                  </a:tcPr>
                </a:tc>
                <a:tc>
                  <a:txBody>
                    <a:bodyPr/>
                    <a:lstStyle/>
                    <a:p>
                      <a:r>
                        <a:rPr sz="1500" b="0">
                          <a:solidFill>
                            <a:srgbClr val="222222"/>
                          </a:solidFill>
                          <a:latin typeface="Calibri"/>
                        </a:rPr>
                        <a:t>31 · 31</a:t>
                      </a:r>
                    </a:p>
                  </a:txBody>
                  <a:tcPr marL="109728" marR="109728" anchor="ctr">
                    <a:solidFill>
                      <a:srgbClr val="F1F5F6"/>
                    </a:solidFill>
                  </a:tcPr>
                </a:tc>
                <a:tc>
                  <a:txBody>
                    <a:bodyPr/>
                    <a:lstStyle/>
                    <a:p>
                      <a:r>
                        <a:rPr sz="1500" b="0">
                          <a:solidFill>
                            <a:srgbClr val="222222"/>
                          </a:solidFill>
                          <a:latin typeface="Calibri"/>
                        </a:rPr>
                        <a:t>19 · 17</a:t>
                      </a:r>
                    </a:p>
                  </a:txBody>
                  <a:tcPr marL="109728" marR="109728" anchor="ctr">
                    <a:solidFill>
                      <a:srgbClr val="F1F5F6"/>
                    </a:solidFill>
                  </a:tcPr>
                </a:tc>
                <a:extLst>
                  <a:ext uri="{0D108BD9-81ED-4DB2-BD59-A6C34878D82A}">
                    <a16:rowId xmlns:a16="http://schemas.microsoft.com/office/drawing/2014/main" val="10004"/>
                  </a:ext>
                </a:extLst>
              </a:tr>
              <a:tr h="563880">
                <a:tc>
                  <a:txBody>
                    <a:bodyPr/>
                    <a:lstStyle/>
                    <a:p>
                      <a:r>
                        <a:rPr sz="1500" b="1">
                          <a:solidFill>
                            <a:srgbClr val="222222"/>
                          </a:solidFill>
                          <a:latin typeface="Calibri"/>
                        </a:rPr>
                        <a:t>RX VGA2, etapa 2</a:t>
                      </a:r>
                    </a:p>
                  </a:txBody>
                  <a:tcPr marL="109728" marR="109728" anchor="ctr">
                    <a:solidFill>
                      <a:srgbClr val="FFFFFF"/>
                    </a:solidFill>
                  </a:tcPr>
                </a:tc>
                <a:tc>
                  <a:txBody>
                    <a:bodyPr/>
                    <a:lstStyle/>
                    <a:p>
                      <a:r>
                        <a:rPr sz="1500" b="0">
                          <a:solidFill>
                            <a:srgbClr val="222222"/>
                          </a:solidFill>
                          <a:latin typeface="Calibri"/>
                        </a:rPr>
                        <a:t>31 · 31</a:t>
                      </a:r>
                    </a:p>
                  </a:txBody>
                  <a:tcPr marL="109728" marR="109728" anchor="ctr">
                    <a:solidFill>
                      <a:srgbClr val="FFFFFF"/>
                    </a:solidFill>
                  </a:tcPr>
                </a:tc>
                <a:tc>
                  <a:txBody>
                    <a:bodyPr/>
                    <a:lstStyle/>
                    <a:p>
                      <a:r>
                        <a:rPr sz="1500" b="0">
                          <a:solidFill>
                            <a:srgbClr val="222222"/>
                          </a:solidFill>
                          <a:latin typeface="Calibri"/>
                        </a:rPr>
                        <a:t>29 · 30</a:t>
                      </a:r>
                    </a:p>
                  </a:txBody>
                  <a:tcPr marL="109728" marR="109728" anchor="ct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6035040" y="5212080"/>
            <a:ext cx="5577840" cy="731520"/>
          </a:xfrm>
          <a:prstGeom prst="rect">
            <a:avLst/>
          </a:prstGeom>
          <a:noFill/>
        </p:spPr>
        <p:txBody>
          <a:bodyPr wrap="square" lIns="0" tIns="0" rIns="0" bIns="0" anchor="t">
            <a:spAutoFit/>
          </a:bodyPr>
          <a:lstStyle/>
          <a:p>
            <a:pPr algn="l"/>
            <a:r>
              <a:rPr sz="1600" b="0" i="0">
                <a:solidFill>
                  <a:srgbClr val="666666"/>
                </a:solidFill>
                <a:latin typeface="Calibri"/>
              </a:rPr>
              <a:t>Corre sola antes de transmitir, desde un Python Snippet del flujo.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Fuga de portadora: antes y después</a:t>
            </a:r>
          </a:p>
        </p:txBody>
      </p:sp>
      <p:pic>
        <p:nvPicPr>
          <p:cNvPr id="3" name="Picture 2" descr="cap_sin_tabla.png"/>
          <p:cNvPicPr>
            <a:picLocks noChangeAspect="1"/>
          </p:cNvPicPr>
          <p:nvPr/>
        </p:nvPicPr>
        <p:blipFill>
          <a:blip r:embed="rId3"/>
          <a:stretch>
            <a:fillRect/>
          </a:stretch>
        </p:blipFill>
        <p:spPr>
          <a:xfrm>
            <a:off x="548640" y="1325880"/>
            <a:ext cx="5394960" cy="3596640"/>
          </a:xfrm>
          <a:prstGeom prst="rect">
            <a:avLst/>
          </a:prstGeom>
        </p:spPr>
      </p:pic>
      <p:pic>
        <p:nvPicPr>
          <p:cNvPr id="4" name="Picture 3" descr="cap_con_tabla.png"/>
          <p:cNvPicPr>
            <a:picLocks noChangeAspect="1"/>
          </p:cNvPicPr>
          <p:nvPr/>
        </p:nvPicPr>
        <p:blipFill>
          <a:blip r:embed="rId4"/>
          <a:stretch>
            <a:fillRect/>
          </a:stretch>
        </p:blipFill>
        <p:spPr>
          <a:xfrm>
            <a:off x="6245352" y="1325880"/>
            <a:ext cx="5394960" cy="3596640"/>
          </a:xfrm>
          <a:prstGeom prst="rect">
            <a:avLst/>
          </a:prstGeom>
        </p:spPr>
      </p:pic>
      <p:sp>
        <p:nvSpPr>
          <p:cNvPr id="5" name="TextBox 4"/>
          <p:cNvSpPr txBox="1"/>
          <p:nvPr/>
        </p:nvSpPr>
        <p:spPr>
          <a:xfrm>
            <a:off x="548640" y="5029200"/>
            <a:ext cx="5394960" cy="365760"/>
          </a:xfrm>
          <a:prstGeom prst="rect">
            <a:avLst/>
          </a:prstGeom>
          <a:noFill/>
        </p:spPr>
        <p:txBody>
          <a:bodyPr wrap="square" lIns="0" tIns="0" rIns="0" bIns="0" anchor="t">
            <a:spAutoFit/>
          </a:bodyPr>
          <a:lstStyle/>
          <a:p>
            <a:pPr algn="l"/>
            <a:r>
              <a:rPr sz="1600" b="1" i="0">
                <a:solidFill>
                  <a:srgbClr val="222222"/>
                </a:solidFill>
                <a:latin typeface="Calibri"/>
              </a:rPr>
              <a:t>Sin tabla: fuga de −38 a −41 dBm</a:t>
            </a:r>
          </a:p>
        </p:txBody>
      </p:sp>
      <p:sp>
        <p:nvSpPr>
          <p:cNvPr id="6" name="TextBox 5"/>
          <p:cNvSpPr txBox="1"/>
          <p:nvPr/>
        </p:nvSpPr>
        <p:spPr>
          <a:xfrm>
            <a:off x="6245352" y="5029200"/>
            <a:ext cx="5394960" cy="365760"/>
          </a:xfrm>
          <a:prstGeom prst="rect">
            <a:avLst/>
          </a:prstGeom>
          <a:noFill/>
        </p:spPr>
        <p:txBody>
          <a:bodyPr wrap="square" lIns="0" tIns="0" rIns="0" bIns="0" anchor="t">
            <a:spAutoFit/>
          </a:bodyPr>
          <a:lstStyle/>
          <a:p>
            <a:pPr algn="l"/>
            <a:r>
              <a:rPr sz="1600" b="1" i="0">
                <a:solidFill>
                  <a:srgbClr val="0B5563"/>
                </a:solidFill>
                <a:latin typeface="Calibri"/>
              </a:rPr>
              <a:t>Con tabla: fuga de −60 a −71 dBm</a:t>
            </a:r>
          </a:p>
        </p:txBody>
      </p:sp>
      <p:sp>
        <p:nvSpPr>
          <p:cNvPr id="7" name="TextBox 6"/>
          <p:cNvSpPr txBox="1"/>
          <p:nvPr/>
        </p:nvSpPr>
        <p:spPr>
          <a:xfrm>
            <a:off x="548640" y="5669280"/>
            <a:ext cx="11064240" cy="457200"/>
          </a:xfrm>
          <a:prstGeom prst="rect">
            <a:avLst/>
          </a:prstGeom>
          <a:noFill/>
        </p:spPr>
        <p:txBody>
          <a:bodyPr wrap="square" lIns="0" tIns="0" rIns="0" bIns="0" anchor="t">
            <a:spAutoFit/>
          </a:bodyPr>
          <a:lstStyle/>
          <a:p>
            <a:pPr algn="l"/>
            <a:r>
              <a:rPr sz="2000" b="0" i="0">
                <a:solidFill>
                  <a:srgbClr val="222222"/>
                </a:solidFill>
                <a:latin typeface="Calibri"/>
              </a:rPr>
              <a:t>La fuga pasa de estar por encima de los tonos a quedar entre 18 y 27 dB por debajo.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Diseño del peine por tandas</a:t>
            </a:r>
          </a:p>
        </p:txBody>
      </p:sp>
      <p:pic>
        <p:nvPicPr>
          <p:cNvPr id="3" name="Picture 2" descr="esquema_peine.png"/>
          <p:cNvPicPr>
            <a:picLocks noChangeAspect="1"/>
          </p:cNvPicPr>
          <p:nvPr/>
        </p:nvPicPr>
        <p:blipFill>
          <a:blip r:embed="rId3"/>
          <a:stretch>
            <a:fillRect/>
          </a:stretch>
        </p:blipFill>
        <p:spPr>
          <a:xfrm>
            <a:off x="548640" y="1188720"/>
            <a:ext cx="11064240" cy="3867986"/>
          </a:xfrm>
          <a:prstGeom prst="rect">
            <a:avLst/>
          </a:prstGeom>
        </p:spPr>
      </p:pic>
      <p:sp>
        <p:nvSpPr>
          <p:cNvPr id="4" name="TextBox 3"/>
          <p:cNvSpPr txBox="1"/>
          <p:nvPr/>
        </p:nvSpPr>
        <p:spPr>
          <a:xfrm>
            <a:off x="548640" y="5257800"/>
            <a:ext cx="3474720" cy="457200"/>
          </a:xfrm>
          <a:prstGeom prst="rect">
            <a:avLst/>
          </a:prstGeom>
          <a:noFill/>
        </p:spPr>
        <p:txBody>
          <a:bodyPr wrap="square" lIns="0" tIns="0" rIns="0" bIns="0" anchor="t">
            <a:spAutoFit/>
          </a:bodyPr>
          <a:lstStyle/>
          <a:p>
            <a:pPr algn="l"/>
            <a:r>
              <a:rPr sz="2200" b="1" i="0">
                <a:solidFill>
                  <a:srgbClr val="0B5563"/>
                </a:solidFill>
                <a:latin typeface="Calibri"/>
              </a:rPr>
              <a:t>11 portadoras</a:t>
            </a:r>
          </a:p>
        </p:txBody>
      </p:sp>
      <p:sp>
        <p:nvSpPr>
          <p:cNvPr id="5" name="TextBox 4"/>
          <p:cNvSpPr txBox="1"/>
          <p:nvPr/>
        </p:nvSpPr>
        <p:spPr>
          <a:xfrm>
            <a:off x="548640" y="5715000"/>
            <a:ext cx="3474720" cy="548640"/>
          </a:xfrm>
          <a:prstGeom prst="rect">
            <a:avLst/>
          </a:prstGeom>
          <a:noFill/>
        </p:spPr>
        <p:txBody>
          <a:bodyPr wrap="square" lIns="0" tIns="0" rIns="0" bIns="0" anchor="t">
            <a:spAutoFit/>
          </a:bodyPr>
          <a:lstStyle/>
          <a:p>
            <a:pPr algn="l"/>
            <a:r>
              <a:rPr sz="1500" b="0" i="0">
                <a:solidFill>
                  <a:srgbClr val="666666"/>
                </a:solidFill>
                <a:latin typeface="Calibri"/>
              </a:rPr>
              <a:t>de 305 a 505 MHz, cada 20 MHz</a:t>
            </a:r>
          </a:p>
        </p:txBody>
      </p:sp>
      <p:sp>
        <p:nvSpPr>
          <p:cNvPr id="6" name="TextBox 5"/>
          <p:cNvSpPr txBox="1"/>
          <p:nvPr/>
        </p:nvSpPr>
        <p:spPr>
          <a:xfrm>
            <a:off x="4343400" y="5257800"/>
            <a:ext cx="3474720" cy="457200"/>
          </a:xfrm>
          <a:prstGeom prst="rect">
            <a:avLst/>
          </a:prstGeom>
          <a:noFill/>
        </p:spPr>
        <p:txBody>
          <a:bodyPr wrap="square" lIns="0" tIns="0" rIns="0" bIns="0" anchor="t">
            <a:spAutoFit/>
          </a:bodyPr>
          <a:lstStyle/>
          <a:p>
            <a:pPr algn="l"/>
            <a:r>
              <a:rPr sz="2200" b="1" i="0">
                <a:solidFill>
                  <a:srgbClr val="0B5563"/>
                </a:solidFill>
                <a:latin typeface="Calibri"/>
              </a:rPr>
              <a:t>2 tonos por portadora</a:t>
            </a:r>
          </a:p>
        </p:txBody>
      </p:sp>
      <p:sp>
        <p:nvSpPr>
          <p:cNvPr id="7" name="TextBox 6"/>
          <p:cNvSpPr txBox="1"/>
          <p:nvPr/>
        </p:nvSpPr>
        <p:spPr>
          <a:xfrm>
            <a:off x="4343400" y="5715000"/>
            <a:ext cx="3474720" cy="548640"/>
          </a:xfrm>
          <a:prstGeom prst="rect">
            <a:avLst/>
          </a:prstGeom>
          <a:noFill/>
        </p:spPr>
        <p:txBody>
          <a:bodyPr wrap="square" lIns="0" tIns="0" rIns="0" bIns="0" anchor="t">
            <a:spAutoFit/>
          </a:bodyPr>
          <a:lstStyle/>
          <a:p>
            <a:pPr algn="l"/>
            <a:r>
              <a:rPr sz="1500" b="0" i="0">
                <a:solidFill>
                  <a:srgbClr val="666666"/>
                </a:solidFill>
                <a:latin typeface="Calibri"/>
              </a:rPr>
              <a:t>en +5 y −5 MHz</a:t>
            </a:r>
          </a:p>
        </p:txBody>
      </p:sp>
      <p:sp>
        <p:nvSpPr>
          <p:cNvPr id="8" name="TextBox 7"/>
          <p:cNvSpPr txBox="1"/>
          <p:nvPr/>
        </p:nvSpPr>
        <p:spPr>
          <a:xfrm>
            <a:off x="8138160" y="5257800"/>
            <a:ext cx="3474720" cy="457200"/>
          </a:xfrm>
          <a:prstGeom prst="rect">
            <a:avLst/>
          </a:prstGeom>
          <a:noFill/>
        </p:spPr>
        <p:txBody>
          <a:bodyPr wrap="square" lIns="0" tIns="0" rIns="0" bIns="0" anchor="t">
            <a:spAutoFit/>
          </a:bodyPr>
          <a:lstStyle/>
          <a:p>
            <a:pPr algn="l"/>
            <a:r>
              <a:rPr sz="2200" b="1" i="0">
                <a:solidFill>
                  <a:srgbClr val="0B5563"/>
                </a:solidFill>
                <a:latin typeface="Calibri"/>
              </a:rPr>
              <a:t>±0,17 dB</a:t>
            </a:r>
          </a:p>
        </p:txBody>
      </p:sp>
      <p:sp>
        <p:nvSpPr>
          <p:cNvPr id="9" name="TextBox 8"/>
          <p:cNvSpPr txBox="1"/>
          <p:nvPr/>
        </p:nvSpPr>
        <p:spPr>
          <a:xfrm>
            <a:off x="8138160" y="5715000"/>
            <a:ext cx="3474720" cy="548640"/>
          </a:xfrm>
          <a:prstGeom prst="rect">
            <a:avLst/>
          </a:prstGeom>
          <a:noFill/>
        </p:spPr>
        <p:txBody>
          <a:bodyPr wrap="square" lIns="0" tIns="0" rIns="0" bIns="0" anchor="t">
            <a:spAutoFit/>
          </a:bodyPr>
          <a:lstStyle/>
          <a:p>
            <a:pPr algn="l"/>
            <a:r>
              <a:rPr sz="1500" b="0" i="0">
                <a:solidFill>
                  <a:srgbClr val="666666"/>
                </a:solidFill>
                <a:latin typeface="Calibri"/>
              </a:rPr>
              <a:t>es lo máximo que la imagen cambia cada tono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Por qué un tono y no la portadora</a:t>
            </a:r>
          </a:p>
        </p:txBody>
      </p:sp>
      <p:graphicFrame>
        <p:nvGraphicFramePr>
          <p:cNvPr id="3" name="Table 2"/>
          <p:cNvGraphicFramePr>
            <a:graphicFrameLocks noGrp="1"/>
          </p:cNvGraphicFramePr>
          <p:nvPr/>
        </p:nvGraphicFramePr>
        <p:xfrm>
          <a:off x="548640" y="1554480"/>
          <a:ext cx="11064240" cy="2103120"/>
        </p:xfrm>
        <a:graphic>
          <a:graphicData uri="http://schemas.openxmlformats.org/drawingml/2006/table">
            <a:tbl>
              <a:tblPr firstRow="1" bandRow="1">
                <a:tableStyleId>{5C22544A-7EE6-4342-B048-85BDC9FD1C3A}</a:tableStyleId>
              </a:tblPr>
              <a:tblGrid>
                <a:gridCol w="55778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701040">
                <a:tc>
                  <a:txBody>
                    <a:bodyPr/>
                    <a:lstStyle/>
                    <a:p>
                      <a:r>
                        <a:rPr sz="1700" b="1">
                          <a:solidFill>
                            <a:srgbClr val="FFFFFF"/>
                          </a:solidFill>
                          <a:latin typeface="Calibri"/>
                        </a:rPr>
                        <a:t>Qué se suma en la misma frecuencia</a:t>
                      </a:r>
                    </a:p>
                  </a:txBody>
                  <a:tcPr marL="109728" marR="109728" anchor="ctr">
                    <a:solidFill>
                      <a:srgbClr val="0B5563"/>
                    </a:solidFill>
                  </a:tcPr>
                </a:tc>
                <a:tc>
                  <a:txBody>
                    <a:bodyPr/>
                    <a:lstStyle/>
                    <a:p>
                      <a:r>
                        <a:rPr sz="1700" b="1">
                          <a:solidFill>
                            <a:srgbClr val="FFFFFF"/>
                          </a:solidFill>
                          <a:latin typeface="Calibri"/>
                        </a:rPr>
                        <a:t>Tamaño relativo</a:t>
                      </a:r>
                    </a:p>
                  </a:txBody>
                  <a:tcPr marL="109728" marR="109728" anchor="ctr">
                    <a:solidFill>
                      <a:srgbClr val="0B5563"/>
                    </a:solidFill>
                  </a:tcPr>
                </a:tc>
                <a:tc>
                  <a:txBody>
                    <a:bodyPr/>
                    <a:lstStyle/>
                    <a:p>
                      <a:r>
                        <a:rPr sz="1700" b="1">
                          <a:solidFill>
                            <a:srgbClr val="FFFFFF"/>
                          </a:solidFill>
                          <a:latin typeface="Calibri"/>
                        </a:rPr>
                        <a:t>Efecto según la fase</a:t>
                      </a:r>
                    </a:p>
                  </a:txBody>
                  <a:tcPr marL="109728" marR="109728" anchor="ctr">
                    <a:solidFill>
                      <a:srgbClr val="0B5563"/>
                    </a:solidFill>
                  </a:tcPr>
                </a:tc>
                <a:extLst>
                  <a:ext uri="{0D108BD9-81ED-4DB2-BD59-A6C34878D82A}">
                    <a16:rowId xmlns:a16="http://schemas.microsoft.com/office/drawing/2014/main" val="10000"/>
                  </a:ext>
                </a:extLst>
              </a:tr>
              <a:tr h="701040">
                <a:tc>
                  <a:txBody>
                    <a:bodyPr/>
                    <a:lstStyle/>
                    <a:p>
                      <a:r>
                        <a:rPr sz="1700" b="1">
                          <a:solidFill>
                            <a:srgbClr val="222222"/>
                          </a:solidFill>
                          <a:latin typeface="Calibri"/>
                        </a:rPr>
                        <a:t>Señal + fuga (transmitir sobre la portadora)</a:t>
                      </a:r>
                    </a:p>
                  </a:txBody>
                  <a:tcPr marL="109728" marR="109728" anchor="ctr">
                    <a:solidFill>
                      <a:srgbClr val="FFFFFF"/>
                    </a:solidFill>
                  </a:tcPr>
                </a:tc>
                <a:tc>
                  <a:txBody>
                    <a:bodyPr/>
                    <a:lstStyle/>
                    <a:p>
                      <a:r>
                        <a:rPr sz="1700" b="0">
                          <a:solidFill>
                            <a:srgbClr val="222222"/>
                          </a:solidFill>
                          <a:latin typeface="Calibri"/>
                        </a:rPr>
                        <a:t>≈ 0 dB</a:t>
                      </a:r>
                    </a:p>
                  </a:txBody>
                  <a:tcPr marL="109728" marR="109728" anchor="ctr">
                    <a:solidFill>
                      <a:srgbClr val="FFFFFF"/>
                    </a:solidFill>
                  </a:tcPr>
                </a:tc>
                <a:tc>
                  <a:txBody>
                    <a:bodyPr/>
                    <a:lstStyle/>
                    <a:p>
                      <a:r>
                        <a:rPr sz="1700" b="0" dirty="0">
                          <a:solidFill>
                            <a:srgbClr val="222222"/>
                          </a:solidFill>
                          <a:latin typeface="Calibri"/>
                        </a:rPr>
                        <a:t>de +6 dB a </a:t>
                      </a:r>
                      <a:r>
                        <a:rPr sz="1700" b="0" dirty="0" err="1">
                          <a:solidFill>
                            <a:srgbClr val="222222"/>
                          </a:solidFill>
                          <a:latin typeface="Calibri"/>
                        </a:rPr>
                        <a:t>anularse</a:t>
                      </a:r>
                      <a:endParaRPr sz="1700" b="0" dirty="0">
                        <a:solidFill>
                          <a:srgbClr val="222222"/>
                        </a:solidFill>
                        <a:latin typeface="Calibri"/>
                      </a:endParaRPr>
                    </a:p>
                  </a:txBody>
                  <a:tcPr marL="109728" marR="109728" anchor="ctr">
                    <a:solidFill>
                      <a:srgbClr val="FFFFFF"/>
                    </a:solidFill>
                  </a:tcPr>
                </a:tc>
                <a:extLst>
                  <a:ext uri="{0D108BD9-81ED-4DB2-BD59-A6C34878D82A}">
                    <a16:rowId xmlns:a16="http://schemas.microsoft.com/office/drawing/2014/main" val="10001"/>
                  </a:ext>
                </a:extLst>
              </a:tr>
              <a:tr h="701040">
                <a:tc>
                  <a:txBody>
                    <a:bodyPr/>
                    <a:lstStyle/>
                    <a:p>
                      <a:r>
                        <a:rPr sz="1700" b="1">
                          <a:solidFill>
                            <a:srgbClr val="222222"/>
                          </a:solidFill>
                          <a:latin typeface="Calibri"/>
                        </a:rPr>
                        <a:t>Tono + imagen del otro tono</a:t>
                      </a:r>
                    </a:p>
                  </a:txBody>
                  <a:tcPr marL="109728" marR="109728" anchor="ctr">
                    <a:solidFill>
                      <a:srgbClr val="F1F5F6"/>
                    </a:solidFill>
                  </a:tcPr>
                </a:tc>
                <a:tc>
                  <a:txBody>
                    <a:bodyPr/>
                    <a:lstStyle/>
                    <a:p>
                      <a:r>
                        <a:rPr sz="1700" b="0">
                          <a:solidFill>
                            <a:srgbClr val="222222"/>
                          </a:solidFill>
                          <a:latin typeface="Calibri"/>
                        </a:rPr>
                        <a:t>−34 dB</a:t>
                      </a:r>
                    </a:p>
                  </a:txBody>
                  <a:tcPr marL="109728" marR="109728" anchor="ctr">
                    <a:solidFill>
                      <a:srgbClr val="F1F5F6"/>
                    </a:solidFill>
                  </a:tcPr>
                </a:tc>
                <a:tc>
                  <a:txBody>
                    <a:bodyPr/>
                    <a:lstStyle/>
                    <a:p>
                      <a:r>
                        <a:rPr sz="1700" b="0" dirty="0">
                          <a:solidFill>
                            <a:srgbClr val="222222"/>
                          </a:solidFill>
                          <a:latin typeface="Calibri"/>
                        </a:rPr>
                        <a:t>±0,17 dB</a:t>
                      </a:r>
                    </a:p>
                  </a:txBody>
                  <a:tcPr marL="109728" marR="109728" anchor="ctr">
                    <a:solidFill>
                      <a:srgbClr val="F1F5F6"/>
                    </a:solidFill>
                  </a:tcPr>
                </a:tc>
                <a:extLst>
                  <a:ext uri="{0D108BD9-81ED-4DB2-BD59-A6C34878D82A}">
                    <a16:rowId xmlns:a16="http://schemas.microsoft.com/office/drawing/2014/main" val="10002"/>
                  </a:ext>
                </a:extLst>
              </a:tr>
            </a:tbl>
          </a:graphicData>
        </a:graphic>
      </p:graphicFrame>
      <p:sp>
        <p:nvSpPr>
          <p:cNvPr id="4" name="Rounded Rectangle 3"/>
          <p:cNvSpPr/>
          <p:nvPr/>
        </p:nvSpPr>
        <p:spPr>
          <a:xfrm>
            <a:off x="548640" y="4114800"/>
            <a:ext cx="5394960" cy="182880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45352" y="4114800"/>
            <a:ext cx="5367528" cy="182880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4315968"/>
            <a:ext cx="4846320" cy="457200"/>
          </a:xfrm>
          <a:prstGeom prst="rect">
            <a:avLst/>
          </a:prstGeom>
          <a:noFill/>
        </p:spPr>
        <p:txBody>
          <a:bodyPr wrap="square" lIns="0" tIns="0" rIns="0" bIns="0" anchor="t">
            <a:spAutoFit/>
          </a:bodyPr>
          <a:lstStyle/>
          <a:p>
            <a:pPr algn="l"/>
            <a:r>
              <a:rPr sz="1900" b="1" i="0">
                <a:solidFill>
                  <a:srgbClr val="C2410C"/>
                </a:solidFill>
                <a:latin typeface="Calibri"/>
              </a:rPr>
              <a:t>Sobre la portadora</a:t>
            </a:r>
          </a:p>
        </p:txBody>
      </p:sp>
      <p:sp>
        <p:nvSpPr>
          <p:cNvPr id="7" name="TextBox 6"/>
          <p:cNvSpPr txBox="1"/>
          <p:nvPr/>
        </p:nvSpPr>
        <p:spPr>
          <a:xfrm>
            <a:off x="822959" y="4846320"/>
            <a:ext cx="4846320" cy="1005840"/>
          </a:xfrm>
          <a:prstGeom prst="rect">
            <a:avLst/>
          </a:prstGeom>
          <a:noFill/>
        </p:spPr>
        <p:txBody>
          <a:bodyPr wrap="square" lIns="0" tIns="0" rIns="0" bIns="0" anchor="t">
            <a:spAutoFit/>
          </a:bodyPr>
          <a:lstStyle/>
          <a:p>
            <a:pPr algn="l"/>
            <a:r>
              <a:rPr sz="1600" b="0" i="0">
                <a:solidFill>
                  <a:srgbClr val="222222"/>
                </a:solidFill>
                <a:latin typeface="Calibri"/>
              </a:rPr>
              <a:t>El nivel depende de una fuga que no se controla y cambia con la frecuencia.</a:t>
            </a:r>
          </a:p>
        </p:txBody>
      </p:sp>
      <p:sp>
        <p:nvSpPr>
          <p:cNvPr id="8" name="TextBox 7"/>
          <p:cNvSpPr txBox="1"/>
          <p:nvPr/>
        </p:nvSpPr>
        <p:spPr>
          <a:xfrm>
            <a:off x="6519672" y="4315968"/>
            <a:ext cx="4846320" cy="457200"/>
          </a:xfrm>
          <a:prstGeom prst="rect">
            <a:avLst/>
          </a:prstGeom>
          <a:noFill/>
        </p:spPr>
        <p:txBody>
          <a:bodyPr wrap="square" lIns="0" tIns="0" rIns="0" bIns="0" anchor="t">
            <a:spAutoFit/>
          </a:bodyPr>
          <a:lstStyle/>
          <a:p>
            <a:pPr algn="l"/>
            <a:r>
              <a:rPr sz="1900" b="1" i="0">
                <a:solidFill>
                  <a:srgbClr val="0B5563"/>
                </a:solidFill>
                <a:latin typeface="Calibri"/>
              </a:rPr>
              <a:t>Con un tono</a:t>
            </a:r>
          </a:p>
        </p:txBody>
      </p:sp>
      <p:sp>
        <p:nvSpPr>
          <p:cNvPr id="9" name="TextBox 8"/>
          <p:cNvSpPr txBox="1"/>
          <p:nvPr/>
        </p:nvSpPr>
        <p:spPr>
          <a:xfrm>
            <a:off x="6519672" y="4846320"/>
            <a:ext cx="4846320" cy="1005840"/>
          </a:xfrm>
          <a:prstGeom prst="rect">
            <a:avLst/>
          </a:prstGeom>
          <a:noFill/>
        </p:spPr>
        <p:txBody>
          <a:bodyPr wrap="square" lIns="0" tIns="0" rIns="0" bIns="0" anchor="t">
            <a:spAutoFit/>
          </a:bodyPr>
          <a:lstStyle/>
          <a:p>
            <a:pPr algn="l"/>
            <a:r>
              <a:rPr sz="1600" b="0" i="0">
                <a:solidFill>
                  <a:srgbClr val="222222"/>
                </a:solidFill>
                <a:latin typeface="Calibri"/>
              </a:rPr>
              <a:t>El nivel lo fija la amplitud digital: lineal dentro de ±0,3 dB y repetible.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Flujo de GNU Radio</a:t>
            </a:r>
          </a:p>
        </p:txBody>
      </p:sp>
      <p:sp>
        <p:nvSpPr>
          <p:cNvPr id="3" name="TextBox 2"/>
          <p:cNvSpPr txBox="1"/>
          <p:nvPr/>
        </p:nvSpPr>
        <p:spPr>
          <a:xfrm>
            <a:off x="548640" y="1325880"/>
            <a:ext cx="2743200" cy="365760"/>
          </a:xfrm>
          <a:prstGeom prst="rect">
            <a:avLst/>
          </a:prstGeom>
          <a:noFill/>
        </p:spPr>
        <p:txBody>
          <a:bodyPr wrap="square" lIns="0" tIns="0" rIns="0" bIns="0" anchor="t">
            <a:spAutoFit/>
          </a:bodyPr>
          <a:lstStyle/>
          <a:p>
            <a:pPr algn="l"/>
            <a:r>
              <a:rPr sz="1600" b="1" i="0">
                <a:solidFill>
                  <a:srgbClr val="0B5563"/>
                </a:solidFill>
                <a:latin typeface="Calibri"/>
              </a:rPr>
              <a:t>Señal</a:t>
            </a:r>
          </a:p>
        </p:txBody>
      </p:sp>
      <p:sp>
        <p:nvSpPr>
          <p:cNvPr id="4" name="Rounded Rectangle 3"/>
          <p:cNvSpPr/>
          <p:nvPr/>
        </p:nvSpPr>
        <p:spPr>
          <a:xfrm>
            <a:off x="548640" y="1828800"/>
            <a:ext cx="2011680" cy="73152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400" b="0">
                <a:solidFill>
                  <a:srgbClr val="222222"/>
                </a:solidFill>
                <a:latin typeface="Calibri"/>
              </a:rPr>
              <a:t>Signal Source +5 MHz</a:t>
            </a:r>
          </a:p>
        </p:txBody>
      </p:sp>
      <p:sp>
        <p:nvSpPr>
          <p:cNvPr id="5" name="Rounded Rectangle 4"/>
          <p:cNvSpPr/>
          <p:nvPr/>
        </p:nvSpPr>
        <p:spPr>
          <a:xfrm>
            <a:off x="3291840" y="1828800"/>
            <a:ext cx="2011680" cy="73152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400" b="0">
                <a:solidFill>
                  <a:srgbClr val="222222"/>
                </a:solidFill>
                <a:latin typeface="Calibri"/>
              </a:rPr>
              <a:t>Multiply Const amplitud superior</a:t>
            </a:r>
          </a:p>
        </p:txBody>
      </p:sp>
      <p:sp>
        <p:nvSpPr>
          <p:cNvPr id="6" name="Rounded Rectangle 5"/>
          <p:cNvSpPr/>
          <p:nvPr/>
        </p:nvSpPr>
        <p:spPr>
          <a:xfrm>
            <a:off x="3291840" y="2880360"/>
            <a:ext cx="2011680" cy="73152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400" b="0">
                <a:solidFill>
                  <a:srgbClr val="222222"/>
                </a:solidFill>
                <a:latin typeface="Calibri"/>
              </a:rPr>
              <a:t>Complex Conjugate</a:t>
            </a:r>
          </a:p>
        </p:txBody>
      </p:sp>
      <p:sp>
        <p:nvSpPr>
          <p:cNvPr id="7" name="Rounded Rectangle 6"/>
          <p:cNvSpPr/>
          <p:nvPr/>
        </p:nvSpPr>
        <p:spPr>
          <a:xfrm>
            <a:off x="5852160" y="2880360"/>
            <a:ext cx="2011680" cy="73152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400" b="0">
                <a:solidFill>
                  <a:srgbClr val="222222"/>
                </a:solidFill>
                <a:latin typeface="Calibri"/>
              </a:rPr>
              <a:t>Multiply Const amplitud inferior</a:t>
            </a:r>
          </a:p>
        </p:txBody>
      </p:sp>
      <p:sp>
        <p:nvSpPr>
          <p:cNvPr id="8" name="Rounded Rectangle 7"/>
          <p:cNvSpPr/>
          <p:nvPr/>
        </p:nvSpPr>
        <p:spPr>
          <a:xfrm>
            <a:off x="8412480" y="2331720"/>
            <a:ext cx="1005840" cy="73152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400" b="0">
                <a:solidFill>
                  <a:srgbClr val="222222"/>
                </a:solidFill>
                <a:latin typeface="Calibri"/>
              </a:rPr>
              <a:t>Add</a:t>
            </a:r>
          </a:p>
        </p:txBody>
      </p:sp>
      <p:sp>
        <p:nvSpPr>
          <p:cNvPr id="9" name="Rounded Rectangle 8"/>
          <p:cNvSpPr/>
          <p:nvPr/>
        </p:nvSpPr>
        <p:spPr>
          <a:xfrm>
            <a:off x="9829800" y="2331720"/>
            <a:ext cx="1828800" cy="731520"/>
          </a:xfrm>
          <a:prstGeom prst="roundRect">
            <a:avLst>
              <a:gd name="adj" fmla="val 6000"/>
            </a:avLst>
          </a:prstGeom>
          <a:solidFill>
            <a:srgbClr val="FFFFFF"/>
          </a:solidFill>
          <a:ln w="12700">
            <a:solidFill>
              <a:srgbClr val="0B5563"/>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400" b="0">
                <a:solidFill>
                  <a:srgbClr val="222222"/>
                </a:solidFill>
                <a:latin typeface="Calibri"/>
              </a:rPr>
              <a:t>osmocom Sink 20 MSPS</a:t>
            </a:r>
          </a:p>
        </p:txBody>
      </p:sp>
      <p:cxnSp>
        <p:nvCxnSpPr>
          <p:cNvPr id="10" name="Connector 9"/>
          <p:cNvCxnSpPr/>
          <p:nvPr/>
        </p:nvCxnSpPr>
        <p:spPr>
          <a:xfrm>
            <a:off x="2560320" y="2194560"/>
            <a:ext cx="73152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554480" y="2560320"/>
            <a:ext cx="0" cy="68580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54480" y="3246120"/>
            <a:ext cx="173736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303520" y="2194560"/>
            <a:ext cx="3108960" cy="36576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03520" y="3246120"/>
            <a:ext cx="54864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863840" y="2834640"/>
            <a:ext cx="548640" cy="41148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418320" y="2697480"/>
            <a:ext cx="41148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160520"/>
            <a:ext cx="4572000" cy="365760"/>
          </a:xfrm>
          <a:prstGeom prst="rect">
            <a:avLst/>
          </a:prstGeom>
          <a:noFill/>
        </p:spPr>
        <p:txBody>
          <a:bodyPr wrap="square" lIns="0" tIns="0" rIns="0" bIns="0" anchor="t">
            <a:spAutoFit/>
          </a:bodyPr>
          <a:lstStyle/>
          <a:p>
            <a:pPr algn="l"/>
            <a:r>
              <a:rPr sz="1600" b="1" i="0">
                <a:solidFill>
                  <a:srgbClr val="0B5563"/>
                </a:solidFill>
                <a:latin typeface="Calibri"/>
              </a:rPr>
              <a:t>Barrido, solo con bloques</a:t>
            </a:r>
          </a:p>
        </p:txBody>
      </p:sp>
      <p:sp>
        <p:nvSpPr>
          <p:cNvPr id="18" name="Rounded Rectangle 17"/>
          <p:cNvSpPr/>
          <p:nvPr/>
        </p:nvSpPr>
        <p:spPr>
          <a:xfrm>
            <a:off x="548640" y="4663440"/>
            <a:ext cx="1920240" cy="73152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400" b="0">
                <a:solidFill>
                  <a:srgbClr val="222222"/>
                </a:solidFill>
                <a:latin typeface="Calibri"/>
              </a:rPr>
              <a:t>Vector Source 0 a 10</a:t>
            </a:r>
          </a:p>
        </p:txBody>
      </p:sp>
      <p:sp>
        <p:nvSpPr>
          <p:cNvPr id="19" name="Rounded Rectangle 18"/>
          <p:cNvSpPr/>
          <p:nvPr/>
        </p:nvSpPr>
        <p:spPr>
          <a:xfrm>
            <a:off x="2788920" y="4663440"/>
            <a:ext cx="1920240" cy="73152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400" b="0">
                <a:solidFill>
                  <a:srgbClr val="222222"/>
                </a:solidFill>
                <a:latin typeface="Calibri"/>
              </a:rPr>
              <a:t>Repeat permanencia</a:t>
            </a:r>
          </a:p>
        </p:txBody>
      </p:sp>
      <p:cxnSp>
        <p:nvCxnSpPr>
          <p:cNvPr id="20" name="Connector 19"/>
          <p:cNvCxnSpPr/>
          <p:nvPr/>
        </p:nvCxnSpPr>
        <p:spPr>
          <a:xfrm>
            <a:off x="2468880" y="5029200"/>
            <a:ext cx="32004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29200" y="4663440"/>
            <a:ext cx="1920240" cy="73152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400" b="0">
                <a:solidFill>
                  <a:srgbClr val="222222"/>
                </a:solidFill>
                <a:latin typeface="Calibri"/>
              </a:rPr>
              <a:t>Throttle</a:t>
            </a:r>
          </a:p>
        </p:txBody>
      </p:sp>
      <p:cxnSp>
        <p:nvCxnSpPr>
          <p:cNvPr id="22" name="Connector 21"/>
          <p:cNvCxnSpPr/>
          <p:nvPr/>
        </p:nvCxnSpPr>
        <p:spPr>
          <a:xfrm>
            <a:off x="4709160" y="5029200"/>
            <a:ext cx="32004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269480" y="4663440"/>
            <a:ext cx="1920240" cy="73152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400" b="0">
                <a:solidFill>
                  <a:srgbClr val="222222"/>
                </a:solidFill>
                <a:latin typeface="Calibri"/>
              </a:rPr>
              <a:t>Probe Signal</a:t>
            </a:r>
          </a:p>
        </p:txBody>
      </p:sp>
      <p:cxnSp>
        <p:nvCxnSpPr>
          <p:cNvPr id="24" name="Connector 23"/>
          <p:cNvCxnSpPr/>
          <p:nvPr/>
        </p:nvCxnSpPr>
        <p:spPr>
          <a:xfrm>
            <a:off x="6949440" y="5029200"/>
            <a:ext cx="32004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09760" y="4663440"/>
            <a:ext cx="1920240" cy="731520"/>
          </a:xfrm>
          <a:prstGeom prst="roundRect">
            <a:avLst>
              <a:gd name="adj" fmla="val 6000"/>
            </a:avLst>
          </a:prstGeom>
          <a:solidFill>
            <a:srgbClr val="FFFFFF"/>
          </a:solidFill>
          <a:ln w="12700">
            <a:solidFill>
              <a:srgbClr val="C9D1D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400" b="0">
                <a:solidFill>
                  <a:srgbClr val="222222"/>
                </a:solidFill>
                <a:latin typeface="Calibri"/>
              </a:rPr>
              <a:t>Function Probe lee el paso</a:t>
            </a:r>
          </a:p>
        </p:txBody>
      </p:sp>
      <p:cxnSp>
        <p:nvCxnSpPr>
          <p:cNvPr id="26" name="Connector 25"/>
          <p:cNvCxnSpPr/>
          <p:nvPr/>
        </p:nvCxnSpPr>
        <p:spPr>
          <a:xfrm>
            <a:off x="9189720" y="5029200"/>
            <a:ext cx="32004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744200" y="3090672"/>
            <a:ext cx="0" cy="1572768"/>
          </a:xfrm>
          <a:prstGeom prst="line">
            <a:avLst/>
          </a:prstGeom>
          <a:ln w="25400">
            <a:solidFill>
              <a:srgbClr val="0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646920" y="3840480"/>
            <a:ext cx="1005840" cy="365760"/>
          </a:xfrm>
          <a:prstGeom prst="rect">
            <a:avLst/>
          </a:prstGeom>
          <a:noFill/>
        </p:spPr>
        <p:txBody>
          <a:bodyPr wrap="square" lIns="0" tIns="0" rIns="0" bIns="0" anchor="t">
            <a:spAutoFit/>
          </a:bodyPr>
          <a:lstStyle/>
          <a:p>
            <a:pPr algn="r"/>
            <a:r>
              <a:rPr sz="1300" b="0" i="0">
                <a:solidFill>
                  <a:srgbClr val="0B5563"/>
                </a:solidFill>
                <a:latin typeface="Calibri"/>
              </a:rPr>
              <a:t>frecuencia</a:t>
            </a:r>
          </a:p>
        </p:txBody>
      </p:sp>
      <p:sp>
        <p:nvSpPr>
          <p:cNvPr id="29" name="TextBox 28"/>
          <p:cNvSpPr txBox="1"/>
          <p:nvPr/>
        </p:nvSpPr>
        <p:spPr>
          <a:xfrm>
            <a:off x="548640" y="5806440"/>
            <a:ext cx="11064240" cy="457200"/>
          </a:xfrm>
          <a:prstGeom prst="rect">
            <a:avLst/>
          </a:prstGeom>
          <a:noFill/>
        </p:spPr>
        <p:txBody>
          <a:bodyPr wrap="square" lIns="0" tIns="0" rIns="0" bIns="0" anchor="t">
            <a:spAutoFit/>
          </a:bodyPr>
          <a:lstStyle/>
          <a:p>
            <a:pPr algn="l"/>
            <a:r>
              <a:rPr sz="1500" b="0" i="0">
                <a:solidFill>
                  <a:srgbClr val="666666"/>
                </a:solidFill>
                <a:latin typeface="Calibri"/>
              </a:rPr>
              <a:t>Antes de abrir la placa, un Python Snippet corre la calibración con bladeRF-cli.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Cómo se mide el peine</a:t>
            </a:r>
          </a:p>
        </p:txBody>
      </p:sp>
      <p:sp>
        <p:nvSpPr>
          <p:cNvPr id="3" name="Rounded Rectangle 2"/>
          <p:cNvSpPr/>
          <p:nvPr/>
        </p:nvSpPr>
        <p:spPr>
          <a:xfrm>
            <a:off x="548640" y="1554480"/>
            <a:ext cx="3474720" cy="329184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59" y="1783080"/>
            <a:ext cx="2926080" cy="822960"/>
          </a:xfrm>
          <a:prstGeom prst="rect">
            <a:avLst/>
          </a:prstGeom>
          <a:noFill/>
        </p:spPr>
        <p:txBody>
          <a:bodyPr wrap="square" lIns="0" tIns="0" rIns="0" bIns="0" anchor="t">
            <a:spAutoFit/>
          </a:bodyPr>
          <a:lstStyle/>
          <a:p>
            <a:pPr algn="l"/>
            <a:r>
              <a:rPr sz="2200" b="1" i="0">
                <a:solidFill>
                  <a:srgbClr val="0B5563"/>
                </a:solidFill>
                <a:latin typeface="Calibri"/>
              </a:rPr>
              <a:t>MAX HOLD</a:t>
            </a:r>
          </a:p>
        </p:txBody>
      </p:sp>
      <p:sp>
        <p:nvSpPr>
          <p:cNvPr id="5" name="TextBox 4"/>
          <p:cNvSpPr txBox="1"/>
          <p:nvPr/>
        </p:nvSpPr>
        <p:spPr>
          <a:xfrm>
            <a:off x="822959" y="2788920"/>
            <a:ext cx="2926080" cy="1920240"/>
          </a:xfrm>
          <a:prstGeom prst="rect">
            <a:avLst/>
          </a:prstGeom>
          <a:noFill/>
        </p:spPr>
        <p:txBody>
          <a:bodyPr wrap="square" lIns="0" tIns="0" rIns="0" bIns="0" anchor="t">
            <a:spAutoFit/>
          </a:bodyPr>
          <a:lstStyle/>
          <a:p>
            <a:pPr algn="l"/>
            <a:r>
              <a:rPr sz="1600" b="0" i="0">
                <a:solidFill>
                  <a:srgbClr val="222222"/>
                </a:solidFill>
                <a:latin typeface="Calibri"/>
              </a:rPr>
              <a:t>El analizador guarda el máximo de cada punto. No hace falta sincronizar el salto con el barrido.</a:t>
            </a:r>
          </a:p>
        </p:txBody>
      </p:sp>
      <p:sp>
        <p:nvSpPr>
          <p:cNvPr id="6" name="Rounded Rectangle 5"/>
          <p:cNvSpPr/>
          <p:nvPr/>
        </p:nvSpPr>
        <p:spPr>
          <a:xfrm>
            <a:off x="4343400" y="1554480"/>
            <a:ext cx="3474720" cy="329184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17720" y="1783080"/>
            <a:ext cx="2926080" cy="822960"/>
          </a:xfrm>
          <a:prstGeom prst="rect">
            <a:avLst/>
          </a:prstGeom>
          <a:noFill/>
        </p:spPr>
        <p:txBody>
          <a:bodyPr wrap="square" lIns="0" tIns="0" rIns="0" bIns="0" anchor="t">
            <a:spAutoFit/>
          </a:bodyPr>
          <a:lstStyle/>
          <a:p>
            <a:pPr algn="l"/>
            <a:r>
              <a:rPr sz="2200" b="1" i="0">
                <a:solidFill>
                  <a:srgbClr val="0B5563"/>
                </a:solidFill>
                <a:latin typeface="Calibri"/>
              </a:rPr>
              <a:t>Salto más largo que el barrido</a:t>
            </a:r>
          </a:p>
        </p:txBody>
      </p:sp>
      <p:sp>
        <p:nvSpPr>
          <p:cNvPr id="8" name="TextBox 7"/>
          <p:cNvSpPr txBox="1"/>
          <p:nvPr/>
        </p:nvSpPr>
        <p:spPr>
          <a:xfrm>
            <a:off x="4617720" y="2788920"/>
            <a:ext cx="2926080" cy="1920240"/>
          </a:xfrm>
          <a:prstGeom prst="rect">
            <a:avLst/>
          </a:prstGeom>
          <a:noFill/>
        </p:spPr>
        <p:txBody>
          <a:bodyPr wrap="square" lIns="0" tIns="0" rIns="0" bIns="0" anchor="t">
            <a:spAutoFit/>
          </a:bodyPr>
          <a:lstStyle/>
          <a:p>
            <a:pPr algn="l"/>
            <a:r>
              <a:rPr sz="1600" b="0" i="0">
                <a:solidFill>
                  <a:srgbClr val="222222"/>
                </a:solidFill>
                <a:latin typeface="Calibri"/>
              </a:rPr>
              <a:t>Cada portadora dura más que un barrido completo, así cada pasada captura sus dos líneas.</a:t>
            </a:r>
          </a:p>
        </p:txBody>
      </p:sp>
      <p:sp>
        <p:nvSpPr>
          <p:cNvPr id="9" name="Rounded Rectangle 8"/>
          <p:cNvSpPr/>
          <p:nvPr/>
        </p:nvSpPr>
        <p:spPr>
          <a:xfrm>
            <a:off x="8138160" y="1554480"/>
            <a:ext cx="3474720" cy="329184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0" y="1783080"/>
            <a:ext cx="2926080" cy="822960"/>
          </a:xfrm>
          <a:prstGeom prst="rect">
            <a:avLst/>
          </a:prstGeom>
          <a:noFill/>
        </p:spPr>
        <p:txBody>
          <a:bodyPr wrap="square" lIns="0" tIns="0" rIns="0" bIns="0" anchor="t">
            <a:spAutoFit/>
          </a:bodyPr>
          <a:lstStyle/>
          <a:p>
            <a:pPr algn="l"/>
            <a:r>
              <a:rPr sz="2200" b="1" i="0">
                <a:solidFill>
                  <a:srgbClr val="0B5563"/>
                </a:solidFill>
                <a:latin typeface="Calibri"/>
              </a:rPr>
              <a:t>Ventana y filtro</a:t>
            </a:r>
          </a:p>
        </p:txBody>
      </p:sp>
      <p:sp>
        <p:nvSpPr>
          <p:cNvPr id="11" name="TextBox 10"/>
          <p:cNvSpPr txBox="1"/>
          <p:nvPr/>
        </p:nvSpPr>
        <p:spPr>
          <a:xfrm>
            <a:off x="8412480" y="2788920"/>
            <a:ext cx="2926080" cy="1920240"/>
          </a:xfrm>
          <a:prstGeom prst="rect">
            <a:avLst/>
          </a:prstGeom>
          <a:noFill/>
        </p:spPr>
        <p:txBody>
          <a:bodyPr wrap="square" lIns="0" tIns="0" rIns="0" bIns="0" anchor="t">
            <a:spAutoFit/>
          </a:bodyPr>
          <a:lstStyle/>
          <a:p>
            <a:pPr algn="l"/>
            <a:r>
              <a:rPr sz="1600" b="0" i="0">
                <a:solidFill>
                  <a:srgbClr val="222222"/>
                </a:solidFill>
                <a:latin typeface="Calibri"/>
              </a:rPr>
              <a:t>220 MHz en 450 puntos da un punto cada 490 kHz, con filtro de 100 kHz: una línea puede leerse de menos.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Resultado: 22 líneas de 300 a 510 MHz</a:t>
            </a:r>
          </a:p>
        </p:txBody>
      </p:sp>
      <p:pic>
        <p:nvPicPr>
          <p:cNvPr id="3" name="Picture 2" descr="cap_con_tabla.png"/>
          <p:cNvPicPr>
            <a:picLocks noChangeAspect="1"/>
          </p:cNvPicPr>
          <p:nvPr/>
        </p:nvPicPr>
        <p:blipFill>
          <a:blip r:embed="rId3"/>
          <a:stretch>
            <a:fillRect/>
          </a:stretch>
        </p:blipFill>
        <p:spPr>
          <a:xfrm>
            <a:off x="548640" y="1325880"/>
            <a:ext cx="6949440" cy="4632960"/>
          </a:xfrm>
          <a:prstGeom prst="rect">
            <a:avLst/>
          </a:prstGeom>
        </p:spPr>
      </p:pic>
      <p:sp>
        <p:nvSpPr>
          <p:cNvPr id="4" name="TextBox 3"/>
          <p:cNvSpPr txBox="1"/>
          <p:nvPr/>
        </p:nvSpPr>
        <p:spPr>
          <a:xfrm>
            <a:off x="8229600" y="1371600"/>
            <a:ext cx="3383280" cy="822960"/>
          </a:xfrm>
          <a:prstGeom prst="rect">
            <a:avLst/>
          </a:prstGeom>
          <a:noFill/>
        </p:spPr>
        <p:txBody>
          <a:bodyPr wrap="square" lIns="0" tIns="0" rIns="0" bIns="0" anchor="t">
            <a:spAutoFit/>
          </a:bodyPr>
          <a:lstStyle/>
          <a:p>
            <a:pPr algn="l"/>
            <a:r>
              <a:rPr sz="4800" b="1" i="0">
                <a:solidFill>
                  <a:srgbClr val="0B5563"/>
                </a:solidFill>
                <a:latin typeface="Calibri"/>
              </a:rPr>
              <a:t>22</a:t>
            </a:r>
          </a:p>
        </p:txBody>
      </p:sp>
      <p:sp>
        <p:nvSpPr>
          <p:cNvPr id="5" name="TextBox 4"/>
          <p:cNvSpPr txBox="1"/>
          <p:nvPr/>
        </p:nvSpPr>
        <p:spPr>
          <a:xfrm>
            <a:off x="8229600" y="2182368"/>
            <a:ext cx="3383280" cy="822960"/>
          </a:xfrm>
          <a:prstGeom prst="rect">
            <a:avLst/>
          </a:prstGeom>
          <a:noFill/>
        </p:spPr>
        <p:txBody>
          <a:bodyPr wrap="square" lIns="0" tIns="0" rIns="0" bIns="0" anchor="t">
            <a:spAutoFit/>
          </a:bodyPr>
          <a:lstStyle/>
          <a:p>
            <a:pPr algn="l"/>
            <a:r>
              <a:rPr sz="1500" b="0" i="0">
                <a:solidFill>
                  <a:srgbClr val="666666"/>
                </a:solidFill>
                <a:latin typeface="Calibri"/>
              </a:rPr>
              <a:t>líneas, una cada 10 MHz</a:t>
            </a:r>
          </a:p>
        </p:txBody>
      </p:sp>
      <p:sp>
        <p:nvSpPr>
          <p:cNvPr id="6" name="TextBox 5"/>
          <p:cNvSpPr txBox="1"/>
          <p:nvPr/>
        </p:nvSpPr>
        <p:spPr>
          <a:xfrm>
            <a:off x="8229600" y="2971800"/>
            <a:ext cx="3566160" cy="822960"/>
          </a:xfrm>
          <a:prstGeom prst="rect">
            <a:avLst/>
          </a:prstGeom>
          <a:noFill/>
        </p:spPr>
        <p:txBody>
          <a:bodyPr wrap="square" lIns="0" tIns="0" rIns="0" bIns="0" anchor="t">
            <a:spAutoFit/>
          </a:bodyPr>
          <a:lstStyle/>
          <a:p>
            <a:pPr algn="l"/>
            <a:r>
              <a:rPr sz="2600" b="1" i="0">
                <a:solidFill>
                  <a:srgbClr val="222222"/>
                </a:solidFill>
                <a:latin typeface="Calibri"/>
              </a:rPr>
              <a:t>−41,5 a −44,4 dBm</a:t>
            </a:r>
          </a:p>
        </p:txBody>
      </p:sp>
      <p:sp>
        <p:nvSpPr>
          <p:cNvPr id="7" name="TextBox 6"/>
          <p:cNvSpPr txBox="1"/>
          <p:nvPr/>
        </p:nvSpPr>
        <p:spPr>
          <a:xfrm>
            <a:off x="8229600" y="3503168"/>
            <a:ext cx="3566160" cy="822960"/>
          </a:xfrm>
          <a:prstGeom prst="rect">
            <a:avLst/>
          </a:prstGeom>
          <a:noFill/>
        </p:spPr>
        <p:txBody>
          <a:bodyPr wrap="square" lIns="0" tIns="0" rIns="0" bIns="0" anchor="t">
            <a:spAutoFit/>
          </a:bodyPr>
          <a:lstStyle/>
          <a:p>
            <a:pPr algn="l"/>
            <a:r>
              <a:rPr sz="1500" b="0" i="0">
                <a:solidFill>
                  <a:srgbClr val="666666"/>
                </a:solidFill>
                <a:latin typeface="Calibri"/>
              </a:rPr>
              <a:t>nivel de los tonos</a:t>
            </a:r>
          </a:p>
        </p:txBody>
      </p:sp>
      <p:sp>
        <p:nvSpPr>
          <p:cNvPr id="10" name="TextBox 9"/>
          <p:cNvSpPr txBox="1"/>
          <p:nvPr/>
        </p:nvSpPr>
        <p:spPr>
          <a:xfrm>
            <a:off x="548640" y="6053328"/>
            <a:ext cx="6949440" cy="365760"/>
          </a:xfrm>
          <a:prstGeom prst="rect">
            <a:avLst/>
          </a:prstGeom>
          <a:noFill/>
        </p:spPr>
        <p:txBody>
          <a:bodyPr wrap="square" lIns="0" tIns="0" rIns="0" bIns="0" anchor="t">
            <a:spAutoFit/>
          </a:bodyPr>
          <a:lstStyle/>
          <a:p>
            <a:pPr algn="l"/>
            <a:r>
              <a:rPr sz="1300" b="0" i="0">
                <a:solidFill>
                  <a:srgbClr val="666666"/>
                </a:solidFill>
                <a:latin typeface="Calibri"/>
              </a:rPr>
              <a:t>tinySA de 295 a 515 MHz, filtro de 100 kHz, MAX HOLD.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1170432"/>
            <a:ext cx="5486400" cy="274320"/>
          </a:xfrm>
          <a:prstGeom prst="rect">
            <a:avLst/>
          </a:prstGeom>
          <a:noFill/>
        </p:spPr>
        <p:txBody>
          <a:bodyPr wrap="square" lIns="0" tIns="0" rIns="0" bIns="0">
            <a:spAutoFit/>
          </a:bodyPr>
          <a:lstStyle/>
          <a:p>
            <a:pPr algn="l"/>
            <a:r>
              <a:rPr sz="1500" b="1">
                <a:solidFill>
                  <a:srgbClr val="222222"/>
                </a:solidFill>
                <a:latin typeface="Calibri"/>
              </a:rPr>
              <a:t>Traza medida</a:t>
            </a:r>
          </a:p>
        </p:txBody>
      </p:sp>
      <p:sp>
        <p:nvSpPr>
          <p:cNvPr id="4" name="TextBox 3"/>
          <p:cNvSpPr txBox="1"/>
          <p:nvPr/>
        </p:nvSpPr>
        <p:spPr>
          <a:xfrm>
            <a:off x="7955279" y="1188720"/>
            <a:ext cx="3657600" cy="274320"/>
          </a:xfrm>
          <a:prstGeom prst="rect">
            <a:avLst/>
          </a:prstGeom>
          <a:noFill/>
        </p:spPr>
        <p:txBody>
          <a:bodyPr wrap="square" lIns="0" tIns="0" rIns="0" bIns="0">
            <a:spAutoFit/>
          </a:bodyPr>
          <a:lstStyle/>
          <a:p>
            <a:pPr algn="r"/>
            <a:r>
              <a:rPr sz="1300" b="0">
                <a:solidFill>
                  <a:srgbClr val="C2410C"/>
                </a:solidFill>
                <a:latin typeface="Calibri"/>
              </a:rPr>
              <a:t>umbral: −60 dBm</a:t>
            </a:r>
          </a:p>
        </p:txBody>
      </p:sp>
      <p:graphicFrame>
        <p:nvGraphicFramePr>
          <p:cNvPr id="5" name="Chart 4"/>
          <p:cNvGraphicFramePr>
            <a:graphicFrameLocks noGrp="1"/>
          </p:cNvGraphicFramePr>
          <p:nvPr/>
        </p:nvGraphicFramePr>
        <p:xfrm>
          <a:off x="548640" y="1417320"/>
          <a:ext cx="110642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548640" y="3840480"/>
            <a:ext cx="8229600" cy="230832"/>
          </a:xfrm>
          <a:prstGeom prst="rect">
            <a:avLst/>
          </a:prstGeom>
          <a:noFill/>
        </p:spPr>
        <p:txBody>
          <a:bodyPr wrap="square" lIns="0" tIns="0" rIns="0" bIns="0">
            <a:spAutoFit/>
          </a:bodyPr>
          <a:lstStyle/>
          <a:p>
            <a:pPr algn="l"/>
            <a:r>
              <a:rPr lang="en-US" sz="1500" b="1" dirty="0">
                <a:solidFill>
                  <a:srgbClr val="0B5563"/>
                </a:solidFill>
                <a:latin typeface="Calibri"/>
              </a:rPr>
              <a:t>Con umbral</a:t>
            </a:r>
            <a:endParaRPr sz="1500" b="1" dirty="0">
              <a:solidFill>
                <a:srgbClr val="0B5563"/>
              </a:solidFill>
              <a:latin typeface="Calibri"/>
            </a:endParaRPr>
          </a:p>
        </p:txBody>
      </p:sp>
      <p:sp>
        <p:nvSpPr>
          <p:cNvPr id="7" name="TextBox 6"/>
          <p:cNvSpPr txBox="1"/>
          <p:nvPr/>
        </p:nvSpPr>
        <p:spPr>
          <a:xfrm>
            <a:off x="7955279" y="3858768"/>
            <a:ext cx="3657600" cy="274320"/>
          </a:xfrm>
          <a:prstGeom prst="rect">
            <a:avLst/>
          </a:prstGeom>
          <a:noFill/>
        </p:spPr>
        <p:txBody>
          <a:bodyPr wrap="square" lIns="0" tIns="0" rIns="0" bIns="0">
            <a:spAutoFit/>
          </a:bodyPr>
          <a:lstStyle/>
          <a:p>
            <a:pPr algn="r"/>
            <a:r>
              <a:rPr sz="1300" b="0">
                <a:solidFill>
                  <a:srgbClr val="666666"/>
                </a:solidFill>
                <a:latin typeface="Calibri"/>
              </a:rPr>
              <a:t>22 tonos, de −41,5 a −44,4 dBm</a:t>
            </a:r>
          </a:p>
        </p:txBody>
      </p:sp>
      <p:graphicFrame>
        <p:nvGraphicFramePr>
          <p:cNvPr id="8" name="Chart 7"/>
          <p:cNvGraphicFramePr>
            <a:graphicFrameLocks noGrp="1"/>
          </p:cNvGraphicFramePr>
          <p:nvPr/>
        </p:nvGraphicFramePr>
        <p:xfrm>
          <a:off x="548640" y="4087368"/>
          <a:ext cx="11064240" cy="237744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64240" cy="731520"/>
          </a:xfrm>
          <a:prstGeom prst="rect">
            <a:avLst/>
          </a:prstGeom>
          <a:noFill/>
        </p:spPr>
        <p:txBody>
          <a:bodyPr wrap="square" lIns="0" tIns="0" rIns="0" bIns="0" anchor="t">
            <a:spAutoFit/>
          </a:bodyPr>
          <a:lstStyle/>
          <a:p>
            <a:pPr algn="l"/>
            <a:r>
              <a:rPr sz="3000" b="1" i="0">
                <a:solidFill>
                  <a:srgbClr val="222222"/>
                </a:solidFill>
                <a:latin typeface="Calibri"/>
              </a:rPr>
              <a:t>Planitud y ecualizador</a:t>
            </a:r>
          </a:p>
        </p:txBody>
      </p:sp>
      <p:graphicFrame>
        <p:nvGraphicFramePr>
          <p:cNvPr id="3" name="Chart 2"/>
          <p:cNvGraphicFramePr>
            <a:graphicFrameLocks noGrp="1"/>
          </p:cNvGraphicFramePr>
          <p:nvPr/>
        </p:nvGraphicFramePr>
        <p:xfrm>
          <a:off x="548640" y="1234440"/>
          <a:ext cx="75895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8595360" y="1371600"/>
            <a:ext cx="3108960" cy="822960"/>
          </a:xfrm>
          <a:prstGeom prst="rect">
            <a:avLst/>
          </a:prstGeom>
          <a:noFill/>
        </p:spPr>
        <p:txBody>
          <a:bodyPr wrap="square" lIns="0" tIns="0" rIns="0" bIns="0" anchor="t">
            <a:spAutoFit/>
          </a:bodyPr>
          <a:lstStyle/>
          <a:p>
            <a:pPr algn="l"/>
            <a:r>
              <a:rPr sz="4000" b="1" i="0">
                <a:solidFill>
                  <a:srgbClr val="0B5563"/>
                </a:solidFill>
                <a:latin typeface="Calibri"/>
              </a:rPr>
              <a:t>2,9 dB</a:t>
            </a:r>
          </a:p>
        </p:txBody>
      </p:sp>
      <p:sp>
        <p:nvSpPr>
          <p:cNvPr id="5" name="TextBox 4"/>
          <p:cNvSpPr txBox="1"/>
          <p:nvPr/>
        </p:nvSpPr>
        <p:spPr>
          <a:xfrm>
            <a:off x="8595360" y="2080768"/>
            <a:ext cx="3108960" cy="822960"/>
          </a:xfrm>
          <a:prstGeom prst="rect">
            <a:avLst/>
          </a:prstGeom>
          <a:noFill/>
        </p:spPr>
        <p:txBody>
          <a:bodyPr wrap="square" lIns="0" tIns="0" rIns="0" bIns="0" anchor="t">
            <a:spAutoFit/>
          </a:bodyPr>
          <a:lstStyle/>
          <a:p>
            <a:pPr algn="l"/>
            <a:r>
              <a:rPr sz="1500" b="0" i="0">
                <a:solidFill>
                  <a:srgbClr val="666666"/>
                </a:solidFill>
                <a:latin typeface="Calibri"/>
              </a:rPr>
              <a:t>entre el tono más alto y el más bajo</a:t>
            </a:r>
          </a:p>
        </p:txBody>
      </p:sp>
      <p:sp>
        <p:nvSpPr>
          <p:cNvPr id="6" name="TextBox 5"/>
          <p:cNvSpPr txBox="1"/>
          <p:nvPr/>
        </p:nvSpPr>
        <p:spPr>
          <a:xfrm>
            <a:off x="8595360" y="2926080"/>
            <a:ext cx="3108960" cy="822960"/>
          </a:xfrm>
          <a:prstGeom prst="rect">
            <a:avLst/>
          </a:prstGeom>
          <a:noFill/>
        </p:spPr>
        <p:txBody>
          <a:bodyPr wrap="square" lIns="0" tIns="0" rIns="0" bIns="0" anchor="t">
            <a:spAutoFit/>
          </a:bodyPr>
          <a:lstStyle/>
          <a:p>
            <a:pPr algn="l"/>
            <a:r>
              <a:rPr sz="3000" b="1" i="0">
                <a:solidFill>
                  <a:srgbClr val="222222"/>
                </a:solidFill>
                <a:latin typeface="Calibri"/>
              </a:rPr>
              <a:t>0,7 dB</a:t>
            </a:r>
          </a:p>
        </p:txBody>
      </p:sp>
      <p:sp>
        <p:nvSpPr>
          <p:cNvPr id="7" name="TextBox 6"/>
          <p:cNvSpPr txBox="1"/>
          <p:nvPr/>
        </p:nvSpPr>
        <p:spPr>
          <a:xfrm>
            <a:off x="8595360" y="3508248"/>
            <a:ext cx="3108960" cy="822960"/>
          </a:xfrm>
          <a:prstGeom prst="rect">
            <a:avLst/>
          </a:prstGeom>
          <a:noFill/>
        </p:spPr>
        <p:txBody>
          <a:bodyPr wrap="square" lIns="0" tIns="0" rIns="0" bIns="0" anchor="t">
            <a:spAutoFit/>
          </a:bodyPr>
          <a:lstStyle/>
          <a:p>
            <a:pPr algn="l"/>
            <a:r>
              <a:rPr sz="1500" b="0" i="0">
                <a:solidFill>
                  <a:srgbClr val="666666"/>
                </a:solidFill>
                <a:latin typeface="Calibri"/>
              </a:rPr>
              <a:t>de desvío entre los 22 tonos</a:t>
            </a:r>
          </a:p>
        </p:txBody>
      </p:sp>
      <p:pic>
        <p:nvPicPr>
          <p:cNvPr id="8" name="Picture 7" descr="ventana_exp14.png"/>
          <p:cNvPicPr>
            <a:picLocks noChangeAspect="1"/>
          </p:cNvPicPr>
          <p:nvPr/>
        </p:nvPicPr>
        <p:blipFill>
          <a:blip r:embed="rId4"/>
          <a:stretch>
            <a:fillRect/>
          </a:stretch>
        </p:blipFill>
        <p:spPr>
          <a:xfrm>
            <a:off x="548640" y="4343400"/>
            <a:ext cx="11064240" cy="1882385"/>
          </a:xfrm>
          <a:prstGeom prst="rect">
            <a:avLst/>
          </a:prstGeom>
        </p:spPr>
      </p:pic>
      <p:sp>
        <p:nvSpPr>
          <p:cNvPr id="9" name="TextBox 8"/>
          <p:cNvSpPr txBox="1"/>
          <p:nvPr/>
        </p:nvSpPr>
        <p:spPr>
          <a:xfrm>
            <a:off x="548640" y="6291072"/>
            <a:ext cx="11064240" cy="184666"/>
          </a:xfrm>
          <a:prstGeom prst="rect">
            <a:avLst/>
          </a:prstGeom>
          <a:noFill/>
        </p:spPr>
        <p:txBody>
          <a:bodyPr wrap="square" lIns="0" tIns="0" rIns="0" bIns="0" anchor="t">
            <a:spAutoFit/>
          </a:bodyPr>
          <a:lstStyle/>
          <a:p>
            <a:pPr algn="l"/>
            <a:r>
              <a:rPr lang="en-US" sz="1200" b="0" i="0" dirty="0">
                <a:solidFill>
                  <a:srgbClr val="666666"/>
                </a:solidFill>
                <a:latin typeface="Calibri"/>
              </a:rPr>
              <a:t>Una </a:t>
            </a:r>
            <a:r>
              <a:rPr sz="1200" b="0" i="0" dirty="0" err="1">
                <a:solidFill>
                  <a:srgbClr val="666666"/>
                </a:solidFill>
                <a:latin typeface="Calibri"/>
              </a:rPr>
              <a:t>amplitud</a:t>
            </a:r>
            <a:r>
              <a:rPr sz="1200" b="0" i="0" dirty="0">
                <a:solidFill>
                  <a:srgbClr val="666666"/>
                </a:solidFill>
                <a:latin typeface="Calibri"/>
              </a:rPr>
              <a:t> digital </a:t>
            </a:r>
            <a:r>
              <a:rPr sz="1200" b="0" i="0" dirty="0" err="1">
                <a:solidFill>
                  <a:srgbClr val="666666"/>
                </a:solidFill>
                <a:latin typeface="Calibri"/>
              </a:rPr>
              <a:t>por</a:t>
            </a:r>
            <a:r>
              <a:rPr sz="1200" b="0" i="0" dirty="0">
                <a:solidFill>
                  <a:srgbClr val="666666"/>
                </a:solidFill>
                <a:latin typeface="Calibri"/>
              </a:rPr>
              <a:t> tono, de 0,10 a 0,70.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548640" y="1463040"/>
            <a:ext cx="3474720" cy="214884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664208"/>
            <a:ext cx="2971800" cy="457200"/>
          </a:xfrm>
          <a:prstGeom prst="rect">
            <a:avLst/>
          </a:prstGeom>
          <a:noFill/>
        </p:spPr>
        <p:txBody>
          <a:bodyPr wrap="square" lIns="0" tIns="0" rIns="0" bIns="0" anchor="t">
            <a:spAutoFit/>
          </a:bodyPr>
          <a:lstStyle/>
          <a:p>
            <a:pPr algn="l"/>
            <a:r>
              <a:rPr sz="1900" b="1" i="0">
                <a:solidFill>
                  <a:srgbClr val="0B5563"/>
                </a:solidFill>
                <a:latin typeface="Calibri"/>
              </a:rPr>
              <a:t>Rango</a:t>
            </a:r>
          </a:p>
        </p:txBody>
      </p:sp>
      <p:sp>
        <p:nvSpPr>
          <p:cNvPr id="5" name="TextBox 4"/>
          <p:cNvSpPr txBox="1"/>
          <p:nvPr/>
        </p:nvSpPr>
        <p:spPr>
          <a:xfrm>
            <a:off x="804672" y="2212848"/>
            <a:ext cx="2971800" cy="692497"/>
          </a:xfrm>
          <a:prstGeom prst="rect">
            <a:avLst/>
          </a:prstGeom>
          <a:noFill/>
        </p:spPr>
        <p:txBody>
          <a:bodyPr wrap="square" lIns="0" tIns="0" rIns="0" bIns="0" anchor="t">
            <a:spAutoFit/>
          </a:bodyPr>
          <a:lstStyle/>
          <a:p>
            <a:pPr algn="l"/>
            <a:r>
              <a:rPr sz="1500" b="0" i="0" dirty="0">
                <a:solidFill>
                  <a:srgbClr val="222222"/>
                </a:solidFill>
                <a:latin typeface="Calibri"/>
              </a:rPr>
              <a:t>La x40 </a:t>
            </a:r>
            <a:r>
              <a:rPr sz="1500" b="0" i="0" dirty="0" err="1">
                <a:solidFill>
                  <a:srgbClr val="222222"/>
                </a:solidFill>
                <a:latin typeface="Calibri"/>
              </a:rPr>
              <a:t>arranca</a:t>
            </a:r>
            <a:r>
              <a:rPr sz="1500" b="0" i="0" dirty="0">
                <a:solidFill>
                  <a:srgbClr val="222222"/>
                </a:solidFill>
                <a:latin typeface="Calibri"/>
              </a:rPr>
              <a:t> </a:t>
            </a:r>
            <a:r>
              <a:rPr sz="1500" b="0" i="0" dirty="0" err="1">
                <a:solidFill>
                  <a:srgbClr val="222222"/>
                </a:solidFill>
                <a:latin typeface="Calibri"/>
              </a:rPr>
              <a:t>en</a:t>
            </a:r>
            <a:r>
              <a:rPr sz="1500" b="0" i="0" dirty="0">
                <a:solidFill>
                  <a:srgbClr val="222222"/>
                </a:solidFill>
                <a:latin typeface="Calibri"/>
              </a:rPr>
              <a:t> </a:t>
            </a:r>
            <a:r>
              <a:rPr lang="en-US" sz="1500" b="0" i="0" dirty="0">
                <a:solidFill>
                  <a:srgbClr val="222222"/>
                </a:solidFill>
                <a:latin typeface="Calibri"/>
              </a:rPr>
              <a:t>300</a:t>
            </a:r>
            <a:r>
              <a:rPr sz="1500" b="0" i="0" dirty="0">
                <a:solidFill>
                  <a:srgbClr val="222222"/>
                </a:solidFill>
                <a:latin typeface="Calibri"/>
              </a:rPr>
              <a:t> </a:t>
            </a:r>
            <a:r>
              <a:rPr sz="1500" b="0" i="0" dirty="0" err="1">
                <a:solidFill>
                  <a:srgbClr val="222222"/>
                </a:solidFill>
                <a:latin typeface="Calibri"/>
              </a:rPr>
              <a:t>MHz.</a:t>
            </a:r>
            <a:r>
              <a:rPr sz="1500" b="0" i="0" dirty="0">
                <a:solidFill>
                  <a:srgbClr val="222222"/>
                </a:solidFill>
                <a:latin typeface="Calibri"/>
              </a:rPr>
              <a:t> Falta la </a:t>
            </a:r>
            <a:r>
              <a:rPr sz="1500" b="0" i="0" dirty="0" err="1">
                <a:solidFill>
                  <a:srgbClr val="222222"/>
                </a:solidFill>
                <a:latin typeface="Calibri"/>
              </a:rPr>
              <a:t>banda</a:t>
            </a:r>
            <a:r>
              <a:rPr sz="1500" b="0" i="0" dirty="0">
                <a:solidFill>
                  <a:srgbClr val="222222"/>
                </a:solidFill>
                <a:latin typeface="Calibri"/>
              </a:rPr>
              <a:t> de 30 a </a:t>
            </a:r>
            <a:r>
              <a:rPr lang="en-US" sz="1500" b="0" i="0" dirty="0">
                <a:solidFill>
                  <a:srgbClr val="222222"/>
                </a:solidFill>
                <a:latin typeface="Calibri"/>
              </a:rPr>
              <a:t>300</a:t>
            </a:r>
            <a:r>
              <a:rPr sz="1500" b="0" i="0" dirty="0">
                <a:solidFill>
                  <a:srgbClr val="222222"/>
                </a:solidFill>
                <a:latin typeface="Calibri"/>
              </a:rPr>
              <a:t> MHz del </a:t>
            </a:r>
            <a:r>
              <a:rPr sz="1500" b="0" i="0" dirty="0" err="1">
                <a:solidFill>
                  <a:srgbClr val="222222"/>
                </a:solidFill>
                <a:latin typeface="Calibri"/>
              </a:rPr>
              <a:t>ensayo</a:t>
            </a:r>
            <a:r>
              <a:rPr sz="1500" b="0" i="0" dirty="0">
                <a:solidFill>
                  <a:srgbClr val="222222"/>
                </a:solidFill>
                <a:latin typeface="Calibri"/>
              </a:rPr>
              <a:t> de </a:t>
            </a:r>
            <a:r>
              <a:rPr sz="1500" b="0" i="0" dirty="0" err="1">
                <a:solidFill>
                  <a:srgbClr val="222222"/>
                </a:solidFill>
                <a:latin typeface="Calibri"/>
              </a:rPr>
              <a:t>emisiones</a:t>
            </a:r>
            <a:r>
              <a:rPr sz="1500" b="0" i="0" dirty="0">
                <a:solidFill>
                  <a:srgbClr val="222222"/>
                </a:solidFill>
                <a:latin typeface="Calibri"/>
              </a:rPr>
              <a:t>.</a:t>
            </a:r>
          </a:p>
        </p:txBody>
      </p:sp>
      <p:sp>
        <p:nvSpPr>
          <p:cNvPr id="6" name="Rounded Rectangle 5"/>
          <p:cNvSpPr/>
          <p:nvPr/>
        </p:nvSpPr>
        <p:spPr>
          <a:xfrm>
            <a:off x="4343400" y="1463040"/>
            <a:ext cx="3474720" cy="214884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99432" y="1664208"/>
            <a:ext cx="2971800" cy="457200"/>
          </a:xfrm>
          <a:prstGeom prst="rect">
            <a:avLst/>
          </a:prstGeom>
          <a:noFill/>
        </p:spPr>
        <p:txBody>
          <a:bodyPr wrap="square" lIns="0" tIns="0" rIns="0" bIns="0" anchor="t">
            <a:spAutoFit/>
          </a:bodyPr>
          <a:lstStyle/>
          <a:p>
            <a:pPr algn="l"/>
            <a:r>
              <a:rPr sz="1900" b="1" i="0">
                <a:solidFill>
                  <a:srgbClr val="0B5563"/>
                </a:solidFill>
                <a:latin typeface="Calibri"/>
              </a:rPr>
              <a:t>Medición conducida</a:t>
            </a:r>
          </a:p>
        </p:txBody>
      </p:sp>
      <p:sp>
        <p:nvSpPr>
          <p:cNvPr id="8" name="TextBox 7"/>
          <p:cNvSpPr txBox="1"/>
          <p:nvPr/>
        </p:nvSpPr>
        <p:spPr>
          <a:xfrm>
            <a:off x="4599432" y="2212848"/>
            <a:ext cx="2971800" cy="1325880"/>
          </a:xfrm>
          <a:prstGeom prst="rect">
            <a:avLst/>
          </a:prstGeom>
          <a:noFill/>
        </p:spPr>
        <p:txBody>
          <a:bodyPr wrap="square" lIns="0" tIns="0" rIns="0" bIns="0" anchor="t">
            <a:spAutoFit/>
          </a:bodyPr>
          <a:lstStyle/>
          <a:p>
            <a:pPr algn="l"/>
            <a:r>
              <a:rPr sz="1500" b="0" i="0">
                <a:solidFill>
                  <a:srgbClr val="222222"/>
                </a:solidFill>
                <a:latin typeface="Calibri"/>
              </a:rPr>
              <a:t>Todo se midió por cable. Falta el ensayo radiado, con antena y amplificador.</a:t>
            </a:r>
          </a:p>
        </p:txBody>
      </p:sp>
      <p:sp>
        <p:nvSpPr>
          <p:cNvPr id="9" name="Rounded Rectangle 8"/>
          <p:cNvSpPr/>
          <p:nvPr/>
        </p:nvSpPr>
        <p:spPr>
          <a:xfrm>
            <a:off x="8138160" y="1463040"/>
            <a:ext cx="3474720" cy="214884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94192" y="1664208"/>
            <a:ext cx="2971800" cy="457200"/>
          </a:xfrm>
          <a:prstGeom prst="rect">
            <a:avLst/>
          </a:prstGeom>
          <a:noFill/>
        </p:spPr>
        <p:txBody>
          <a:bodyPr wrap="square" lIns="0" tIns="0" rIns="0" bIns="0" anchor="t">
            <a:spAutoFit/>
          </a:bodyPr>
          <a:lstStyle/>
          <a:p>
            <a:pPr algn="l"/>
            <a:r>
              <a:rPr sz="1900" b="1" i="0">
                <a:solidFill>
                  <a:srgbClr val="0B5563"/>
                </a:solidFill>
                <a:latin typeface="Calibri"/>
              </a:rPr>
              <a:t>Instrumento</a:t>
            </a:r>
          </a:p>
        </p:txBody>
      </p:sp>
      <p:sp>
        <p:nvSpPr>
          <p:cNvPr id="11" name="TextBox 10"/>
          <p:cNvSpPr txBox="1"/>
          <p:nvPr/>
        </p:nvSpPr>
        <p:spPr>
          <a:xfrm>
            <a:off x="8394192" y="2212848"/>
            <a:ext cx="2971800" cy="1325880"/>
          </a:xfrm>
          <a:prstGeom prst="rect">
            <a:avLst/>
          </a:prstGeom>
          <a:noFill/>
        </p:spPr>
        <p:txBody>
          <a:bodyPr wrap="square" lIns="0" tIns="0" rIns="0" bIns="0" anchor="t">
            <a:spAutoFit/>
          </a:bodyPr>
          <a:lstStyle/>
          <a:p>
            <a:pPr algn="l"/>
            <a:r>
              <a:rPr sz="1500" b="0" i="0">
                <a:solidFill>
                  <a:srgbClr val="222222"/>
                </a:solidFill>
                <a:latin typeface="Calibri"/>
              </a:rPr>
              <a:t>La tinySA limita la resolución: con ventana ancha las lecturas tienen error de punto.</a:t>
            </a:r>
          </a:p>
        </p:txBody>
      </p:sp>
      <p:sp>
        <p:nvSpPr>
          <p:cNvPr id="12" name="Rounded Rectangle 11"/>
          <p:cNvSpPr/>
          <p:nvPr/>
        </p:nvSpPr>
        <p:spPr>
          <a:xfrm>
            <a:off x="548640" y="3886200"/>
            <a:ext cx="3474720" cy="214884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4087368"/>
            <a:ext cx="2971800" cy="457200"/>
          </a:xfrm>
          <a:prstGeom prst="rect">
            <a:avLst/>
          </a:prstGeom>
          <a:noFill/>
        </p:spPr>
        <p:txBody>
          <a:bodyPr wrap="square" lIns="0" tIns="0" rIns="0" bIns="0" anchor="t">
            <a:spAutoFit/>
          </a:bodyPr>
          <a:lstStyle/>
          <a:p>
            <a:pPr algn="l"/>
            <a:r>
              <a:rPr sz="1900" b="1" i="0">
                <a:solidFill>
                  <a:srgbClr val="0B5563"/>
                </a:solidFill>
                <a:latin typeface="Calibri"/>
              </a:rPr>
              <a:t>Fuga</a:t>
            </a:r>
          </a:p>
        </p:txBody>
      </p:sp>
      <p:sp>
        <p:nvSpPr>
          <p:cNvPr id="14" name="TextBox 13"/>
          <p:cNvSpPr txBox="1"/>
          <p:nvPr/>
        </p:nvSpPr>
        <p:spPr>
          <a:xfrm>
            <a:off x="804672" y="4636008"/>
            <a:ext cx="2971800" cy="692497"/>
          </a:xfrm>
          <a:prstGeom prst="rect">
            <a:avLst/>
          </a:prstGeom>
          <a:noFill/>
        </p:spPr>
        <p:txBody>
          <a:bodyPr wrap="square" lIns="0" tIns="0" rIns="0" bIns="0" anchor="t">
            <a:spAutoFit/>
          </a:bodyPr>
          <a:lstStyle/>
          <a:p>
            <a:pPr algn="l"/>
            <a:r>
              <a:rPr sz="1500" b="0" i="0" dirty="0">
                <a:solidFill>
                  <a:srgbClr val="222222"/>
                </a:solidFill>
                <a:latin typeface="Calibri"/>
              </a:rPr>
              <a:t>La </a:t>
            </a:r>
            <a:r>
              <a:rPr sz="1500" b="0" i="0" dirty="0" err="1">
                <a:solidFill>
                  <a:srgbClr val="222222"/>
                </a:solidFill>
                <a:latin typeface="Calibri"/>
              </a:rPr>
              <a:t>tabla</a:t>
            </a:r>
            <a:r>
              <a:rPr sz="1500" b="0" i="0" dirty="0">
                <a:solidFill>
                  <a:srgbClr val="222222"/>
                </a:solidFill>
                <a:latin typeface="Calibri"/>
              </a:rPr>
              <a:t> vale solo para la </a:t>
            </a:r>
            <a:r>
              <a:rPr sz="1500" b="0" i="0" dirty="0" err="1">
                <a:solidFill>
                  <a:srgbClr val="222222"/>
                </a:solidFill>
                <a:latin typeface="Calibri"/>
              </a:rPr>
              <a:t>ganancia</a:t>
            </a:r>
            <a:r>
              <a:rPr sz="1500" b="0" i="0" dirty="0">
                <a:solidFill>
                  <a:srgbClr val="222222"/>
                </a:solidFill>
                <a:latin typeface="Calibri"/>
              </a:rPr>
              <a:t> con la </a:t>
            </a:r>
            <a:r>
              <a:rPr sz="1500" b="0" i="0" dirty="0" err="1">
                <a:solidFill>
                  <a:srgbClr val="222222"/>
                </a:solidFill>
                <a:latin typeface="Calibri"/>
              </a:rPr>
              <a:t>que</a:t>
            </a:r>
            <a:r>
              <a:rPr sz="1500" b="0" i="0" dirty="0">
                <a:solidFill>
                  <a:srgbClr val="222222"/>
                </a:solidFill>
                <a:latin typeface="Calibri"/>
              </a:rPr>
              <a:t> se </a:t>
            </a:r>
            <a:r>
              <a:rPr sz="1500" b="0" i="0" dirty="0" err="1">
                <a:solidFill>
                  <a:srgbClr val="222222"/>
                </a:solidFill>
                <a:latin typeface="Calibri"/>
              </a:rPr>
              <a:t>generó</a:t>
            </a:r>
            <a:r>
              <a:rPr sz="1500" b="0" i="0" dirty="0">
                <a:solidFill>
                  <a:srgbClr val="222222"/>
                </a:solidFill>
                <a:latin typeface="Calibri"/>
              </a:rPr>
              <a:t>, y </a:t>
            </a:r>
            <a:r>
              <a:rPr lang="en-US" sz="1500" b="0" i="0" dirty="0">
                <a:solidFill>
                  <a:srgbClr val="222222"/>
                </a:solidFill>
                <a:latin typeface="Calibri"/>
              </a:rPr>
              <a:t>cambia</a:t>
            </a:r>
            <a:r>
              <a:rPr sz="1500" b="0" i="0" dirty="0">
                <a:solidFill>
                  <a:srgbClr val="222222"/>
                </a:solidFill>
                <a:latin typeface="Calibri"/>
              </a:rPr>
              <a:t> con la </a:t>
            </a:r>
            <a:r>
              <a:rPr sz="1500" b="0" i="0" dirty="0" err="1">
                <a:solidFill>
                  <a:srgbClr val="222222"/>
                </a:solidFill>
                <a:latin typeface="Calibri"/>
              </a:rPr>
              <a:t>temperatura</a:t>
            </a:r>
            <a:r>
              <a:rPr sz="1500" b="0" i="0" dirty="0">
                <a:solidFill>
                  <a:srgbClr val="222222"/>
                </a:solidFill>
                <a:latin typeface="Calibri"/>
              </a:rPr>
              <a:t>.</a:t>
            </a:r>
          </a:p>
        </p:txBody>
      </p:sp>
      <p:sp>
        <p:nvSpPr>
          <p:cNvPr id="15" name="Rounded Rectangle 14"/>
          <p:cNvSpPr/>
          <p:nvPr/>
        </p:nvSpPr>
        <p:spPr>
          <a:xfrm>
            <a:off x="4343400" y="3886200"/>
            <a:ext cx="3474720" cy="214884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99432" y="4087368"/>
            <a:ext cx="2971800" cy="457200"/>
          </a:xfrm>
          <a:prstGeom prst="rect">
            <a:avLst/>
          </a:prstGeom>
          <a:noFill/>
        </p:spPr>
        <p:txBody>
          <a:bodyPr wrap="square" lIns="0" tIns="0" rIns="0" bIns="0" anchor="t">
            <a:spAutoFit/>
          </a:bodyPr>
          <a:lstStyle/>
          <a:p>
            <a:pPr algn="l"/>
            <a:r>
              <a:rPr sz="1900" b="1" i="0">
                <a:solidFill>
                  <a:srgbClr val="0B5563"/>
                </a:solidFill>
                <a:latin typeface="Calibri"/>
              </a:rPr>
              <a:t>Saltos</a:t>
            </a:r>
          </a:p>
        </p:txBody>
      </p:sp>
      <p:sp>
        <p:nvSpPr>
          <p:cNvPr id="17" name="TextBox 16"/>
          <p:cNvSpPr txBox="1"/>
          <p:nvPr/>
        </p:nvSpPr>
        <p:spPr>
          <a:xfrm>
            <a:off x="4599432" y="4636008"/>
            <a:ext cx="2971800" cy="1325880"/>
          </a:xfrm>
          <a:prstGeom prst="rect">
            <a:avLst/>
          </a:prstGeom>
          <a:noFill/>
        </p:spPr>
        <p:txBody>
          <a:bodyPr wrap="square" lIns="0" tIns="0" rIns="0" bIns="0" anchor="t">
            <a:spAutoFit/>
          </a:bodyPr>
          <a:lstStyle/>
          <a:p>
            <a:pPr algn="l"/>
            <a:r>
              <a:rPr sz="1500" b="0" i="0">
                <a:solidFill>
                  <a:srgbClr val="222222"/>
                </a:solidFill>
                <a:latin typeface="Calibri"/>
              </a:rPr>
              <a:t>Al cambiar de portadora, las amplitudes nuevas llegan unos 0,1 s después que la frecuencia.</a:t>
            </a:r>
          </a:p>
        </p:txBody>
      </p:sp>
      <p:sp>
        <p:nvSpPr>
          <p:cNvPr id="18" name="Rounded Rectangle 17"/>
          <p:cNvSpPr/>
          <p:nvPr/>
        </p:nvSpPr>
        <p:spPr>
          <a:xfrm>
            <a:off x="8138160" y="3886200"/>
            <a:ext cx="3474720" cy="214884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94192" y="4087368"/>
            <a:ext cx="2971800" cy="457200"/>
          </a:xfrm>
          <a:prstGeom prst="rect">
            <a:avLst/>
          </a:prstGeom>
          <a:noFill/>
        </p:spPr>
        <p:txBody>
          <a:bodyPr wrap="square" lIns="0" tIns="0" rIns="0" bIns="0" anchor="t">
            <a:spAutoFit/>
          </a:bodyPr>
          <a:lstStyle/>
          <a:p>
            <a:pPr algn="l"/>
            <a:r>
              <a:rPr sz="1900" b="1" i="0">
                <a:solidFill>
                  <a:srgbClr val="0B5563"/>
                </a:solidFill>
                <a:latin typeface="Calibri"/>
              </a:rPr>
              <a:t>Sin corregir</a:t>
            </a:r>
          </a:p>
        </p:txBody>
      </p:sp>
      <p:sp>
        <p:nvSpPr>
          <p:cNvPr id="20" name="TextBox 19"/>
          <p:cNvSpPr txBox="1"/>
          <p:nvPr/>
        </p:nvSpPr>
        <p:spPr>
          <a:xfrm>
            <a:off x="8394192" y="4636008"/>
            <a:ext cx="2971800" cy="1325880"/>
          </a:xfrm>
          <a:prstGeom prst="rect">
            <a:avLst/>
          </a:prstGeom>
          <a:noFill/>
        </p:spPr>
        <p:txBody>
          <a:bodyPr wrap="square" lIns="0" tIns="0" rIns="0" bIns="0" anchor="t">
            <a:spAutoFit/>
          </a:bodyPr>
          <a:lstStyle/>
          <a:p>
            <a:pPr algn="l"/>
            <a:r>
              <a:rPr sz="1500" b="0" i="0">
                <a:solidFill>
                  <a:srgbClr val="222222"/>
                </a:solidFill>
                <a:latin typeface="Calibri"/>
              </a:rPr>
              <a:t>La espuria de −52 dBc y la imagen, que queda escondida debajo del otro tono.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502921"/>
            <a:ext cx="11064240" cy="731520"/>
          </a:xfrm>
          <a:prstGeom prst="rect">
            <a:avLst/>
          </a:prstGeom>
          <a:noFill/>
        </p:spPr>
        <p:txBody>
          <a:bodyPr wrap="square" lIns="0" tIns="0" rIns="0" bIns="0" anchor="t">
            <a:spAutoFit/>
          </a:bodyPr>
          <a:lstStyle/>
          <a:p>
            <a:pPr algn="l"/>
            <a:r>
              <a:rPr sz="3000" b="1" i="0" dirty="0">
                <a:solidFill>
                  <a:srgbClr val="222222"/>
                </a:solidFill>
                <a:latin typeface="Calibri"/>
              </a:rPr>
              <a:t>Idea a </a:t>
            </a:r>
            <a:r>
              <a:rPr sz="3000" b="1" i="0" dirty="0" err="1">
                <a:solidFill>
                  <a:srgbClr val="222222"/>
                </a:solidFill>
                <a:latin typeface="Calibri"/>
              </a:rPr>
              <a:t>desarrollar</a:t>
            </a:r>
            <a:r>
              <a:rPr sz="3000" b="1" i="0" dirty="0">
                <a:solidFill>
                  <a:srgbClr val="222222"/>
                </a:solidFill>
                <a:latin typeface="Calibri"/>
              </a:rPr>
              <a:t>: </a:t>
            </a:r>
            <a:r>
              <a:rPr sz="3000" b="1" i="0" dirty="0" err="1">
                <a:solidFill>
                  <a:srgbClr val="222222"/>
                </a:solidFill>
                <a:latin typeface="Calibri"/>
              </a:rPr>
              <a:t>ciclo</a:t>
            </a:r>
            <a:r>
              <a:rPr sz="3000" b="1" i="0" dirty="0">
                <a:solidFill>
                  <a:srgbClr val="222222"/>
                </a:solidFill>
                <a:latin typeface="Calibri"/>
              </a:rPr>
              <a:t> de </a:t>
            </a:r>
            <a:r>
              <a:rPr sz="3000" b="1" i="0" dirty="0" err="1">
                <a:solidFill>
                  <a:srgbClr val="222222"/>
                </a:solidFill>
                <a:latin typeface="Calibri"/>
              </a:rPr>
              <a:t>autocalibración</a:t>
            </a:r>
            <a:endParaRPr sz="3000" b="1" i="0" dirty="0">
              <a:solidFill>
                <a:srgbClr val="222222"/>
              </a:solidFill>
              <a:latin typeface="Calibri"/>
            </a:endParaRPr>
          </a:p>
        </p:txBody>
      </p:sp>
      <p:sp>
        <p:nvSpPr>
          <p:cNvPr id="3" name="Rounded Rectangle 2"/>
          <p:cNvSpPr/>
          <p:nvPr/>
        </p:nvSpPr>
        <p:spPr>
          <a:xfrm>
            <a:off x="548640" y="1645920"/>
            <a:ext cx="2514600" cy="265176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810512"/>
            <a:ext cx="731520" cy="548640"/>
          </a:xfrm>
          <a:prstGeom prst="rect">
            <a:avLst/>
          </a:prstGeom>
          <a:noFill/>
        </p:spPr>
        <p:txBody>
          <a:bodyPr wrap="square" lIns="0" tIns="0" rIns="0" bIns="0" anchor="t">
            <a:spAutoFit/>
          </a:bodyPr>
          <a:lstStyle/>
          <a:p>
            <a:pPr algn="l"/>
            <a:r>
              <a:rPr sz="2800" b="1" i="0">
                <a:solidFill>
                  <a:srgbClr val="0B5563"/>
                </a:solidFill>
                <a:latin typeface="Calibri"/>
              </a:rPr>
              <a:t>1</a:t>
            </a:r>
          </a:p>
        </p:txBody>
      </p:sp>
      <p:sp>
        <p:nvSpPr>
          <p:cNvPr id="5" name="TextBox 4"/>
          <p:cNvSpPr txBox="1"/>
          <p:nvPr/>
        </p:nvSpPr>
        <p:spPr>
          <a:xfrm>
            <a:off x="777240" y="2423160"/>
            <a:ext cx="2103120" cy="457200"/>
          </a:xfrm>
          <a:prstGeom prst="rect">
            <a:avLst/>
          </a:prstGeom>
          <a:noFill/>
        </p:spPr>
        <p:txBody>
          <a:bodyPr wrap="square" lIns="0" tIns="0" rIns="0" bIns="0" anchor="t">
            <a:spAutoFit/>
          </a:bodyPr>
          <a:lstStyle/>
          <a:p>
            <a:pPr algn="l"/>
            <a:r>
              <a:rPr sz="1800" b="1" i="0">
                <a:solidFill>
                  <a:srgbClr val="222222"/>
                </a:solidFill>
                <a:latin typeface="Calibri"/>
              </a:rPr>
              <a:t>Calibración interna</a:t>
            </a:r>
          </a:p>
        </p:txBody>
      </p:sp>
      <p:sp>
        <p:nvSpPr>
          <p:cNvPr id="6" name="TextBox 5"/>
          <p:cNvSpPr txBox="1"/>
          <p:nvPr/>
        </p:nvSpPr>
        <p:spPr>
          <a:xfrm>
            <a:off x="777240" y="2926080"/>
            <a:ext cx="2103120" cy="1280160"/>
          </a:xfrm>
          <a:prstGeom prst="rect">
            <a:avLst/>
          </a:prstGeom>
          <a:noFill/>
        </p:spPr>
        <p:txBody>
          <a:bodyPr wrap="square" lIns="0" tIns="0" rIns="0" bIns="0" anchor="t">
            <a:spAutoFit/>
          </a:bodyPr>
          <a:lstStyle/>
          <a:p>
            <a:pPr algn="l"/>
            <a:r>
              <a:rPr sz="1400" b="0" i="0">
                <a:solidFill>
                  <a:srgbClr val="666666"/>
                </a:solidFill>
                <a:latin typeface="Calibri"/>
              </a:rPr>
              <a:t>calibrate lms y tabla de fuga</a:t>
            </a:r>
          </a:p>
        </p:txBody>
      </p:sp>
      <p:cxnSp>
        <p:nvCxnSpPr>
          <p:cNvPr id="7" name="Connector 6"/>
          <p:cNvCxnSpPr/>
          <p:nvPr/>
        </p:nvCxnSpPr>
        <p:spPr>
          <a:xfrm>
            <a:off x="3090672" y="2971800"/>
            <a:ext cx="265176"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83280" y="1645920"/>
            <a:ext cx="2514600" cy="2651760"/>
          </a:xfrm>
          <a:prstGeom prst="roundRect">
            <a:avLst>
              <a:gd name="adj" fmla="val 6000"/>
            </a:avLst>
          </a:prstGeom>
          <a:solidFill>
            <a:srgbClr val="FFFFFF"/>
          </a:solidFill>
          <a:ln w="12700">
            <a:solidFill>
              <a:srgbClr val="0B5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11880" y="1810512"/>
            <a:ext cx="731520" cy="548640"/>
          </a:xfrm>
          <a:prstGeom prst="rect">
            <a:avLst/>
          </a:prstGeom>
          <a:noFill/>
        </p:spPr>
        <p:txBody>
          <a:bodyPr wrap="square" lIns="0" tIns="0" rIns="0" bIns="0" anchor="t">
            <a:spAutoFit/>
          </a:bodyPr>
          <a:lstStyle/>
          <a:p>
            <a:pPr algn="l"/>
            <a:r>
              <a:rPr sz="2800" b="1" i="0">
                <a:solidFill>
                  <a:srgbClr val="0B5563"/>
                </a:solidFill>
                <a:latin typeface="Calibri"/>
              </a:rPr>
              <a:t>2</a:t>
            </a:r>
          </a:p>
        </p:txBody>
      </p:sp>
      <p:sp>
        <p:nvSpPr>
          <p:cNvPr id="10" name="TextBox 9"/>
          <p:cNvSpPr txBox="1"/>
          <p:nvPr/>
        </p:nvSpPr>
        <p:spPr>
          <a:xfrm>
            <a:off x="3611880" y="2423160"/>
            <a:ext cx="2103120" cy="457200"/>
          </a:xfrm>
          <a:prstGeom prst="rect">
            <a:avLst/>
          </a:prstGeom>
          <a:noFill/>
        </p:spPr>
        <p:txBody>
          <a:bodyPr wrap="square" lIns="0" tIns="0" rIns="0" bIns="0" anchor="t">
            <a:spAutoFit/>
          </a:bodyPr>
          <a:lstStyle/>
          <a:p>
            <a:pPr algn="l"/>
            <a:r>
              <a:rPr sz="1800" b="1" i="0">
                <a:solidFill>
                  <a:srgbClr val="222222"/>
                </a:solidFill>
                <a:latin typeface="Calibri"/>
              </a:rPr>
              <a:t>Ciclo de medición</a:t>
            </a:r>
          </a:p>
        </p:txBody>
      </p:sp>
      <p:sp>
        <p:nvSpPr>
          <p:cNvPr id="11" name="TextBox 10"/>
          <p:cNvSpPr txBox="1"/>
          <p:nvPr/>
        </p:nvSpPr>
        <p:spPr>
          <a:xfrm>
            <a:off x="3611880" y="2926080"/>
            <a:ext cx="2103120" cy="1280160"/>
          </a:xfrm>
          <a:prstGeom prst="rect">
            <a:avLst/>
          </a:prstGeom>
          <a:noFill/>
        </p:spPr>
        <p:txBody>
          <a:bodyPr wrap="square" lIns="0" tIns="0" rIns="0" bIns="0" anchor="t">
            <a:spAutoFit/>
          </a:bodyPr>
          <a:lstStyle/>
          <a:p>
            <a:pPr algn="l"/>
            <a:r>
              <a:rPr sz="1400" b="0" i="0" dirty="0" err="1">
                <a:solidFill>
                  <a:srgbClr val="666666"/>
                </a:solidFill>
                <a:latin typeface="Calibri"/>
              </a:rPr>
              <a:t>recorre</a:t>
            </a:r>
            <a:r>
              <a:rPr sz="1400" b="0" i="0" dirty="0">
                <a:solidFill>
                  <a:srgbClr val="666666"/>
                </a:solidFill>
                <a:latin typeface="Calibri"/>
              </a:rPr>
              <a:t> las </a:t>
            </a:r>
            <a:r>
              <a:rPr sz="1400" b="0" i="0" dirty="0" err="1">
                <a:solidFill>
                  <a:srgbClr val="666666"/>
                </a:solidFill>
                <a:latin typeface="Calibri"/>
              </a:rPr>
              <a:t>portadoras</a:t>
            </a:r>
            <a:r>
              <a:rPr sz="1400" b="0" i="0" dirty="0">
                <a:solidFill>
                  <a:srgbClr val="666666"/>
                </a:solidFill>
                <a:latin typeface="Calibri"/>
              </a:rPr>
              <a:t> y se </a:t>
            </a:r>
            <a:r>
              <a:rPr sz="1400" b="0" i="0" dirty="0" err="1">
                <a:solidFill>
                  <a:srgbClr val="666666"/>
                </a:solidFill>
                <a:latin typeface="Calibri"/>
              </a:rPr>
              <a:t>mide</a:t>
            </a:r>
            <a:r>
              <a:rPr sz="1400" b="0" i="0" dirty="0">
                <a:solidFill>
                  <a:srgbClr val="666666"/>
                </a:solidFill>
                <a:latin typeface="Calibri"/>
              </a:rPr>
              <a:t> con </a:t>
            </a:r>
            <a:r>
              <a:rPr sz="1400" b="0" i="0" dirty="0" err="1">
                <a:solidFill>
                  <a:srgbClr val="666666"/>
                </a:solidFill>
                <a:latin typeface="Calibri"/>
              </a:rPr>
              <a:t>su</a:t>
            </a:r>
            <a:r>
              <a:rPr sz="1400" b="0" i="0" dirty="0">
                <a:solidFill>
                  <a:srgbClr val="666666"/>
                </a:solidFill>
                <a:latin typeface="Calibri"/>
              </a:rPr>
              <a:t> </a:t>
            </a:r>
            <a:r>
              <a:rPr sz="1400" b="0" i="0" dirty="0" err="1">
                <a:solidFill>
                  <a:srgbClr val="666666"/>
                </a:solidFill>
                <a:latin typeface="Calibri"/>
              </a:rPr>
              <a:t>propio</a:t>
            </a:r>
            <a:r>
              <a:rPr sz="1400" b="0" i="0" dirty="0">
                <a:solidFill>
                  <a:srgbClr val="666666"/>
                </a:solidFill>
                <a:latin typeface="Calibri"/>
              </a:rPr>
              <a:t> receptor</a:t>
            </a:r>
          </a:p>
        </p:txBody>
      </p:sp>
      <p:cxnSp>
        <p:nvCxnSpPr>
          <p:cNvPr id="12" name="Connector 11"/>
          <p:cNvCxnSpPr/>
          <p:nvPr/>
        </p:nvCxnSpPr>
        <p:spPr>
          <a:xfrm>
            <a:off x="5925312" y="2971800"/>
            <a:ext cx="265176"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17920" y="1645920"/>
            <a:ext cx="2514600" cy="2651760"/>
          </a:xfrm>
          <a:prstGeom prst="roundRect">
            <a:avLst>
              <a:gd name="adj" fmla="val 6000"/>
            </a:avLst>
          </a:prstGeom>
          <a:solidFill>
            <a:srgbClr val="FFFFFF"/>
          </a:solidFill>
          <a:ln w="12700">
            <a:solidFill>
              <a:srgbClr val="0B5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810512"/>
            <a:ext cx="731520" cy="548640"/>
          </a:xfrm>
          <a:prstGeom prst="rect">
            <a:avLst/>
          </a:prstGeom>
          <a:noFill/>
        </p:spPr>
        <p:txBody>
          <a:bodyPr wrap="square" lIns="0" tIns="0" rIns="0" bIns="0" anchor="t">
            <a:spAutoFit/>
          </a:bodyPr>
          <a:lstStyle/>
          <a:p>
            <a:pPr algn="l"/>
            <a:r>
              <a:rPr sz="2800" b="1" i="0">
                <a:solidFill>
                  <a:srgbClr val="0B5563"/>
                </a:solidFill>
                <a:latin typeface="Calibri"/>
              </a:rPr>
              <a:t>3</a:t>
            </a:r>
          </a:p>
        </p:txBody>
      </p:sp>
      <p:sp>
        <p:nvSpPr>
          <p:cNvPr id="15" name="TextBox 14"/>
          <p:cNvSpPr txBox="1"/>
          <p:nvPr/>
        </p:nvSpPr>
        <p:spPr>
          <a:xfrm>
            <a:off x="6446520" y="2423160"/>
            <a:ext cx="2103120" cy="457200"/>
          </a:xfrm>
          <a:prstGeom prst="rect">
            <a:avLst/>
          </a:prstGeom>
          <a:noFill/>
        </p:spPr>
        <p:txBody>
          <a:bodyPr wrap="square" lIns="0" tIns="0" rIns="0" bIns="0" anchor="t">
            <a:spAutoFit/>
          </a:bodyPr>
          <a:lstStyle/>
          <a:p>
            <a:pPr algn="l"/>
            <a:r>
              <a:rPr sz="1800" b="1" i="0">
                <a:solidFill>
                  <a:srgbClr val="222222"/>
                </a:solidFill>
                <a:latin typeface="Calibri"/>
              </a:rPr>
              <a:t>Ajuste</a:t>
            </a:r>
          </a:p>
        </p:txBody>
      </p:sp>
      <p:sp>
        <p:nvSpPr>
          <p:cNvPr id="16" name="TextBox 15"/>
          <p:cNvSpPr txBox="1"/>
          <p:nvPr/>
        </p:nvSpPr>
        <p:spPr>
          <a:xfrm>
            <a:off x="6446520" y="2926080"/>
            <a:ext cx="2103120" cy="646331"/>
          </a:xfrm>
          <a:prstGeom prst="rect">
            <a:avLst/>
          </a:prstGeom>
          <a:noFill/>
        </p:spPr>
        <p:txBody>
          <a:bodyPr wrap="square" lIns="0" tIns="0" rIns="0" bIns="0" anchor="t">
            <a:spAutoFit/>
          </a:bodyPr>
          <a:lstStyle/>
          <a:p>
            <a:pPr algn="l"/>
            <a:r>
              <a:rPr sz="1400" b="0" i="0" dirty="0" err="1">
                <a:solidFill>
                  <a:srgbClr val="666666"/>
                </a:solidFill>
                <a:latin typeface="Calibri"/>
              </a:rPr>
              <a:t>corrige</a:t>
            </a:r>
            <a:r>
              <a:rPr sz="1400" b="0" i="0" dirty="0">
                <a:solidFill>
                  <a:srgbClr val="666666"/>
                </a:solidFill>
                <a:latin typeface="Calibri"/>
              </a:rPr>
              <a:t> la </a:t>
            </a:r>
            <a:r>
              <a:rPr sz="1400" b="0" i="0" dirty="0" err="1">
                <a:solidFill>
                  <a:srgbClr val="666666"/>
                </a:solidFill>
                <a:latin typeface="Calibri"/>
              </a:rPr>
              <a:t>amplitud</a:t>
            </a:r>
            <a:r>
              <a:rPr sz="1400" b="0" i="0" dirty="0">
                <a:solidFill>
                  <a:srgbClr val="666666"/>
                </a:solidFill>
                <a:latin typeface="Calibri"/>
              </a:rPr>
              <a:t> de </a:t>
            </a:r>
            <a:r>
              <a:rPr sz="1400" b="0" i="0" dirty="0" err="1">
                <a:solidFill>
                  <a:srgbClr val="666666"/>
                </a:solidFill>
                <a:latin typeface="Calibri"/>
              </a:rPr>
              <a:t>cada</a:t>
            </a:r>
            <a:r>
              <a:rPr sz="1400" b="0" i="0" dirty="0">
                <a:solidFill>
                  <a:srgbClr val="666666"/>
                </a:solidFill>
                <a:latin typeface="Calibri"/>
              </a:rPr>
              <a:t> tono hasta </a:t>
            </a:r>
            <a:r>
              <a:rPr sz="1400" b="0" i="0" dirty="0" err="1">
                <a:solidFill>
                  <a:srgbClr val="666666"/>
                </a:solidFill>
                <a:latin typeface="Calibri"/>
              </a:rPr>
              <a:t>entrar</a:t>
            </a:r>
            <a:r>
              <a:rPr sz="1400" b="0" i="0" dirty="0">
                <a:solidFill>
                  <a:srgbClr val="666666"/>
                </a:solidFill>
                <a:latin typeface="Calibri"/>
              </a:rPr>
              <a:t> </a:t>
            </a:r>
            <a:r>
              <a:rPr sz="1400" b="0" i="0" dirty="0" err="1">
                <a:solidFill>
                  <a:srgbClr val="666666"/>
                </a:solidFill>
                <a:latin typeface="Calibri"/>
              </a:rPr>
              <a:t>en</a:t>
            </a:r>
            <a:r>
              <a:rPr sz="1400" b="0" i="0" dirty="0">
                <a:solidFill>
                  <a:srgbClr val="666666"/>
                </a:solidFill>
                <a:latin typeface="Calibri"/>
              </a:rPr>
              <a:t> la </a:t>
            </a:r>
            <a:r>
              <a:rPr sz="1400" b="0" i="0" dirty="0" err="1">
                <a:solidFill>
                  <a:srgbClr val="666666"/>
                </a:solidFill>
                <a:latin typeface="Calibri"/>
              </a:rPr>
              <a:t>ventana</a:t>
            </a:r>
            <a:r>
              <a:rPr sz="1400" b="0" i="0" dirty="0">
                <a:solidFill>
                  <a:srgbClr val="666666"/>
                </a:solidFill>
                <a:latin typeface="Calibri"/>
              </a:rPr>
              <a:t>, </a:t>
            </a:r>
            <a:r>
              <a:rPr sz="1400" b="0" i="0" dirty="0" err="1">
                <a:solidFill>
                  <a:srgbClr val="666666"/>
                </a:solidFill>
                <a:latin typeface="Calibri"/>
              </a:rPr>
              <a:t>por</a:t>
            </a:r>
            <a:r>
              <a:rPr sz="1400" b="0" i="0" dirty="0">
                <a:solidFill>
                  <a:srgbClr val="666666"/>
                </a:solidFill>
                <a:latin typeface="Calibri"/>
              </a:rPr>
              <a:t> </a:t>
            </a:r>
            <a:r>
              <a:rPr sz="1400" b="0" i="0" dirty="0" err="1">
                <a:solidFill>
                  <a:srgbClr val="666666"/>
                </a:solidFill>
                <a:latin typeface="Calibri"/>
              </a:rPr>
              <a:t>ejemplo</a:t>
            </a:r>
            <a:r>
              <a:rPr sz="1400" b="0" i="0" dirty="0">
                <a:solidFill>
                  <a:srgbClr val="666666"/>
                </a:solidFill>
                <a:latin typeface="Calibri"/>
              </a:rPr>
              <a:t> ±</a:t>
            </a:r>
            <a:r>
              <a:rPr lang="en-US" sz="1400" b="0" i="0" dirty="0">
                <a:solidFill>
                  <a:srgbClr val="666666"/>
                </a:solidFill>
                <a:latin typeface="Calibri"/>
              </a:rPr>
              <a:t>1</a:t>
            </a:r>
            <a:r>
              <a:rPr sz="1400" b="0" i="0" dirty="0">
                <a:solidFill>
                  <a:srgbClr val="666666"/>
                </a:solidFill>
                <a:latin typeface="Calibri"/>
              </a:rPr>
              <a:t> dB</a:t>
            </a:r>
          </a:p>
        </p:txBody>
      </p:sp>
      <p:cxnSp>
        <p:nvCxnSpPr>
          <p:cNvPr id="17" name="Connector 16"/>
          <p:cNvCxnSpPr/>
          <p:nvPr/>
        </p:nvCxnSpPr>
        <p:spPr>
          <a:xfrm>
            <a:off x="8759952" y="2971800"/>
            <a:ext cx="265176"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52560" y="1645920"/>
            <a:ext cx="2514600" cy="2651760"/>
          </a:xfrm>
          <a:prstGeom prst="roundRect">
            <a:avLst>
              <a:gd name="adj" fmla="val 6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81160" y="1810512"/>
            <a:ext cx="731520" cy="548640"/>
          </a:xfrm>
          <a:prstGeom prst="rect">
            <a:avLst/>
          </a:prstGeom>
          <a:noFill/>
        </p:spPr>
        <p:txBody>
          <a:bodyPr wrap="square" lIns="0" tIns="0" rIns="0" bIns="0" anchor="t">
            <a:spAutoFit/>
          </a:bodyPr>
          <a:lstStyle/>
          <a:p>
            <a:pPr algn="l"/>
            <a:r>
              <a:rPr sz="2800" b="1" i="0">
                <a:solidFill>
                  <a:srgbClr val="0B5563"/>
                </a:solidFill>
                <a:latin typeface="Calibri"/>
              </a:rPr>
              <a:t>4</a:t>
            </a:r>
          </a:p>
        </p:txBody>
      </p:sp>
      <p:sp>
        <p:nvSpPr>
          <p:cNvPr id="20" name="TextBox 19"/>
          <p:cNvSpPr txBox="1"/>
          <p:nvPr/>
        </p:nvSpPr>
        <p:spPr>
          <a:xfrm>
            <a:off x="9281160" y="2423160"/>
            <a:ext cx="2103120" cy="457200"/>
          </a:xfrm>
          <a:prstGeom prst="rect">
            <a:avLst/>
          </a:prstGeom>
          <a:noFill/>
        </p:spPr>
        <p:txBody>
          <a:bodyPr wrap="square" lIns="0" tIns="0" rIns="0" bIns="0" anchor="t">
            <a:spAutoFit/>
          </a:bodyPr>
          <a:lstStyle/>
          <a:p>
            <a:pPr algn="l"/>
            <a:r>
              <a:rPr sz="1800" b="1" i="0">
                <a:solidFill>
                  <a:srgbClr val="222222"/>
                </a:solidFill>
                <a:latin typeface="Calibri"/>
              </a:rPr>
              <a:t>Transmisión</a:t>
            </a:r>
          </a:p>
        </p:txBody>
      </p:sp>
      <p:sp>
        <p:nvSpPr>
          <p:cNvPr id="21" name="TextBox 20"/>
          <p:cNvSpPr txBox="1"/>
          <p:nvPr/>
        </p:nvSpPr>
        <p:spPr>
          <a:xfrm>
            <a:off x="9281160" y="2926080"/>
            <a:ext cx="2103120" cy="1280160"/>
          </a:xfrm>
          <a:prstGeom prst="rect">
            <a:avLst/>
          </a:prstGeom>
          <a:noFill/>
        </p:spPr>
        <p:txBody>
          <a:bodyPr wrap="square" lIns="0" tIns="0" rIns="0" bIns="0" anchor="t">
            <a:spAutoFit/>
          </a:bodyPr>
          <a:lstStyle/>
          <a:p>
            <a:pPr algn="l"/>
            <a:r>
              <a:rPr sz="1400" b="0" i="0">
                <a:solidFill>
                  <a:srgbClr val="666666"/>
                </a:solidFill>
                <a:latin typeface="Calibri"/>
              </a:rPr>
              <a:t>emite el peine ya nivelado</a:t>
            </a:r>
          </a:p>
        </p:txBody>
      </p:sp>
      <p:sp>
        <p:nvSpPr>
          <p:cNvPr id="22" name="TextBox 21"/>
          <p:cNvSpPr txBox="1"/>
          <p:nvPr/>
        </p:nvSpPr>
        <p:spPr>
          <a:xfrm>
            <a:off x="548640" y="4663440"/>
            <a:ext cx="11064240" cy="731520"/>
          </a:xfrm>
          <a:prstGeom prst="rect">
            <a:avLst/>
          </a:prstGeom>
          <a:noFill/>
        </p:spPr>
        <p:txBody>
          <a:bodyPr wrap="square" lIns="0" tIns="0" rIns="0" bIns="0" anchor="t">
            <a:spAutoFit/>
          </a:bodyPr>
          <a:lstStyle/>
          <a:p>
            <a:pPr algn="l"/>
            <a:r>
              <a:rPr sz="2000" b="0" i="0">
                <a:solidFill>
                  <a:srgbClr val="222222"/>
                </a:solidFill>
                <a:latin typeface="Calibri"/>
              </a:rPr>
              <a:t>El uso diario no necesita un analizador en el lazo: la placa se nivela sola y el laboratorio solo mira el peine.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TotalTime>
  <Words>1858</Words>
  <Application>Microsoft Office PowerPoint</Application>
  <PresentationFormat>Widescreen</PresentationFormat>
  <Paragraphs>206</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Martin Ledesma</cp:lastModifiedBy>
  <cp:revision>6</cp:revision>
  <dcterms:created xsi:type="dcterms:W3CDTF">2013-01-27T09:14:16Z</dcterms:created>
  <dcterms:modified xsi:type="dcterms:W3CDTF">2026-10-02T00:50:55Z</dcterms:modified>
  <cp:category/>
</cp:coreProperties>
</file>